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3.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28" r:id="rId1"/>
  </p:sldMasterIdLst>
  <p:notesMasterIdLst>
    <p:notesMasterId r:id="rId95"/>
  </p:notesMasterIdLst>
  <p:sldIdLst>
    <p:sldId id="790" r:id="rId2"/>
    <p:sldId id="791" r:id="rId3"/>
    <p:sldId id="792" r:id="rId4"/>
    <p:sldId id="793" r:id="rId5"/>
    <p:sldId id="794" r:id="rId6"/>
    <p:sldId id="795" r:id="rId7"/>
    <p:sldId id="796" r:id="rId8"/>
    <p:sldId id="797" r:id="rId9"/>
    <p:sldId id="798" r:id="rId10"/>
    <p:sldId id="799" r:id="rId11"/>
    <p:sldId id="800" r:id="rId12"/>
    <p:sldId id="801" r:id="rId13"/>
    <p:sldId id="802" r:id="rId14"/>
    <p:sldId id="803" r:id="rId15"/>
    <p:sldId id="804" r:id="rId16"/>
    <p:sldId id="805" r:id="rId17"/>
    <p:sldId id="806" r:id="rId18"/>
    <p:sldId id="807" r:id="rId19"/>
    <p:sldId id="808" r:id="rId20"/>
    <p:sldId id="809" r:id="rId21"/>
    <p:sldId id="810" r:id="rId22"/>
    <p:sldId id="811" r:id="rId23"/>
    <p:sldId id="812" r:id="rId24"/>
    <p:sldId id="813" r:id="rId25"/>
    <p:sldId id="814" r:id="rId26"/>
    <p:sldId id="815" r:id="rId27"/>
    <p:sldId id="816" r:id="rId28"/>
    <p:sldId id="817" r:id="rId29"/>
    <p:sldId id="818" r:id="rId30"/>
    <p:sldId id="819" r:id="rId31"/>
    <p:sldId id="820" r:id="rId32"/>
    <p:sldId id="821" r:id="rId33"/>
    <p:sldId id="822" r:id="rId34"/>
    <p:sldId id="823" r:id="rId35"/>
    <p:sldId id="824" r:id="rId36"/>
    <p:sldId id="825" r:id="rId37"/>
    <p:sldId id="826" r:id="rId38"/>
    <p:sldId id="827" r:id="rId39"/>
    <p:sldId id="828" r:id="rId40"/>
    <p:sldId id="829" r:id="rId41"/>
    <p:sldId id="830" r:id="rId42"/>
    <p:sldId id="831" r:id="rId43"/>
    <p:sldId id="832" r:id="rId44"/>
    <p:sldId id="833" r:id="rId45"/>
    <p:sldId id="834" r:id="rId46"/>
    <p:sldId id="835" r:id="rId47"/>
    <p:sldId id="836" r:id="rId48"/>
    <p:sldId id="837" r:id="rId49"/>
    <p:sldId id="838" r:id="rId50"/>
    <p:sldId id="839" r:id="rId51"/>
    <p:sldId id="840" r:id="rId52"/>
    <p:sldId id="841" r:id="rId53"/>
    <p:sldId id="842" r:id="rId54"/>
    <p:sldId id="843" r:id="rId55"/>
    <p:sldId id="844" r:id="rId56"/>
    <p:sldId id="845" r:id="rId57"/>
    <p:sldId id="846" r:id="rId58"/>
    <p:sldId id="847" r:id="rId59"/>
    <p:sldId id="848" r:id="rId60"/>
    <p:sldId id="849" r:id="rId61"/>
    <p:sldId id="850" r:id="rId62"/>
    <p:sldId id="851" r:id="rId63"/>
    <p:sldId id="852" r:id="rId64"/>
    <p:sldId id="853" r:id="rId65"/>
    <p:sldId id="854" r:id="rId66"/>
    <p:sldId id="855" r:id="rId67"/>
    <p:sldId id="856" r:id="rId68"/>
    <p:sldId id="857" r:id="rId69"/>
    <p:sldId id="858" r:id="rId70"/>
    <p:sldId id="859" r:id="rId71"/>
    <p:sldId id="860" r:id="rId72"/>
    <p:sldId id="861" r:id="rId73"/>
    <p:sldId id="862" r:id="rId74"/>
    <p:sldId id="863" r:id="rId75"/>
    <p:sldId id="864" r:id="rId76"/>
    <p:sldId id="865" r:id="rId77"/>
    <p:sldId id="866" r:id="rId78"/>
    <p:sldId id="867" r:id="rId79"/>
    <p:sldId id="868" r:id="rId80"/>
    <p:sldId id="869" r:id="rId81"/>
    <p:sldId id="870" r:id="rId82"/>
    <p:sldId id="871" r:id="rId83"/>
    <p:sldId id="872" r:id="rId84"/>
    <p:sldId id="873" r:id="rId85"/>
    <p:sldId id="874" r:id="rId86"/>
    <p:sldId id="875" r:id="rId87"/>
    <p:sldId id="876" r:id="rId88"/>
    <p:sldId id="877" r:id="rId89"/>
    <p:sldId id="878" r:id="rId90"/>
    <p:sldId id="879" r:id="rId91"/>
    <p:sldId id="880" r:id="rId92"/>
    <p:sldId id="881" r:id="rId93"/>
    <p:sldId id="882" r:id="rId94"/>
  </p:sldIdLst>
  <p:sldSz cx="9144000" cy="6858000" type="screen4x3"/>
  <p:notesSz cx="6858000" cy="9144000"/>
  <p:embeddedFontLst>
    <p:embeddedFont>
      <p:font typeface="黑体" panose="02010609060101010101" pitchFamily="49" charset="-122"/>
      <p:regular r:id="rId96"/>
    </p:embeddedFont>
    <p:embeddedFont>
      <p:font typeface="Wingdings 2" panose="05020102010507070707" pitchFamily="18" charset="2"/>
      <p:regular r:id="rId97"/>
    </p:embeddedFont>
    <p:embeddedFont>
      <p:font typeface="Calibri" panose="020F0502020204030204" pitchFamily="34" charset="0"/>
      <p:regular r:id="rId98"/>
      <p:bold r:id="rId99"/>
      <p:italic r:id="rId100"/>
      <p:boldItalic r:id="rId101"/>
    </p:embeddedFont>
    <p:embeddedFont>
      <p:font typeface="Lucida Calligraphy" panose="03010101010101010101" pitchFamily="66" charset="0"/>
      <p:regular r:id="rId102"/>
    </p:embeddedFont>
    <p:embeddedFont>
      <p:font typeface="Cambria Math" panose="02040503050406030204" pitchFamily="18" charset="0"/>
      <p:regular r:id="rId103"/>
    </p:embeddedFont>
    <p:embeddedFont>
      <p:font typeface="Constantia" panose="02030602050306030303" pitchFamily="18" charset="0"/>
      <p:regular r:id="rId104"/>
      <p:bold r:id="rId105"/>
      <p:italic r:id="rId106"/>
      <p:boldItalic r:id="rId107"/>
    </p:embeddedFont>
    <p:embeddedFont>
      <p:font typeface="MS Reference Sans Serif" panose="020B0604030504040204" pitchFamily="34" charset="0"/>
      <p:regular r:id="rId108"/>
    </p:embeddedFont>
    <p:embeddedFont>
      <p:font typeface="隶书" panose="02010509060101010101" pitchFamily="49" charset="-122"/>
      <p:regular r:id="rId109"/>
    </p:embeddedFont>
    <p:embeddedFont>
      <p:font typeface="Brush Script MT" panose="03060802040406070304" pitchFamily="66" charset="0"/>
      <p:italic r:id="rId1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04" autoAdjust="0"/>
    <p:restoredTop sz="85591" autoAdjust="0"/>
  </p:normalViewPr>
  <p:slideViewPr>
    <p:cSldViewPr>
      <p:cViewPr varScale="1">
        <p:scale>
          <a:sx n="86" d="100"/>
          <a:sy n="86" d="100"/>
        </p:scale>
        <p:origin x="1804"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font" Target="fonts/font12.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7.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8.fntdata"/><Relationship Id="rId108" Type="http://schemas.openxmlformats.org/officeDocument/2006/relationships/font" Target="fonts/font13.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11.fntdata"/><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font" Target="fonts/font4.fntdata"/><Relationship Id="rId10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14.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2.fntdata"/><Relationship Id="rId104"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15.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5.fntdata"/><Relationship Id="rId105"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font" Target="fonts/font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9600D7-E798-4603-B5B5-784F8D6A22DD}" type="datetimeFigureOut">
              <a:rPr lang="zh-CN" altLang="en-US" smtClean="0"/>
              <a:pPr/>
              <a:t>2026/3/17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B96C9A-A370-4866-8953-A4D4CBA64AFF}" type="slidenum">
              <a:rPr lang="zh-CN" altLang="en-US" smtClean="0"/>
              <a:pPr/>
              <a:t>‹#›</a:t>
            </a:fld>
            <a:endParaRPr lang="zh-CN" altLang="en-US"/>
          </a:p>
        </p:txBody>
      </p:sp>
    </p:spTree>
    <p:extLst>
      <p:ext uri="{BB962C8B-B14F-4D97-AF65-F5344CB8AC3E}">
        <p14:creationId xmlns:p14="http://schemas.microsoft.com/office/powerpoint/2010/main" val="3627520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28</a:t>
            </a:fld>
            <a:endParaRPr lang="en-US"/>
          </a:p>
        </p:txBody>
      </p:sp>
    </p:spTree>
    <p:extLst>
      <p:ext uri="{BB962C8B-B14F-4D97-AF65-F5344CB8AC3E}">
        <p14:creationId xmlns:p14="http://schemas.microsoft.com/office/powerpoint/2010/main" val="1275220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50</a:t>
            </a:fld>
            <a:endParaRPr lang="en-US"/>
          </a:p>
        </p:txBody>
      </p:sp>
    </p:spTree>
    <p:extLst>
      <p:ext uri="{BB962C8B-B14F-4D97-AF65-F5344CB8AC3E}">
        <p14:creationId xmlns:p14="http://schemas.microsoft.com/office/powerpoint/2010/main" val="889031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51</a:t>
            </a:fld>
            <a:endParaRPr lang="en-US"/>
          </a:p>
        </p:txBody>
      </p:sp>
    </p:spTree>
    <p:extLst>
      <p:ext uri="{BB962C8B-B14F-4D97-AF65-F5344CB8AC3E}">
        <p14:creationId xmlns:p14="http://schemas.microsoft.com/office/powerpoint/2010/main" val="2838478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52</a:t>
            </a:fld>
            <a:endParaRPr lang="en-US"/>
          </a:p>
        </p:txBody>
      </p:sp>
    </p:spTree>
    <p:extLst>
      <p:ext uri="{BB962C8B-B14F-4D97-AF65-F5344CB8AC3E}">
        <p14:creationId xmlns:p14="http://schemas.microsoft.com/office/powerpoint/2010/main" val="534322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楷体_GB2312" pitchFamily="49" charset="-122"/>
                <a:ea typeface="楷体_GB2312" pitchFamily="49" charset="-122"/>
              </a:defRPr>
            </a:lvl1pPr>
            <a:lvl2pPr marL="757066" indent="-291179">
              <a:defRPr sz="2400" b="1">
                <a:solidFill>
                  <a:schemeClr val="tx1"/>
                </a:solidFill>
                <a:latin typeface="楷体_GB2312" pitchFamily="49" charset="-122"/>
                <a:ea typeface="楷体_GB2312" pitchFamily="49" charset="-122"/>
              </a:defRPr>
            </a:lvl2pPr>
            <a:lvl3pPr marL="1164717" indent="-232943">
              <a:defRPr sz="2400" b="1">
                <a:solidFill>
                  <a:schemeClr val="tx1"/>
                </a:solidFill>
                <a:latin typeface="楷体_GB2312" pitchFamily="49" charset="-122"/>
                <a:ea typeface="楷体_GB2312" pitchFamily="49" charset="-122"/>
              </a:defRPr>
            </a:lvl3pPr>
            <a:lvl4pPr marL="1630604" indent="-232943">
              <a:defRPr sz="2400" b="1">
                <a:solidFill>
                  <a:schemeClr val="tx1"/>
                </a:solidFill>
                <a:latin typeface="楷体_GB2312" pitchFamily="49" charset="-122"/>
                <a:ea typeface="楷体_GB2312" pitchFamily="49" charset="-122"/>
              </a:defRPr>
            </a:lvl4pPr>
            <a:lvl5pPr marL="2096491" indent="-232943">
              <a:defRPr sz="2400" b="1">
                <a:solidFill>
                  <a:schemeClr val="tx1"/>
                </a:solidFill>
                <a:latin typeface="楷体_GB2312" pitchFamily="49" charset="-122"/>
                <a:ea typeface="楷体_GB2312" pitchFamily="49" charset="-122"/>
              </a:defRPr>
            </a:lvl5pPr>
            <a:lvl6pPr marL="2562377" indent="-232943"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6pPr>
            <a:lvl7pPr marL="3028264" indent="-232943"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7pPr>
            <a:lvl8pPr marL="3494151" indent="-232943"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8pPr>
            <a:lvl9pPr marL="3960038" indent="-232943"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9pPr>
          </a:lstStyle>
          <a:p>
            <a:fld id="{E766E875-A770-4CB8-80A7-968591FF0884}" type="slidenum">
              <a:rPr lang="zh-CN" altLang="en-US" sz="1000" b="0">
                <a:latin typeface="Arial" pitchFamily="34" charset="0"/>
                <a:ea typeface="宋体" pitchFamily="2" charset="-122"/>
              </a:rPr>
              <a:pPr/>
              <a:t>60</a:t>
            </a:fld>
            <a:endParaRPr lang="en-US" altLang="zh-CN" sz="1000" b="0">
              <a:latin typeface="Arial" pitchFamily="34" charset="0"/>
              <a:ea typeface="宋体" pitchFamily="2" charset="-122"/>
            </a:endParaRPr>
          </a:p>
        </p:txBody>
      </p:sp>
      <p:sp>
        <p:nvSpPr>
          <p:cNvPr id="77827" name="Rectangle 2"/>
          <p:cNvSpPr>
            <a:spLocks noGrp="1" noRot="1" noChangeAspect="1" noChangeArrowheads="1" noTextEdit="1"/>
          </p:cNvSpPr>
          <p:nvPr>
            <p:ph type="sldImg"/>
          </p:nvPr>
        </p:nvSpPr>
        <p:spPr>
          <a:xfrm>
            <a:off x="1181100" y="696913"/>
            <a:ext cx="4648200" cy="3486150"/>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2289457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楷体_GB2312" pitchFamily="49" charset="-122"/>
                <a:ea typeface="楷体_GB2312" pitchFamily="49" charset="-122"/>
              </a:defRPr>
            </a:lvl1pPr>
            <a:lvl2pPr marL="757066" indent="-291179">
              <a:defRPr sz="2400" b="1">
                <a:solidFill>
                  <a:schemeClr val="tx1"/>
                </a:solidFill>
                <a:latin typeface="楷体_GB2312" pitchFamily="49" charset="-122"/>
                <a:ea typeface="楷体_GB2312" pitchFamily="49" charset="-122"/>
              </a:defRPr>
            </a:lvl2pPr>
            <a:lvl3pPr marL="1164717" indent="-232943">
              <a:defRPr sz="2400" b="1">
                <a:solidFill>
                  <a:schemeClr val="tx1"/>
                </a:solidFill>
                <a:latin typeface="楷体_GB2312" pitchFamily="49" charset="-122"/>
                <a:ea typeface="楷体_GB2312" pitchFamily="49" charset="-122"/>
              </a:defRPr>
            </a:lvl3pPr>
            <a:lvl4pPr marL="1630604" indent="-232943">
              <a:defRPr sz="2400" b="1">
                <a:solidFill>
                  <a:schemeClr val="tx1"/>
                </a:solidFill>
                <a:latin typeface="楷体_GB2312" pitchFamily="49" charset="-122"/>
                <a:ea typeface="楷体_GB2312" pitchFamily="49" charset="-122"/>
              </a:defRPr>
            </a:lvl4pPr>
            <a:lvl5pPr marL="2096491" indent="-232943">
              <a:defRPr sz="2400" b="1">
                <a:solidFill>
                  <a:schemeClr val="tx1"/>
                </a:solidFill>
                <a:latin typeface="楷体_GB2312" pitchFamily="49" charset="-122"/>
                <a:ea typeface="楷体_GB2312" pitchFamily="49" charset="-122"/>
              </a:defRPr>
            </a:lvl5pPr>
            <a:lvl6pPr marL="2562377" indent="-232943"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6pPr>
            <a:lvl7pPr marL="3028264" indent="-232943"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7pPr>
            <a:lvl8pPr marL="3494151" indent="-232943"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8pPr>
            <a:lvl9pPr marL="3960038" indent="-232943"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9pPr>
          </a:lstStyle>
          <a:p>
            <a:fld id="{48265032-99BC-4F09-89C1-465277DF969F}" type="slidenum">
              <a:rPr lang="zh-CN" altLang="en-US" sz="1000" b="0">
                <a:latin typeface="Arial" pitchFamily="34" charset="0"/>
                <a:ea typeface="宋体" pitchFamily="2" charset="-122"/>
              </a:rPr>
              <a:pPr/>
              <a:t>61</a:t>
            </a:fld>
            <a:endParaRPr lang="en-US" altLang="zh-CN" sz="1000" b="0">
              <a:latin typeface="Arial" pitchFamily="34" charset="0"/>
              <a:ea typeface="宋体" pitchFamily="2" charset="-122"/>
            </a:endParaRPr>
          </a:p>
        </p:txBody>
      </p:sp>
      <p:sp>
        <p:nvSpPr>
          <p:cNvPr id="78851" name="Rectangle 2"/>
          <p:cNvSpPr>
            <a:spLocks noGrp="1" noRot="1" noChangeAspect="1" noChangeArrowheads="1" noTextEdit="1"/>
          </p:cNvSpPr>
          <p:nvPr>
            <p:ph type="sldImg"/>
          </p:nvPr>
        </p:nvSpPr>
        <p:spPr>
          <a:xfrm>
            <a:off x="1181100" y="696913"/>
            <a:ext cx="4648200" cy="3486150"/>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extLst>
      <p:ext uri="{BB962C8B-B14F-4D97-AF65-F5344CB8AC3E}">
        <p14:creationId xmlns:p14="http://schemas.microsoft.com/office/powerpoint/2010/main" val="3421217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D15220D-0BB5-4C71-B862-812B075D02FE}" type="datetimeFigureOut">
              <a:rPr lang="en-US" smtClean="0"/>
              <a:pPr/>
              <a:t>3/17/2026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D15220D-0BB5-4C71-B862-812B075D02FE}"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D15220D-0BB5-4C71-B862-812B075D02FE}" type="datetimeFigureOut">
              <a:rPr lang="en-US" smtClean="0"/>
              <a:pPr/>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D15220D-0BB5-4C71-B862-812B075D02FE}" type="datetimeFigureOut">
              <a:rPr lang="en-US" smtClean="0"/>
              <a:pPr/>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5220D-0BB5-4C71-B862-812B075D02FE}" type="datetimeFigureOut">
              <a:rPr lang="en-US" smtClean="0"/>
              <a:pPr/>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D15220D-0BB5-4C71-B862-812B075D02FE}"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CA217EF-0505-4C33-BB20-8A8DF203902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D15220D-0BB5-4C71-B862-812B075D02FE}" type="datetimeFigureOut">
              <a:rPr lang="en-US" smtClean="0"/>
              <a:pPr/>
              <a:t>3/17/2026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CA217EF-0505-4C33-BB20-8A8DF203902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slideLayout" Target="../slideLayouts/slideLayout2.xml"/><Relationship Id="rId4" Type="http://schemas.openxmlformats.org/officeDocument/2006/relationships/tags" Target="../tags/tag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1.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6.jpeg"/></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49.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27.pn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6.png"/><Relationship Id="rId2" Type="http://schemas.openxmlformats.org/officeDocument/2006/relationships/tags" Target="../tags/tag20.xml"/><Relationship Id="rId16" Type="http://schemas.openxmlformats.org/officeDocument/2006/relationships/image" Target="../media/image30.pn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25.png"/><Relationship Id="rId5" Type="http://schemas.openxmlformats.org/officeDocument/2006/relationships/tags" Target="../tags/tag23.xml"/><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tags" Target="../tags/tag22.xml"/><Relationship Id="rId9" Type="http://schemas.openxmlformats.org/officeDocument/2006/relationships/notesSlide" Target="../notesSlides/notesSlide2.xml"/><Relationship Id="rId14" Type="http://schemas.openxmlformats.org/officeDocument/2006/relationships/image" Target="../media/image28.png"/></Relationships>
</file>

<file path=ppt/slides/_rels/slide51.xml.rels><?xml version="1.0" encoding="UTF-8" standalone="yes"?>
<Relationships xmlns="http://schemas.openxmlformats.org/package/2006/relationships"><Relationship Id="rId8" Type="http://schemas.openxmlformats.org/officeDocument/2006/relationships/notesSlide" Target="../notesSlides/notesSlide3.xml"/><Relationship Id="rId13" Type="http://schemas.openxmlformats.org/officeDocument/2006/relationships/image" Target="../media/image35.png"/><Relationship Id="rId3" Type="http://schemas.openxmlformats.org/officeDocument/2006/relationships/tags" Target="../tags/tag28.xml"/><Relationship Id="rId7" Type="http://schemas.openxmlformats.org/officeDocument/2006/relationships/slideLayout" Target="../slideLayouts/slideLayout2.xml"/><Relationship Id="rId12" Type="http://schemas.openxmlformats.org/officeDocument/2006/relationships/image" Target="../media/image34.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33.png"/><Relationship Id="rId5" Type="http://schemas.openxmlformats.org/officeDocument/2006/relationships/tags" Target="../tags/tag30.xml"/><Relationship Id="rId10" Type="http://schemas.openxmlformats.org/officeDocument/2006/relationships/image" Target="../media/image32.png"/><Relationship Id="rId4" Type="http://schemas.openxmlformats.org/officeDocument/2006/relationships/tags" Target="../tags/tag29.xml"/><Relationship Id="rId9" Type="http://schemas.openxmlformats.org/officeDocument/2006/relationships/image" Target="../media/image31.png"/><Relationship Id="rId14" Type="http://schemas.openxmlformats.org/officeDocument/2006/relationships/image" Target="../media/image36.png"/></Relationships>
</file>

<file path=ppt/slides/_rels/slide52.xml.rels><?xml version="1.0" encoding="UTF-8" standalone="yes"?>
<Relationships xmlns="http://schemas.openxmlformats.org/package/2006/relationships"><Relationship Id="rId8" Type="http://schemas.openxmlformats.org/officeDocument/2006/relationships/notesSlide" Target="../notesSlides/notesSlide4.xml"/><Relationship Id="rId13" Type="http://schemas.openxmlformats.org/officeDocument/2006/relationships/image" Target="../media/image41.png"/><Relationship Id="rId3" Type="http://schemas.openxmlformats.org/officeDocument/2006/relationships/tags" Target="../tags/tag34.xml"/><Relationship Id="rId7" Type="http://schemas.openxmlformats.org/officeDocument/2006/relationships/slideLayout" Target="../slideLayouts/slideLayout2.xml"/><Relationship Id="rId12" Type="http://schemas.openxmlformats.org/officeDocument/2006/relationships/image" Target="../media/image40.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39.png"/><Relationship Id="rId5" Type="http://schemas.openxmlformats.org/officeDocument/2006/relationships/tags" Target="../tags/tag36.xml"/><Relationship Id="rId10" Type="http://schemas.openxmlformats.org/officeDocument/2006/relationships/image" Target="../media/image38.png"/><Relationship Id="rId4" Type="http://schemas.openxmlformats.org/officeDocument/2006/relationships/tags" Target="../tags/tag35.xml"/><Relationship Id="rId9" Type="http://schemas.openxmlformats.org/officeDocument/2006/relationships/image" Target="../media/image37.png"/><Relationship Id="rId14"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image" Target="../media/image44.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43.png"/><Relationship Id="rId5" Type="http://schemas.openxmlformats.org/officeDocument/2006/relationships/image" Target="../media/image38.png"/><Relationship Id="rId4"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45.png"/><Relationship Id="rId4" Type="http://schemas.openxmlformats.org/officeDocument/2006/relationships/image" Target="../media/image44.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43.png"/><Relationship Id="rId4" Type="http://schemas.openxmlformats.org/officeDocument/2006/relationships/image" Target="../media/image46.png"/></Relationships>
</file>

<file path=ppt/slides/_rels/slide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58.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36.png"/><Relationship Id="rId3" Type="http://schemas.openxmlformats.org/officeDocument/2006/relationships/tags" Target="../tags/tag48.xml"/><Relationship Id="rId7" Type="http://schemas.openxmlformats.org/officeDocument/2006/relationships/slideLayout" Target="../slideLayouts/slideLayout2.xml"/><Relationship Id="rId12" Type="http://schemas.openxmlformats.org/officeDocument/2006/relationships/image" Target="../media/image52.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image" Target="../media/image51.png"/><Relationship Id="rId5" Type="http://schemas.openxmlformats.org/officeDocument/2006/relationships/tags" Target="../tags/tag50.xml"/><Relationship Id="rId10" Type="http://schemas.openxmlformats.org/officeDocument/2006/relationships/image" Target="../media/image50.png"/><Relationship Id="rId4" Type="http://schemas.openxmlformats.org/officeDocument/2006/relationships/tags" Target="../tags/tag49.xml"/><Relationship Id="rId9" Type="http://schemas.openxmlformats.org/officeDocument/2006/relationships/image" Target="../media/image49.png"/></Relationships>
</file>

<file path=ppt/slides/_rels/slide5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tags" Target="../tags/tag54.xml"/><Relationship Id="rId7" Type="http://schemas.openxmlformats.org/officeDocument/2006/relationships/image" Target="../media/image54.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53.png"/><Relationship Id="rId5" Type="http://schemas.openxmlformats.org/officeDocument/2006/relationships/slideLayout" Target="../slideLayouts/slideLayout2.xml"/><Relationship Id="rId4" Type="http://schemas.openxmlformats.org/officeDocument/2006/relationships/tags" Target="../tags/tag55.xml"/><Relationship Id="rId9" Type="http://schemas.openxmlformats.org/officeDocument/2006/relationships/image" Target="../media/image56.png"/></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5.xml"/><Relationship Id="rId7" Type="http://schemas.openxmlformats.org/officeDocument/2006/relationships/image" Target="../media/image58.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7.wmf"/><Relationship Id="rId4" Type="http://schemas.openxmlformats.org/officeDocument/2006/relationships/oleObject" Target="../embeddings/oleObject1.bin"/></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2.xml"/><Relationship Id="rId1" Type="http://schemas.openxmlformats.org/officeDocument/2006/relationships/tags" Target="../tags/tag56.xml"/><Relationship Id="rId4" Type="http://schemas.openxmlformats.org/officeDocument/2006/relationships/image" Target="../media/image60.png"/></Relationships>
</file>

<file path=ppt/slides/_rels/slide67.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63.png"/><Relationship Id="rId4" Type="http://schemas.openxmlformats.org/officeDocument/2006/relationships/image" Target="../media/image62.png"/></Relationships>
</file>

<file path=ppt/slides/_rels/slide71.x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tags" Target="../tags/tag61.xml"/><Relationship Id="rId7" Type="http://schemas.openxmlformats.org/officeDocument/2006/relationships/image" Target="../media/image67.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71.jpeg"/><Relationship Id="rId5" Type="http://schemas.openxmlformats.org/officeDocument/2006/relationships/image" Target="../media/image70.png"/><Relationship Id="rId4" Type="http://schemas.openxmlformats.org/officeDocument/2006/relationships/image" Target="../media/image69.png"/></Relationships>
</file>

<file path=ppt/slides/_rels/slide7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75.jpeg"/><Relationship Id="rId5" Type="http://schemas.openxmlformats.org/officeDocument/2006/relationships/image" Target="../media/image74.png"/><Relationship Id="rId4" Type="http://schemas.openxmlformats.org/officeDocument/2006/relationships/image" Target="../media/image73.png"/></Relationships>
</file>

<file path=ppt/slides/_rels/slide8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83.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tags" Target="../tags/tag71.xml"/><Relationship Id="rId7" Type="http://schemas.openxmlformats.org/officeDocument/2006/relationships/image" Target="../media/image76.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72.png"/><Relationship Id="rId5" Type="http://schemas.openxmlformats.org/officeDocument/2006/relationships/slideLayout" Target="../slideLayouts/slideLayout2.xml"/><Relationship Id="rId4" Type="http://schemas.openxmlformats.org/officeDocument/2006/relationships/tags" Target="../tags/tag72.xml"/><Relationship Id="rId9" Type="http://schemas.openxmlformats.org/officeDocument/2006/relationships/image" Target="../media/image7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3" Type="http://schemas.openxmlformats.org/officeDocument/2006/relationships/tags" Target="../tags/tag75.xml"/><Relationship Id="rId7" Type="http://schemas.openxmlformats.org/officeDocument/2006/relationships/slideLayout" Target="../slideLayouts/slideLayout2.xml"/><Relationship Id="rId12" Type="http://schemas.openxmlformats.org/officeDocument/2006/relationships/image" Target="../media/image85.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84.png"/><Relationship Id="rId5" Type="http://schemas.openxmlformats.org/officeDocument/2006/relationships/tags" Target="../tags/tag77.xml"/><Relationship Id="rId10" Type="http://schemas.openxmlformats.org/officeDocument/2006/relationships/image" Target="../media/image83.png"/><Relationship Id="rId4" Type="http://schemas.openxmlformats.org/officeDocument/2006/relationships/tags" Target="../tags/tag76.xml"/><Relationship Id="rId9" Type="http://schemas.openxmlformats.org/officeDocument/2006/relationships/image" Target="../media/image82.png"/></Relationships>
</file>

<file path=ppt/slides/_rels/slide88.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90.png"/><Relationship Id="rId4" Type="http://schemas.openxmlformats.org/officeDocument/2006/relationships/image" Target="../media/image8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Proof Strategies for proving </a:t>
            </a:r>
            <a:r>
              <a:rPr lang="en-US" i="1" dirty="0" smtClean="0"/>
              <a:t>p</a:t>
            </a:r>
            <a:r>
              <a:rPr lang="en-US" dirty="0" smtClean="0"/>
              <a:t> </a:t>
            </a:r>
            <a:r>
              <a:rPr lang="en-US" dirty="0" smtClean="0">
                <a:latin typeface="Cambria Math"/>
                <a:ea typeface="Cambria Math"/>
              </a:rPr>
              <a:t>→ </a:t>
            </a:r>
            <a:r>
              <a:rPr lang="en-US" i="1" dirty="0" smtClean="0">
                <a:latin typeface="Cambria Math"/>
                <a:ea typeface="Cambria Math"/>
              </a:rPr>
              <a:t>q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latin typeface="Cambria Math"/>
                <a:ea typeface="Cambria Math"/>
              </a:rPr>
              <a:t>Choose a method.</a:t>
            </a:r>
          </a:p>
          <a:p>
            <a:pPr marL="850392" lvl="1" indent="-457200">
              <a:buFont typeface="+mj-lt"/>
              <a:buAutoNum type="arabicPeriod"/>
            </a:pPr>
            <a:r>
              <a:rPr lang="en-US" dirty="0" smtClean="0">
                <a:latin typeface="Cambria Math"/>
                <a:ea typeface="Cambria Math"/>
              </a:rPr>
              <a:t>First try a direct method of proof.  </a:t>
            </a:r>
          </a:p>
          <a:p>
            <a:pPr marL="850392" lvl="1" indent="-457200">
              <a:buFont typeface="+mj-lt"/>
              <a:buAutoNum type="arabicPeriod"/>
            </a:pPr>
            <a:r>
              <a:rPr lang="en-US" dirty="0" smtClean="0">
                <a:latin typeface="Cambria Math"/>
                <a:ea typeface="Cambria Math"/>
              </a:rPr>
              <a:t>If this does not work, try an indirect method (e.g., try to prove the </a:t>
            </a:r>
            <a:r>
              <a:rPr lang="en-US" dirty="0" err="1" smtClean="0">
                <a:latin typeface="Cambria Math"/>
                <a:ea typeface="Cambria Math"/>
              </a:rPr>
              <a:t>contrapositive</a:t>
            </a:r>
            <a:r>
              <a:rPr lang="en-US" dirty="0" smtClean="0">
                <a:latin typeface="Cambria Math"/>
                <a:ea typeface="Cambria Math"/>
              </a:rPr>
              <a:t>).</a:t>
            </a:r>
          </a:p>
          <a:p>
            <a:pPr marL="484632" indent="-457200"/>
            <a:r>
              <a:rPr lang="en-US" dirty="0" smtClean="0">
                <a:latin typeface="Cambria Math"/>
                <a:ea typeface="Cambria Math"/>
              </a:rPr>
              <a:t>For whichever method you are trying, choose a strategy.</a:t>
            </a:r>
          </a:p>
          <a:p>
            <a:pPr marL="850392" lvl="1" indent="-457200">
              <a:buFont typeface="+mj-lt"/>
              <a:buAutoNum type="arabicPeriod"/>
            </a:pPr>
            <a:r>
              <a:rPr lang="en-US" dirty="0" smtClean="0"/>
              <a:t>First try </a:t>
            </a:r>
            <a:r>
              <a:rPr lang="en-US" i="1" dirty="0" smtClean="0"/>
              <a:t>forward reasoning. </a:t>
            </a:r>
            <a:r>
              <a:rPr lang="en-US" dirty="0" smtClean="0"/>
              <a:t> Start with the axioms and known theorems and construct a sequence of steps that end in the conclusion.  Start with </a:t>
            </a:r>
            <a:r>
              <a:rPr lang="en-US" i="1" dirty="0" smtClean="0"/>
              <a:t>p</a:t>
            </a:r>
            <a:r>
              <a:rPr lang="en-US" dirty="0" smtClean="0"/>
              <a:t> and prove </a:t>
            </a:r>
            <a:r>
              <a:rPr lang="en-US" i="1" dirty="0" smtClean="0"/>
              <a:t>q</a:t>
            </a:r>
            <a:r>
              <a:rPr lang="en-US" dirty="0" smtClean="0"/>
              <a:t>, or start with </a:t>
            </a:r>
            <a:r>
              <a:rPr lang="en-US" dirty="0" smtClean="0">
                <a:latin typeface="Cambria Math"/>
                <a:ea typeface="Cambria Math"/>
              </a:rPr>
              <a:t>¬</a:t>
            </a:r>
            <a:r>
              <a:rPr lang="en-US" i="1" dirty="0" smtClean="0"/>
              <a:t>q</a:t>
            </a:r>
            <a:r>
              <a:rPr lang="en-US" dirty="0" smtClean="0"/>
              <a:t> and prove </a:t>
            </a:r>
            <a:r>
              <a:rPr lang="en-US" dirty="0" smtClean="0">
                <a:latin typeface="Cambria Math"/>
                <a:ea typeface="Cambria Math"/>
              </a:rPr>
              <a:t>¬</a:t>
            </a:r>
            <a:r>
              <a:rPr lang="en-US" i="1" dirty="0" smtClean="0"/>
              <a:t>p</a:t>
            </a:r>
            <a:r>
              <a:rPr lang="en-US" dirty="0" smtClean="0"/>
              <a:t>.</a:t>
            </a:r>
          </a:p>
          <a:p>
            <a:pPr marL="850392" lvl="1" indent="-457200">
              <a:buFont typeface="+mj-lt"/>
              <a:buAutoNum type="arabicPeriod"/>
            </a:pPr>
            <a:r>
              <a:rPr lang="en-US" dirty="0" smtClean="0"/>
              <a:t>If this doesn’t work, try </a:t>
            </a:r>
            <a:r>
              <a:rPr lang="en-US" i="1" dirty="0" smtClean="0"/>
              <a:t>backward reasoning</a:t>
            </a:r>
            <a:r>
              <a:rPr lang="en-US" dirty="0" smtClean="0"/>
              <a:t>. When trying to prove </a:t>
            </a:r>
            <a:r>
              <a:rPr lang="en-US" i="1" dirty="0" smtClean="0"/>
              <a:t>q</a:t>
            </a:r>
            <a:r>
              <a:rPr lang="en-US" dirty="0" smtClean="0"/>
              <a:t>,  find a statement p that we can prove with the  property </a:t>
            </a:r>
            <a:r>
              <a:rPr lang="en-US" i="1" dirty="0" smtClean="0"/>
              <a:t>p </a:t>
            </a:r>
            <a:r>
              <a:rPr lang="en-US" dirty="0" smtClean="0">
                <a:latin typeface="Cambria Math"/>
                <a:ea typeface="Cambria Math"/>
              </a:rPr>
              <a:t>→ </a:t>
            </a:r>
            <a:r>
              <a:rPr lang="en-US" i="1" dirty="0" smtClean="0">
                <a:latin typeface="Cambria Math"/>
                <a:ea typeface="Cambria Math"/>
              </a:rPr>
              <a:t>q</a:t>
            </a:r>
            <a:r>
              <a:rPr lang="en-US" dirty="0" smtClean="0">
                <a:latin typeface="Cambria Math"/>
                <a:ea typeface="Cambria Math"/>
              </a:rPr>
              <a:t>.</a:t>
            </a:r>
            <a:endParaRPr lang="en-US" dirty="0"/>
          </a:p>
        </p:txBody>
      </p:sp>
    </p:spTree>
    <p:extLst>
      <p:ext uri="{BB962C8B-B14F-4D97-AF65-F5344CB8AC3E}">
        <p14:creationId xmlns:p14="http://schemas.microsoft.com/office/powerpoint/2010/main" val="34052918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Backward Reasoning </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dirty="0" smtClean="0"/>
              <a:t>    </a:t>
            </a:r>
            <a:r>
              <a:rPr lang="en-US" b="1" dirty="0" smtClean="0"/>
              <a:t>Example</a:t>
            </a:r>
            <a:r>
              <a:rPr lang="en-US" dirty="0" smtClean="0"/>
              <a:t>: Suppose that two people play a game taking turns removing, </a:t>
            </a:r>
            <a:r>
              <a:rPr lang="en-US" dirty="0" smtClean="0">
                <a:latin typeface="Cambria Math" pitchFamily="18" charset="0"/>
                <a:ea typeface="Cambria Math" pitchFamily="18" charset="0"/>
              </a:rPr>
              <a:t>1</a:t>
            </a:r>
            <a:r>
              <a:rPr lang="en-US" dirty="0" smtClean="0"/>
              <a:t>, </a:t>
            </a:r>
            <a:r>
              <a:rPr lang="en-US" dirty="0" smtClean="0">
                <a:latin typeface="Cambria Math" pitchFamily="18" charset="0"/>
                <a:ea typeface="Cambria Math" pitchFamily="18" charset="0"/>
              </a:rPr>
              <a:t>2</a:t>
            </a:r>
            <a:r>
              <a:rPr lang="en-US" dirty="0" smtClean="0"/>
              <a:t>, or </a:t>
            </a:r>
            <a:r>
              <a:rPr lang="en-US" dirty="0" smtClean="0">
                <a:latin typeface="Cambria Math" pitchFamily="18" charset="0"/>
                <a:ea typeface="Cambria Math" pitchFamily="18" charset="0"/>
              </a:rPr>
              <a:t>3 </a:t>
            </a:r>
            <a:r>
              <a:rPr lang="en-US" dirty="0" smtClean="0"/>
              <a:t>stones at a time from a pile that begins with </a:t>
            </a:r>
            <a:r>
              <a:rPr lang="en-US" dirty="0" smtClean="0">
                <a:latin typeface="Cambria Math" pitchFamily="18" charset="0"/>
                <a:ea typeface="Cambria Math" pitchFamily="18" charset="0"/>
              </a:rPr>
              <a:t>15</a:t>
            </a:r>
            <a:r>
              <a:rPr lang="en-US" dirty="0" smtClean="0"/>
              <a:t> stones. The person who removes the last stone wins the game. Show that the first player can win the game no matter what the second player does.</a:t>
            </a:r>
          </a:p>
          <a:p>
            <a:pPr>
              <a:buNone/>
            </a:pPr>
            <a:endParaRPr lang="en-US" dirty="0" smtClean="0"/>
          </a:p>
          <a:p>
            <a:pPr>
              <a:buNone/>
            </a:pPr>
            <a:r>
              <a:rPr lang="en-US" dirty="0" smtClean="0"/>
              <a:t>    </a:t>
            </a:r>
            <a:r>
              <a:rPr lang="en-US" b="1" dirty="0" smtClean="0"/>
              <a:t>Proof</a:t>
            </a:r>
            <a:r>
              <a:rPr lang="en-US" dirty="0" smtClean="0"/>
              <a:t>: Let </a:t>
            </a:r>
            <a:r>
              <a:rPr lang="en-US" i="1" dirty="0" smtClean="0"/>
              <a:t>n</a:t>
            </a:r>
            <a:r>
              <a:rPr lang="en-US" dirty="0" smtClean="0"/>
              <a:t> be the last step of the game.</a:t>
            </a:r>
          </a:p>
          <a:p>
            <a:pPr lvl="1">
              <a:buNone/>
            </a:pPr>
            <a:r>
              <a:rPr lang="en-US" b="1" dirty="0" smtClean="0"/>
              <a:t>Step n:    </a:t>
            </a:r>
            <a:r>
              <a:rPr lang="en-US" dirty="0" smtClean="0"/>
              <a:t>Player</a:t>
            </a:r>
            <a:r>
              <a:rPr lang="en-US" baseline="-25000" dirty="0" smtClean="0">
                <a:latin typeface="Cambria Math" pitchFamily="18" charset="0"/>
                <a:ea typeface="Cambria Math" pitchFamily="18" charset="0"/>
              </a:rPr>
              <a:t>1</a:t>
            </a:r>
            <a:r>
              <a:rPr lang="en-US" dirty="0" smtClean="0"/>
              <a:t> can win if the pile contains </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2</a:t>
            </a:r>
            <a:r>
              <a:rPr lang="en-US" dirty="0" smtClean="0"/>
              <a:t>, or </a:t>
            </a:r>
            <a:r>
              <a:rPr lang="en-US" dirty="0" smtClean="0">
                <a:latin typeface="Cambria Math" pitchFamily="18" charset="0"/>
                <a:ea typeface="Cambria Math" pitchFamily="18" charset="0"/>
              </a:rPr>
              <a:t>3</a:t>
            </a:r>
            <a:r>
              <a:rPr lang="en-US" dirty="0" smtClean="0"/>
              <a:t> stones. </a:t>
            </a:r>
          </a:p>
          <a:p>
            <a:pPr lvl="1">
              <a:buNone/>
            </a:pPr>
            <a:r>
              <a:rPr lang="en-US" b="1" dirty="0" smtClean="0"/>
              <a:t>Step n-</a:t>
            </a:r>
            <a:r>
              <a:rPr lang="en-US" b="1" dirty="0" smtClean="0">
                <a:latin typeface="Cambria Math" pitchFamily="18" charset="0"/>
                <a:ea typeface="Cambria Math" pitchFamily="18" charset="0"/>
              </a:rPr>
              <a:t>1</a:t>
            </a:r>
            <a:r>
              <a:rPr lang="en-US" dirty="0" smtClean="0"/>
              <a:t>: Player</a:t>
            </a:r>
            <a:r>
              <a:rPr lang="en-US" baseline="-25000" dirty="0" smtClean="0">
                <a:latin typeface="Cambria Math" pitchFamily="18" charset="0"/>
                <a:ea typeface="Cambria Math" pitchFamily="18" charset="0"/>
              </a:rPr>
              <a:t>2</a:t>
            </a:r>
            <a:r>
              <a:rPr lang="en-US" dirty="0" smtClean="0"/>
              <a:t> will have to leave such a pile if the pile that he/she is faced with has </a:t>
            </a:r>
            <a:r>
              <a:rPr lang="en-US" dirty="0" smtClean="0">
                <a:latin typeface="Cambria Math" pitchFamily="18" charset="0"/>
                <a:ea typeface="Cambria Math" pitchFamily="18" charset="0"/>
              </a:rPr>
              <a:t>4</a:t>
            </a:r>
            <a:r>
              <a:rPr lang="en-US" dirty="0" smtClean="0"/>
              <a:t> stones. </a:t>
            </a:r>
          </a:p>
          <a:p>
            <a:pPr lvl="1">
              <a:buNone/>
            </a:pPr>
            <a:r>
              <a:rPr lang="en-US" b="1" dirty="0" smtClean="0"/>
              <a:t>Step n-</a:t>
            </a:r>
            <a:r>
              <a:rPr lang="en-US" b="1" dirty="0" smtClean="0">
                <a:latin typeface="Cambria Math" pitchFamily="18" charset="0"/>
                <a:ea typeface="Cambria Math" pitchFamily="18" charset="0"/>
              </a:rPr>
              <a:t>2</a:t>
            </a:r>
            <a:r>
              <a:rPr lang="en-US" dirty="0" smtClean="0"/>
              <a:t>: Player</a:t>
            </a:r>
            <a:r>
              <a:rPr lang="en-US" baseline="-25000" dirty="0" smtClean="0">
                <a:latin typeface="Cambria Math" pitchFamily="18" charset="0"/>
                <a:ea typeface="Cambria Math" pitchFamily="18" charset="0"/>
              </a:rPr>
              <a:t>1</a:t>
            </a:r>
            <a:r>
              <a:rPr lang="en-US" dirty="0" smtClean="0"/>
              <a:t>  can leave 4 stones when there are </a:t>
            </a:r>
            <a:r>
              <a:rPr lang="en-US" dirty="0" smtClean="0">
                <a:latin typeface="Cambria Math" pitchFamily="18" charset="0"/>
                <a:ea typeface="Cambria Math" pitchFamily="18" charset="0"/>
              </a:rPr>
              <a:t>5</a:t>
            </a:r>
            <a:r>
              <a:rPr lang="en-US" dirty="0" smtClean="0"/>
              <a:t>,</a:t>
            </a:r>
            <a:r>
              <a:rPr lang="en-US" dirty="0" smtClean="0">
                <a:latin typeface="Cambria Math" pitchFamily="18" charset="0"/>
                <a:ea typeface="Cambria Math" pitchFamily="18" charset="0"/>
              </a:rPr>
              <a:t>6</a:t>
            </a:r>
            <a:r>
              <a:rPr lang="en-US" dirty="0" smtClean="0"/>
              <a:t>, or </a:t>
            </a:r>
            <a:r>
              <a:rPr lang="en-US" dirty="0" smtClean="0">
                <a:latin typeface="Cambria Math" pitchFamily="18" charset="0"/>
                <a:ea typeface="Cambria Math" pitchFamily="18" charset="0"/>
              </a:rPr>
              <a:t>7</a:t>
            </a:r>
            <a:r>
              <a:rPr lang="en-US" dirty="0" smtClean="0"/>
              <a:t> stones left at the beginning of his/her turn. </a:t>
            </a:r>
          </a:p>
          <a:p>
            <a:pPr lvl="1">
              <a:buNone/>
            </a:pPr>
            <a:r>
              <a:rPr lang="en-US" b="1" dirty="0" smtClean="0"/>
              <a:t>Step n-</a:t>
            </a:r>
            <a:r>
              <a:rPr lang="en-US" b="1" dirty="0" smtClean="0">
                <a:latin typeface="Cambria Math" pitchFamily="18" charset="0"/>
                <a:ea typeface="Cambria Math" pitchFamily="18" charset="0"/>
              </a:rPr>
              <a:t>3</a:t>
            </a:r>
            <a:r>
              <a:rPr lang="en-US" dirty="0" smtClean="0"/>
              <a:t>: Player</a:t>
            </a:r>
            <a:r>
              <a:rPr lang="en-US" baseline="-25000" dirty="0" smtClean="0">
                <a:latin typeface="Cambria Math" pitchFamily="18" charset="0"/>
                <a:ea typeface="Cambria Math" pitchFamily="18" charset="0"/>
              </a:rPr>
              <a:t>2</a:t>
            </a:r>
            <a:r>
              <a:rPr lang="en-US" dirty="0" smtClean="0"/>
              <a:t>  must leave  such a pile, if there are  8 stones . </a:t>
            </a:r>
          </a:p>
          <a:p>
            <a:pPr lvl="1">
              <a:buNone/>
            </a:pPr>
            <a:r>
              <a:rPr lang="en-US" b="1" dirty="0" smtClean="0"/>
              <a:t>Step n-</a:t>
            </a:r>
            <a:r>
              <a:rPr lang="en-US" b="1" dirty="0" smtClean="0">
                <a:latin typeface="Cambria Math" pitchFamily="18" charset="0"/>
                <a:ea typeface="Cambria Math" pitchFamily="18" charset="0"/>
              </a:rPr>
              <a:t>4</a:t>
            </a:r>
            <a:r>
              <a:rPr lang="en-US" dirty="0" smtClean="0"/>
              <a:t>: Player</a:t>
            </a:r>
            <a:r>
              <a:rPr lang="en-US" baseline="-25000" dirty="0" smtClean="0">
                <a:latin typeface="Cambria Math" pitchFamily="18" charset="0"/>
                <a:ea typeface="Cambria Math" pitchFamily="18" charset="0"/>
              </a:rPr>
              <a:t>1</a:t>
            </a:r>
            <a:r>
              <a:rPr lang="en-US" b="1" baseline="-25000" dirty="0" smtClean="0">
                <a:latin typeface="Cambria Math" pitchFamily="18" charset="0"/>
                <a:ea typeface="Cambria Math" pitchFamily="18" charset="0"/>
              </a:rPr>
              <a:t> </a:t>
            </a:r>
            <a:r>
              <a:rPr lang="en-US" dirty="0" smtClean="0"/>
              <a:t>has to have a pile with </a:t>
            </a:r>
            <a:r>
              <a:rPr lang="en-US" dirty="0" smtClean="0">
                <a:latin typeface="Cambria Math" pitchFamily="18" charset="0"/>
                <a:ea typeface="Cambria Math" pitchFamily="18" charset="0"/>
              </a:rPr>
              <a:t>9,10</a:t>
            </a:r>
            <a:r>
              <a:rPr lang="en-US" dirty="0" smtClean="0"/>
              <a:t>, or </a:t>
            </a:r>
            <a:r>
              <a:rPr lang="en-US" dirty="0" smtClean="0">
                <a:latin typeface="Cambria Math" pitchFamily="18" charset="0"/>
                <a:ea typeface="Cambria Math" pitchFamily="18" charset="0"/>
              </a:rPr>
              <a:t>11</a:t>
            </a:r>
            <a:r>
              <a:rPr lang="en-US" dirty="0" smtClean="0"/>
              <a:t> stones to ensure that there are 8 left. </a:t>
            </a:r>
          </a:p>
          <a:p>
            <a:pPr lvl="1">
              <a:buNone/>
            </a:pPr>
            <a:r>
              <a:rPr lang="en-US" b="1" dirty="0" smtClean="0"/>
              <a:t>Step n-</a:t>
            </a:r>
            <a:r>
              <a:rPr lang="en-US" b="1" dirty="0" smtClean="0">
                <a:latin typeface="Cambria Math" pitchFamily="18" charset="0"/>
                <a:ea typeface="Cambria Math" pitchFamily="18" charset="0"/>
              </a:rPr>
              <a:t>5</a:t>
            </a:r>
            <a:r>
              <a:rPr lang="en-US" dirty="0" smtClean="0"/>
              <a:t>: Player</a:t>
            </a:r>
            <a:r>
              <a:rPr lang="en-US" baseline="-25000" dirty="0" smtClean="0">
                <a:latin typeface="Cambria Math" pitchFamily="18" charset="0"/>
                <a:ea typeface="Cambria Math" pitchFamily="18" charset="0"/>
              </a:rPr>
              <a:t>2</a:t>
            </a:r>
            <a:r>
              <a:rPr lang="en-US" dirty="0" smtClean="0"/>
              <a:t>  needs to be faced with  </a:t>
            </a:r>
            <a:r>
              <a:rPr lang="en-US" dirty="0" smtClean="0">
                <a:latin typeface="Cambria Math" pitchFamily="18" charset="0"/>
                <a:ea typeface="Cambria Math" pitchFamily="18" charset="0"/>
              </a:rPr>
              <a:t>12</a:t>
            </a:r>
            <a:r>
              <a:rPr lang="en-US" dirty="0" smtClean="0"/>
              <a:t> stones to be forced to leave </a:t>
            </a:r>
            <a:r>
              <a:rPr lang="en-US" dirty="0" smtClean="0">
                <a:latin typeface="Cambria Math" pitchFamily="18" charset="0"/>
                <a:ea typeface="Cambria Math" pitchFamily="18" charset="0"/>
              </a:rPr>
              <a:t>9,10,</a:t>
            </a:r>
            <a:r>
              <a:rPr lang="en-US" dirty="0" smtClean="0"/>
              <a:t> or </a:t>
            </a:r>
            <a:r>
              <a:rPr lang="en-US" dirty="0" smtClean="0">
                <a:latin typeface="Cambria Math" pitchFamily="18" charset="0"/>
                <a:ea typeface="Cambria Math" pitchFamily="18" charset="0"/>
              </a:rPr>
              <a:t>11</a:t>
            </a:r>
            <a:r>
              <a:rPr lang="en-US" dirty="0" smtClean="0"/>
              <a:t>. </a:t>
            </a:r>
          </a:p>
          <a:p>
            <a:pPr lvl="1">
              <a:buNone/>
            </a:pPr>
            <a:r>
              <a:rPr lang="en-US" b="1" dirty="0" smtClean="0"/>
              <a:t>Step n-</a:t>
            </a:r>
            <a:r>
              <a:rPr lang="en-US" b="1" dirty="0" smtClean="0">
                <a:latin typeface="Cambria Math" pitchFamily="18" charset="0"/>
                <a:ea typeface="Cambria Math" pitchFamily="18" charset="0"/>
              </a:rPr>
              <a:t>6</a:t>
            </a:r>
            <a:r>
              <a:rPr lang="en-US" dirty="0" smtClean="0"/>
              <a:t>: Player</a:t>
            </a:r>
            <a:r>
              <a:rPr lang="en-US" baseline="-25000" dirty="0" smtClean="0">
                <a:latin typeface="Cambria Math" pitchFamily="18" charset="0"/>
                <a:ea typeface="Cambria Math" pitchFamily="18" charset="0"/>
              </a:rPr>
              <a:t>1</a:t>
            </a:r>
            <a:r>
              <a:rPr lang="en-US" b="1" baseline="-25000" dirty="0" smtClean="0">
                <a:latin typeface="Cambria Math" pitchFamily="18" charset="0"/>
                <a:ea typeface="Cambria Math" pitchFamily="18" charset="0"/>
              </a:rPr>
              <a:t>  </a:t>
            </a:r>
            <a:r>
              <a:rPr lang="en-US" dirty="0" smtClean="0"/>
              <a:t>can leave  </a:t>
            </a:r>
            <a:r>
              <a:rPr lang="en-US" dirty="0" smtClean="0">
                <a:latin typeface="Cambria Math" pitchFamily="18" charset="0"/>
                <a:ea typeface="Cambria Math" pitchFamily="18" charset="0"/>
              </a:rPr>
              <a:t>12</a:t>
            </a:r>
            <a:r>
              <a:rPr lang="en-US" dirty="0" smtClean="0"/>
              <a:t> stones by removing </a:t>
            </a:r>
            <a:r>
              <a:rPr lang="en-US" dirty="0" smtClean="0">
                <a:latin typeface="Cambria Math" pitchFamily="18" charset="0"/>
                <a:ea typeface="Cambria Math" pitchFamily="18" charset="0"/>
              </a:rPr>
              <a:t>3</a:t>
            </a:r>
            <a:r>
              <a:rPr lang="en-US" dirty="0" smtClean="0"/>
              <a:t> stones. </a:t>
            </a:r>
          </a:p>
          <a:p>
            <a:pPr>
              <a:buNone/>
            </a:pPr>
            <a:r>
              <a:rPr lang="en-US" dirty="0" smtClean="0"/>
              <a:t>    Now reasoning forward, the first player can ensure a win by removing </a:t>
            </a:r>
            <a:r>
              <a:rPr lang="en-US" dirty="0" smtClean="0">
                <a:latin typeface="Cambria Math" pitchFamily="18" charset="0"/>
                <a:ea typeface="Cambria Math" pitchFamily="18" charset="0"/>
              </a:rPr>
              <a:t>3</a:t>
            </a:r>
            <a:r>
              <a:rPr lang="en-US" dirty="0" smtClean="0"/>
              <a:t> stones and leaving </a:t>
            </a:r>
            <a:r>
              <a:rPr lang="en-US" dirty="0" smtClean="0">
                <a:latin typeface="Cambria Math" pitchFamily="18" charset="0"/>
                <a:ea typeface="Cambria Math" pitchFamily="18" charset="0"/>
              </a:rPr>
              <a:t>12</a:t>
            </a:r>
            <a:r>
              <a:rPr lang="en-US" dirty="0" smtClean="0"/>
              <a:t>.</a:t>
            </a:r>
            <a:endParaRPr lang="en-US" dirty="0"/>
          </a:p>
        </p:txBody>
      </p:sp>
    </p:spTree>
    <p:extLst>
      <p:ext uri="{BB962C8B-B14F-4D97-AF65-F5344CB8AC3E}">
        <p14:creationId xmlns:p14="http://schemas.microsoft.com/office/powerpoint/2010/main" val="13740526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Universally Quantified Assertions</a:t>
            </a:r>
            <a:endParaRPr lang="en-US" dirty="0"/>
          </a:p>
        </p:txBody>
      </p:sp>
      <p:sp>
        <p:nvSpPr>
          <p:cNvPr id="3" name="Content Placeholder 2"/>
          <p:cNvSpPr>
            <a:spLocks noGrp="1"/>
          </p:cNvSpPr>
          <p:nvPr>
            <p:ph idx="1"/>
          </p:nvPr>
        </p:nvSpPr>
        <p:spPr/>
        <p:txBody>
          <a:bodyPr>
            <a:normAutofit lnSpcReduction="10000"/>
          </a:bodyPr>
          <a:lstStyle/>
          <a:p>
            <a:r>
              <a:rPr lang="en-US" dirty="0" smtClean="0"/>
              <a:t>To prove theorems of the form               ,assume </a:t>
            </a:r>
            <a:r>
              <a:rPr lang="en-US" i="1" dirty="0" smtClean="0"/>
              <a:t>x</a:t>
            </a:r>
            <a:r>
              <a:rPr lang="en-US" dirty="0" smtClean="0"/>
              <a:t> is an arbitrary member of the domain and show that </a:t>
            </a:r>
            <a:r>
              <a:rPr lang="en-US" i="1" dirty="0" smtClean="0"/>
              <a:t>P</a:t>
            </a:r>
            <a:r>
              <a:rPr lang="en-US" dirty="0" smtClean="0"/>
              <a:t>(</a:t>
            </a:r>
            <a:r>
              <a:rPr lang="en-US" i="1" dirty="0" smtClean="0"/>
              <a:t>x</a:t>
            </a:r>
            <a:r>
              <a:rPr lang="en-US" dirty="0" smtClean="0"/>
              <a:t>) must be true. Using UG it follows that               .</a:t>
            </a:r>
          </a:p>
          <a:p>
            <a:pPr>
              <a:buNone/>
            </a:pPr>
            <a:r>
              <a:rPr lang="en-US" dirty="0" smtClean="0"/>
              <a:t>    </a:t>
            </a:r>
            <a:r>
              <a:rPr lang="en-US" b="1" dirty="0" smtClean="0"/>
              <a:t>Example</a:t>
            </a:r>
            <a:r>
              <a:rPr lang="en-US" dirty="0" smtClean="0"/>
              <a:t>: An integer</a:t>
            </a:r>
            <a:r>
              <a:rPr lang="en-US" i="1" dirty="0" smtClean="0"/>
              <a:t> x </a:t>
            </a:r>
            <a:r>
              <a:rPr lang="en-US" dirty="0" smtClean="0"/>
              <a:t>is even if and only if </a:t>
            </a:r>
            <a:r>
              <a:rPr lang="en-US" i="1" dirty="0" smtClean="0"/>
              <a:t>x</a:t>
            </a:r>
            <a:r>
              <a:rPr lang="en-US" i="1" baseline="30000" dirty="0" smtClean="0"/>
              <a:t>2 </a:t>
            </a:r>
            <a:r>
              <a:rPr lang="en-US" dirty="0" smtClean="0"/>
              <a:t>is even</a:t>
            </a:r>
            <a:r>
              <a:rPr lang="en-US" i="1" dirty="0" smtClean="0"/>
              <a:t>. </a:t>
            </a:r>
          </a:p>
          <a:p>
            <a:pPr>
              <a:buNone/>
            </a:pPr>
            <a:r>
              <a:rPr lang="en-US" b="1" dirty="0" smtClean="0"/>
              <a:t>    Solution</a:t>
            </a:r>
            <a:r>
              <a:rPr lang="en-US" dirty="0" smtClean="0"/>
              <a:t>: The quantified assertion is </a:t>
            </a:r>
          </a:p>
          <a:p>
            <a:pPr>
              <a:buNone/>
            </a:pPr>
            <a:r>
              <a:rPr lang="en-US" dirty="0" smtClean="0"/>
              <a:t>        </a:t>
            </a:r>
            <a:r>
              <a:rPr lang="en-US" dirty="0" smtClean="0">
                <a:sym typeface="Symbol"/>
              </a:rPr>
              <a:t></a:t>
            </a:r>
            <a:r>
              <a:rPr lang="en-US" i="1" dirty="0" smtClean="0">
                <a:sym typeface="Symbol"/>
              </a:rPr>
              <a:t>x</a:t>
            </a:r>
            <a:r>
              <a:rPr lang="en-US" dirty="0" smtClean="0">
                <a:sym typeface="Symbol"/>
              </a:rPr>
              <a:t> [</a:t>
            </a:r>
            <a:r>
              <a:rPr lang="en-US" i="1" dirty="0" smtClean="0">
                <a:sym typeface="Symbol"/>
              </a:rPr>
              <a:t>x</a:t>
            </a:r>
            <a:r>
              <a:rPr lang="en-US" dirty="0" smtClean="0">
                <a:sym typeface="Symbol"/>
              </a:rPr>
              <a:t> is even </a:t>
            </a:r>
            <a:r>
              <a:rPr lang="en-US" dirty="0" smtClean="0">
                <a:sym typeface="Wingdings" pitchFamily="2" charset="2"/>
              </a:rPr>
              <a:t> </a:t>
            </a:r>
            <a:r>
              <a:rPr lang="en-US" i="1" dirty="0" smtClean="0"/>
              <a:t>x</a:t>
            </a:r>
            <a:r>
              <a:rPr lang="en-US" i="1" baseline="30000" dirty="0" smtClean="0"/>
              <a:t>2  </a:t>
            </a:r>
            <a:r>
              <a:rPr lang="en-US" dirty="0" smtClean="0"/>
              <a:t>is even]</a:t>
            </a:r>
          </a:p>
          <a:p>
            <a:pPr>
              <a:buNone/>
            </a:pPr>
            <a:r>
              <a:rPr lang="en-US" dirty="0" smtClean="0"/>
              <a:t>    We assume </a:t>
            </a:r>
            <a:r>
              <a:rPr lang="en-US" i="1" dirty="0" smtClean="0"/>
              <a:t>x</a:t>
            </a:r>
            <a:r>
              <a:rPr lang="en-US" dirty="0" smtClean="0"/>
              <a:t> is arbitrary.</a:t>
            </a:r>
          </a:p>
          <a:p>
            <a:pPr>
              <a:buNone/>
            </a:pPr>
            <a:r>
              <a:rPr lang="en-US" dirty="0" smtClean="0"/>
              <a:t>    Recall that                  is equivalent to</a:t>
            </a:r>
          </a:p>
          <a:p>
            <a:pPr>
              <a:buNone/>
            </a:pPr>
            <a:r>
              <a:rPr lang="en-US" dirty="0" smtClean="0"/>
              <a:t>    So, we have  two cases to consider. These are considered in turn.</a:t>
            </a:r>
          </a:p>
          <a:p>
            <a:pPr>
              <a:buNone/>
            </a:pPr>
            <a:endParaRPr lang="en-US" dirty="0"/>
          </a:p>
        </p:txBody>
      </p:sp>
      <p:pic>
        <p:nvPicPr>
          <p:cNvPr id="6" name="Picture 5" descr="addin_tmp.png"/>
          <p:cNvPicPr>
            <a:picLocks noChangeAspect="1"/>
          </p:cNvPicPr>
          <p:nvPr>
            <p:custDataLst>
              <p:tags r:id="rId1"/>
            </p:custDataLst>
          </p:nvPr>
        </p:nvPicPr>
        <p:blipFill>
          <a:blip r:embed="rId6" cstate="print"/>
          <a:stretch>
            <a:fillRect/>
          </a:stretch>
        </p:blipFill>
        <p:spPr>
          <a:xfrm>
            <a:off x="5334000" y="1981200"/>
            <a:ext cx="1002506" cy="319088"/>
          </a:xfrm>
          <a:prstGeom prst="rect">
            <a:avLst/>
          </a:prstGeom>
        </p:spPr>
      </p:pic>
      <p:pic>
        <p:nvPicPr>
          <p:cNvPr id="7" name="Picture 6" descr="addin_tmp.png"/>
          <p:cNvPicPr>
            <a:picLocks noChangeAspect="1"/>
          </p:cNvPicPr>
          <p:nvPr>
            <p:custDataLst>
              <p:tags r:id="rId2"/>
            </p:custDataLst>
          </p:nvPr>
        </p:nvPicPr>
        <p:blipFill>
          <a:blip r:embed="rId6" cstate="print"/>
          <a:stretch>
            <a:fillRect/>
          </a:stretch>
        </p:blipFill>
        <p:spPr>
          <a:xfrm>
            <a:off x="6324600" y="2743200"/>
            <a:ext cx="1002506" cy="319088"/>
          </a:xfrm>
          <a:prstGeom prst="rect">
            <a:avLst/>
          </a:prstGeom>
        </p:spPr>
      </p:pic>
      <p:pic>
        <p:nvPicPr>
          <p:cNvPr id="11" name="Picture 10" descr="addin_tmp.png"/>
          <p:cNvPicPr>
            <a:picLocks noChangeAspect="1"/>
          </p:cNvPicPr>
          <p:nvPr>
            <p:custDataLst>
              <p:tags r:id="rId3"/>
            </p:custDataLst>
          </p:nvPr>
        </p:nvPicPr>
        <p:blipFill>
          <a:blip r:embed="rId7" cstate="print"/>
          <a:stretch>
            <a:fillRect/>
          </a:stretch>
        </p:blipFill>
        <p:spPr>
          <a:xfrm>
            <a:off x="2667000" y="4953000"/>
            <a:ext cx="807244" cy="223838"/>
          </a:xfrm>
          <a:prstGeom prst="rect">
            <a:avLst/>
          </a:prstGeom>
        </p:spPr>
      </p:pic>
      <p:pic>
        <p:nvPicPr>
          <p:cNvPr id="10" name="Picture 9" descr="addin_tmp.png"/>
          <p:cNvPicPr>
            <a:picLocks noChangeAspect="1"/>
          </p:cNvPicPr>
          <p:nvPr>
            <p:custDataLst>
              <p:tags r:id="rId4"/>
            </p:custDataLst>
          </p:nvPr>
        </p:nvPicPr>
        <p:blipFill>
          <a:blip r:embed="rId8" cstate="print"/>
          <a:stretch>
            <a:fillRect/>
          </a:stretch>
        </p:blipFill>
        <p:spPr>
          <a:xfrm>
            <a:off x="6096000" y="4876800"/>
            <a:ext cx="2390775" cy="319088"/>
          </a:xfrm>
          <a:prstGeom prst="rect">
            <a:avLst/>
          </a:prstGeom>
        </p:spPr>
      </p:pic>
      <p:sp>
        <p:nvSpPr>
          <p:cNvPr id="8" name="TextBox 7"/>
          <p:cNvSpPr txBox="1"/>
          <p:nvPr/>
        </p:nvSpPr>
        <p:spPr>
          <a:xfrm>
            <a:off x="2514600" y="61722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extLst>
      <p:ext uri="{BB962C8B-B14F-4D97-AF65-F5344CB8AC3E}">
        <p14:creationId xmlns:p14="http://schemas.microsoft.com/office/powerpoint/2010/main" val="35599093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Universally Quantified Assertions</a:t>
            </a:r>
            <a:endParaRPr lang="en-US" dirty="0"/>
          </a:p>
        </p:txBody>
      </p:sp>
      <p:sp>
        <p:nvSpPr>
          <p:cNvPr id="3" name="Content Placeholder 2"/>
          <p:cNvSpPr>
            <a:spLocks noGrp="1"/>
          </p:cNvSpPr>
          <p:nvPr>
            <p:ph idx="1"/>
          </p:nvPr>
        </p:nvSpPr>
        <p:spPr/>
        <p:txBody>
          <a:bodyPr/>
          <a:lstStyle/>
          <a:p>
            <a:pPr>
              <a:buNone/>
            </a:pPr>
            <a:r>
              <a:rPr lang="en-US" b="1" dirty="0" smtClean="0"/>
              <a:t>   Case </a:t>
            </a:r>
            <a:r>
              <a:rPr lang="en-US" b="1" dirty="0" smtClean="0">
                <a:latin typeface="Cambria Math" pitchFamily="18" charset="0"/>
                <a:ea typeface="Cambria Math" pitchFamily="18" charset="0"/>
              </a:rPr>
              <a:t>1</a:t>
            </a:r>
            <a:r>
              <a:rPr lang="en-US" b="1" dirty="0" smtClean="0"/>
              <a:t>. </a:t>
            </a:r>
            <a:r>
              <a:rPr lang="en-US" dirty="0" smtClean="0"/>
              <a:t>We show that if </a:t>
            </a:r>
            <a:r>
              <a:rPr lang="en-US" i="1" dirty="0" smtClean="0"/>
              <a:t>x</a:t>
            </a:r>
            <a:r>
              <a:rPr lang="en-US" dirty="0" smtClean="0"/>
              <a:t> is even then </a:t>
            </a:r>
            <a:r>
              <a:rPr lang="en-US" i="1" dirty="0" smtClean="0"/>
              <a:t>x</a:t>
            </a:r>
            <a:r>
              <a:rPr lang="en-US" i="1" baseline="30000" dirty="0" smtClean="0"/>
              <a:t>2  </a:t>
            </a:r>
            <a:r>
              <a:rPr lang="en-US" i="1" dirty="0" smtClean="0"/>
              <a:t>is </a:t>
            </a:r>
            <a:r>
              <a:rPr lang="en-US" dirty="0" smtClean="0"/>
              <a:t>even using a direct proof (the </a:t>
            </a:r>
            <a:r>
              <a:rPr lang="en-US" i="1" dirty="0" smtClean="0"/>
              <a:t>only if </a:t>
            </a:r>
            <a:r>
              <a:rPr lang="en-US" dirty="0" smtClean="0"/>
              <a:t>part or </a:t>
            </a:r>
            <a:r>
              <a:rPr lang="en-US" i="1" dirty="0" smtClean="0"/>
              <a:t>necessity</a:t>
            </a:r>
            <a:r>
              <a:rPr lang="en-US" dirty="0" smtClean="0"/>
              <a:t>).</a:t>
            </a:r>
          </a:p>
          <a:p>
            <a:pPr>
              <a:buNone/>
            </a:pPr>
            <a:r>
              <a:rPr lang="en-US" dirty="0" smtClean="0"/>
              <a:t>   If </a:t>
            </a:r>
            <a:r>
              <a:rPr lang="en-US" i="1" dirty="0" smtClean="0"/>
              <a:t>x</a:t>
            </a:r>
            <a:r>
              <a:rPr lang="en-US" dirty="0" smtClean="0"/>
              <a:t> is even then </a:t>
            </a:r>
            <a:r>
              <a:rPr lang="en-US" i="1" dirty="0" smtClean="0"/>
              <a:t>x = 2k </a:t>
            </a:r>
            <a:r>
              <a:rPr lang="en-US" dirty="0" smtClean="0"/>
              <a:t>for some integer </a:t>
            </a:r>
            <a:r>
              <a:rPr lang="en-US" i="1" dirty="0" smtClean="0"/>
              <a:t>k</a:t>
            </a:r>
            <a:r>
              <a:rPr lang="en-US" dirty="0" smtClean="0"/>
              <a:t>.</a:t>
            </a:r>
          </a:p>
          <a:p>
            <a:pPr>
              <a:buNone/>
            </a:pPr>
            <a:r>
              <a:rPr lang="en-US" dirty="0" smtClean="0"/>
              <a:t>   Hence </a:t>
            </a:r>
            <a:r>
              <a:rPr lang="en-US" i="1" dirty="0" smtClean="0"/>
              <a:t>x</a:t>
            </a:r>
            <a:r>
              <a:rPr lang="en-US" i="1" baseline="30000" dirty="0" smtClean="0">
                <a:latin typeface="Cambria Math" pitchFamily="18" charset="0"/>
                <a:ea typeface="Cambria Math" pitchFamily="18" charset="0"/>
              </a:rPr>
              <a:t>2</a:t>
            </a:r>
            <a:r>
              <a:rPr lang="en-US" i="1" baseline="30000" dirty="0" smtClean="0"/>
              <a:t> </a:t>
            </a:r>
            <a:r>
              <a:rPr lang="en-US" i="1" dirty="0" smtClean="0"/>
              <a:t>=</a:t>
            </a:r>
            <a:r>
              <a:rPr lang="en-US" i="1" baseline="30000" dirty="0" smtClean="0"/>
              <a:t> </a:t>
            </a:r>
            <a:r>
              <a:rPr lang="en-US" i="1" dirty="0" smtClean="0"/>
              <a:t> </a:t>
            </a:r>
            <a:r>
              <a:rPr lang="en-US" i="1" dirty="0" smtClean="0">
                <a:latin typeface="Cambria Math" pitchFamily="18" charset="0"/>
                <a:ea typeface="Cambria Math" pitchFamily="18" charset="0"/>
              </a:rPr>
              <a:t>4</a:t>
            </a:r>
            <a:r>
              <a:rPr lang="en-US" i="1" dirty="0" smtClean="0"/>
              <a:t>k</a:t>
            </a:r>
            <a:r>
              <a:rPr lang="en-US" i="1" baseline="30000" dirty="0" smtClean="0">
                <a:latin typeface="Cambria Math" pitchFamily="18" charset="0"/>
                <a:ea typeface="Cambria Math" pitchFamily="18" charset="0"/>
              </a:rPr>
              <a:t>2</a:t>
            </a:r>
            <a:r>
              <a:rPr lang="en-US" i="1" dirty="0" smtClean="0"/>
              <a:t> = </a:t>
            </a:r>
            <a:r>
              <a:rPr lang="en-US" i="1" dirty="0" smtClean="0">
                <a:latin typeface="Cambria Math" pitchFamily="18" charset="0"/>
                <a:ea typeface="Cambria Math" pitchFamily="18" charset="0"/>
              </a:rPr>
              <a:t>2</a:t>
            </a:r>
            <a:r>
              <a:rPr lang="en-US" i="1" dirty="0" smtClean="0"/>
              <a:t>(</a:t>
            </a:r>
            <a:r>
              <a:rPr lang="en-US" i="1" dirty="0" smtClean="0">
                <a:latin typeface="Cambria Math" pitchFamily="18" charset="0"/>
                <a:ea typeface="Cambria Math" pitchFamily="18" charset="0"/>
              </a:rPr>
              <a:t>2</a:t>
            </a:r>
            <a:r>
              <a:rPr lang="en-US" i="1" dirty="0" smtClean="0"/>
              <a:t>k</a:t>
            </a:r>
            <a:r>
              <a:rPr lang="en-US" i="1" baseline="30000" dirty="0" smtClean="0">
                <a:latin typeface="Cambria Math" pitchFamily="18" charset="0"/>
                <a:ea typeface="Cambria Math" pitchFamily="18" charset="0"/>
              </a:rPr>
              <a:t>2</a:t>
            </a:r>
            <a:r>
              <a:rPr lang="en-US" i="1" dirty="0" smtClean="0"/>
              <a:t> </a:t>
            </a:r>
            <a:r>
              <a:rPr lang="en-US" dirty="0" smtClean="0"/>
              <a:t>) which is even since it is an integer divisible by </a:t>
            </a:r>
            <a:r>
              <a:rPr lang="en-US" dirty="0" smtClean="0">
                <a:latin typeface="Cambria Math" pitchFamily="18" charset="0"/>
                <a:ea typeface="Cambria Math" pitchFamily="18" charset="0"/>
              </a:rPr>
              <a:t>2</a:t>
            </a:r>
            <a:r>
              <a:rPr lang="en-US" dirty="0" smtClean="0"/>
              <a:t>.</a:t>
            </a:r>
          </a:p>
          <a:p>
            <a:pPr>
              <a:buNone/>
            </a:pPr>
            <a:r>
              <a:rPr lang="en-US" dirty="0" smtClean="0"/>
              <a:t>  This completes the proof of case </a:t>
            </a:r>
            <a:r>
              <a:rPr lang="en-US" dirty="0" smtClean="0">
                <a:latin typeface="Cambria Math" pitchFamily="18" charset="0"/>
                <a:ea typeface="Cambria Math" pitchFamily="18" charset="0"/>
              </a:rPr>
              <a:t>1</a:t>
            </a:r>
            <a:r>
              <a:rPr lang="en-US" dirty="0" smtClean="0"/>
              <a:t>.</a:t>
            </a:r>
          </a:p>
        </p:txBody>
      </p:sp>
      <p:sp>
        <p:nvSpPr>
          <p:cNvPr id="4" name="TextBox 3"/>
          <p:cNvSpPr txBox="1"/>
          <p:nvPr/>
        </p:nvSpPr>
        <p:spPr>
          <a:xfrm>
            <a:off x="1905000" y="6019800"/>
            <a:ext cx="3276600" cy="369332"/>
          </a:xfrm>
          <a:prstGeom prst="rect">
            <a:avLst/>
          </a:prstGeom>
          <a:noFill/>
        </p:spPr>
        <p:txBody>
          <a:bodyPr wrap="square" rtlCol="0">
            <a:spAutoFit/>
          </a:bodyPr>
          <a:lstStyle/>
          <a:p>
            <a:r>
              <a:rPr lang="en-US" i="1" dirty="0" smtClean="0"/>
              <a:t>Case </a:t>
            </a:r>
            <a:r>
              <a:rPr lang="en-US" dirty="0" smtClean="0">
                <a:latin typeface="Cambria Math" pitchFamily="18" charset="0"/>
                <a:ea typeface="Cambria Math" pitchFamily="18" charset="0"/>
              </a:rPr>
              <a:t>2</a:t>
            </a:r>
            <a:r>
              <a:rPr lang="en-US" i="1" dirty="0" smtClean="0"/>
              <a:t> on next slide</a:t>
            </a:r>
            <a:r>
              <a:rPr lang="en-US" dirty="0" smtClean="0"/>
              <a:t> </a:t>
            </a:r>
            <a:r>
              <a:rPr lang="en-US" dirty="0" smtClean="0">
                <a:sym typeface="Wingdings" pitchFamily="2" charset="2"/>
              </a:rPr>
              <a:t></a:t>
            </a:r>
            <a:endParaRPr lang="en-US" dirty="0"/>
          </a:p>
        </p:txBody>
      </p:sp>
    </p:spTree>
    <p:extLst>
      <p:ext uri="{BB962C8B-B14F-4D97-AF65-F5344CB8AC3E}">
        <p14:creationId xmlns:p14="http://schemas.microsoft.com/office/powerpoint/2010/main" val="15577436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Universally Quantified Assertions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Case </a:t>
            </a:r>
            <a:r>
              <a:rPr lang="en-US" b="1" dirty="0" smtClean="0">
                <a:latin typeface="Cambria Math" pitchFamily="18" charset="0"/>
                <a:ea typeface="Cambria Math" pitchFamily="18" charset="0"/>
              </a:rPr>
              <a:t>2</a:t>
            </a:r>
            <a:r>
              <a:rPr lang="en-US" b="1" dirty="0" smtClean="0"/>
              <a:t>. </a:t>
            </a:r>
            <a:r>
              <a:rPr lang="en-US" dirty="0" smtClean="0"/>
              <a:t>We show that if </a:t>
            </a:r>
            <a:r>
              <a:rPr lang="en-US" i="1" dirty="0" smtClean="0">
                <a:ea typeface="Cambria Math" pitchFamily="18" charset="0"/>
              </a:rPr>
              <a:t>x</a:t>
            </a:r>
            <a:r>
              <a:rPr lang="en-US" i="1" baseline="30000" dirty="0" smtClean="0">
                <a:latin typeface="Cambria Math" pitchFamily="18" charset="0"/>
                <a:ea typeface="Cambria Math" pitchFamily="18" charset="0"/>
              </a:rPr>
              <a:t>2 </a:t>
            </a:r>
            <a:r>
              <a:rPr lang="en-US" dirty="0" smtClean="0"/>
              <a:t>is even then </a:t>
            </a:r>
            <a:r>
              <a:rPr lang="en-US" i="1" dirty="0" smtClean="0">
                <a:ea typeface="Cambria Math" pitchFamily="18" charset="0"/>
              </a:rPr>
              <a:t>x</a:t>
            </a:r>
            <a:r>
              <a:rPr lang="en-US" i="1" baseline="30000" dirty="0" smtClean="0">
                <a:ea typeface="Cambria Math" pitchFamily="18" charset="0"/>
              </a:rPr>
              <a:t> </a:t>
            </a:r>
            <a:r>
              <a:rPr lang="en-US" i="1" baseline="30000" dirty="0" smtClean="0"/>
              <a:t> </a:t>
            </a:r>
            <a:r>
              <a:rPr lang="en-US" dirty="0" smtClean="0"/>
              <a:t>must be  even (the </a:t>
            </a:r>
            <a:r>
              <a:rPr lang="en-US" i="1" dirty="0" smtClean="0"/>
              <a:t>if </a:t>
            </a:r>
            <a:r>
              <a:rPr lang="en-US" dirty="0" smtClean="0"/>
              <a:t>part or </a:t>
            </a:r>
            <a:r>
              <a:rPr lang="en-US" i="1" dirty="0" smtClean="0"/>
              <a:t>sufficiency</a:t>
            </a:r>
            <a:r>
              <a:rPr lang="en-US" dirty="0" smtClean="0"/>
              <a:t>). We use a proof by contraposition.</a:t>
            </a:r>
          </a:p>
          <a:p>
            <a:pPr>
              <a:buNone/>
            </a:pPr>
            <a:r>
              <a:rPr lang="en-US" dirty="0" smtClean="0"/>
              <a:t>   Assume </a:t>
            </a:r>
            <a:r>
              <a:rPr lang="en-US" i="1" dirty="0" smtClean="0"/>
              <a:t>x</a:t>
            </a:r>
            <a:r>
              <a:rPr lang="en-US" dirty="0" smtClean="0"/>
              <a:t> is  not even  and then show that </a:t>
            </a:r>
            <a:r>
              <a:rPr lang="en-US" i="1" dirty="0" smtClean="0"/>
              <a:t>x</a:t>
            </a:r>
            <a:r>
              <a:rPr lang="en-US" baseline="30000" dirty="0" smtClean="0"/>
              <a:t>2</a:t>
            </a:r>
            <a:r>
              <a:rPr lang="en-US" i="1" baseline="30000" dirty="0" smtClean="0"/>
              <a:t> </a:t>
            </a:r>
            <a:r>
              <a:rPr lang="en-US" i="1" dirty="0" smtClean="0"/>
              <a:t> </a:t>
            </a:r>
            <a:r>
              <a:rPr lang="en-US" dirty="0" smtClean="0"/>
              <a:t>is not even. </a:t>
            </a:r>
          </a:p>
          <a:p>
            <a:pPr>
              <a:buNone/>
            </a:pPr>
            <a:r>
              <a:rPr lang="en-US" dirty="0" smtClean="0"/>
              <a:t>   If </a:t>
            </a:r>
            <a:r>
              <a:rPr lang="en-US" i="1" dirty="0" smtClean="0"/>
              <a:t>x</a:t>
            </a:r>
            <a:r>
              <a:rPr lang="en-US" dirty="0" smtClean="0"/>
              <a:t> is not even then it must be odd. So, </a:t>
            </a:r>
            <a:r>
              <a:rPr lang="en-US" i="1" dirty="0" smtClean="0">
                <a:ea typeface="Cambria Math" pitchFamily="18" charset="0"/>
              </a:rPr>
              <a:t>x</a:t>
            </a:r>
            <a:r>
              <a:rPr lang="en-US" dirty="0" smtClean="0">
                <a:latin typeface="Cambria Math" pitchFamily="18" charset="0"/>
                <a:ea typeface="Cambria Math" pitchFamily="18" charset="0"/>
              </a:rPr>
              <a:t> = 2</a:t>
            </a:r>
            <a:r>
              <a:rPr lang="en-US" i="1" dirty="0" smtClean="0">
                <a:latin typeface="Cambria Math" pitchFamily="18" charset="0"/>
                <a:ea typeface="Cambria Math" pitchFamily="18" charset="0"/>
              </a:rPr>
              <a:t>k</a:t>
            </a:r>
            <a:r>
              <a:rPr lang="en-US" dirty="0" smtClean="0">
                <a:latin typeface="Cambria Math" pitchFamily="18" charset="0"/>
                <a:ea typeface="Cambria Math" pitchFamily="18" charset="0"/>
              </a:rPr>
              <a:t> + 1 </a:t>
            </a:r>
            <a:r>
              <a:rPr lang="en-US" dirty="0" smtClean="0"/>
              <a:t>for some </a:t>
            </a:r>
            <a:r>
              <a:rPr lang="en-US" i="1" dirty="0" smtClean="0"/>
              <a:t>k</a:t>
            </a:r>
            <a:r>
              <a:rPr lang="en-US" dirty="0" smtClean="0"/>
              <a:t>. Then  </a:t>
            </a:r>
            <a:r>
              <a:rPr lang="en-US" i="1" dirty="0" smtClean="0">
                <a:ea typeface="Cambria Math" pitchFamily="18" charset="0"/>
              </a:rPr>
              <a:t>x</a:t>
            </a:r>
            <a:r>
              <a:rPr lang="en-US" i="1" baseline="30000" dirty="0" smtClean="0">
                <a:latin typeface="Cambria Math" pitchFamily="18" charset="0"/>
                <a:ea typeface="Cambria Math" pitchFamily="18" charset="0"/>
              </a:rPr>
              <a:t>2 </a:t>
            </a:r>
            <a:r>
              <a:rPr lang="en-US" i="1" dirty="0" smtClean="0">
                <a:latin typeface="Cambria Math" pitchFamily="18" charset="0"/>
                <a:ea typeface="Cambria Math" pitchFamily="18" charset="0"/>
              </a:rPr>
              <a:t>=</a:t>
            </a:r>
            <a:r>
              <a:rPr lang="en-US" i="1" baseline="30000" dirty="0" smtClean="0">
                <a:latin typeface="Cambria Math" pitchFamily="18" charset="0"/>
                <a:ea typeface="Cambria Math" pitchFamily="18" charset="0"/>
              </a:rPr>
              <a:t> </a:t>
            </a:r>
            <a:r>
              <a:rPr lang="en-US" i="1" dirty="0" smtClean="0">
                <a:latin typeface="Cambria Math" pitchFamily="18" charset="0"/>
                <a:ea typeface="Cambria Math" pitchFamily="18" charset="0"/>
              </a:rPr>
              <a:t>  (2k </a:t>
            </a:r>
            <a:r>
              <a:rPr lang="en-US" dirty="0" smtClean="0">
                <a:latin typeface="Cambria Math" pitchFamily="18" charset="0"/>
                <a:ea typeface="Cambria Math" pitchFamily="18" charset="0"/>
              </a:rPr>
              <a:t>+ 1)</a:t>
            </a:r>
            <a:r>
              <a:rPr lang="en-US" baseline="30000" dirty="0" smtClean="0">
                <a:latin typeface="Cambria Math" pitchFamily="18" charset="0"/>
                <a:ea typeface="Cambria Math" pitchFamily="18" charset="0"/>
              </a:rPr>
              <a:t>2</a:t>
            </a: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 4k</a:t>
            </a:r>
            <a:r>
              <a:rPr lang="en-US" i="1" baseline="30000" dirty="0" smtClean="0">
                <a:latin typeface="Cambria Math" pitchFamily="18" charset="0"/>
                <a:ea typeface="Cambria Math" pitchFamily="18" charset="0"/>
              </a:rPr>
              <a:t>2</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+ 4</a:t>
            </a:r>
            <a:r>
              <a:rPr lang="en-US" i="1" dirty="0" smtClean="0">
                <a:latin typeface="Cambria Math" pitchFamily="18" charset="0"/>
                <a:ea typeface="Cambria Math" pitchFamily="18" charset="0"/>
              </a:rPr>
              <a:t>k</a:t>
            </a:r>
            <a:r>
              <a:rPr lang="en-US" dirty="0" smtClean="0">
                <a:latin typeface="Cambria Math" pitchFamily="18" charset="0"/>
                <a:ea typeface="Cambria Math" pitchFamily="18" charset="0"/>
              </a:rPr>
              <a:t> + 1 =  2(2</a:t>
            </a:r>
            <a:r>
              <a:rPr lang="en-US" i="1" dirty="0" smtClean="0">
                <a:latin typeface="Cambria Math" pitchFamily="18" charset="0"/>
                <a:ea typeface="Cambria Math" pitchFamily="18" charset="0"/>
              </a:rPr>
              <a:t>k</a:t>
            </a:r>
            <a:r>
              <a:rPr lang="en-US" baseline="30000" dirty="0" smtClean="0">
                <a:latin typeface="Cambria Math" pitchFamily="18" charset="0"/>
                <a:ea typeface="Cambria Math" pitchFamily="18" charset="0"/>
              </a:rPr>
              <a:t>2</a:t>
            </a:r>
            <a:r>
              <a:rPr lang="en-US" dirty="0" smtClean="0">
                <a:latin typeface="Cambria Math" pitchFamily="18" charset="0"/>
                <a:ea typeface="Cambria Math" pitchFamily="18" charset="0"/>
              </a:rPr>
              <a:t> + 2k) + 1</a:t>
            </a:r>
          </a:p>
          <a:p>
            <a:pPr>
              <a:buNone/>
            </a:pPr>
            <a:r>
              <a:rPr lang="en-US" dirty="0" smtClean="0"/>
              <a:t>    which is odd and hence not even. This completes the proof of case </a:t>
            </a:r>
            <a:r>
              <a:rPr lang="en-US" dirty="0" smtClean="0">
                <a:latin typeface="Cambria Math" pitchFamily="18" charset="0"/>
                <a:ea typeface="Cambria Math" pitchFamily="18" charset="0"/>
              </a:rPr>
              <a:t>2</a:t>
            </a:r>
            <a:r>
              <a:rPr lang="en-US" dirty="0" smtClean="0"/>
              <a:t>.</a:t>
            </a:r>
          </a:p>
          <a:p>
            <a:pPr>
              <a:buNone/>
            </a:pPr>
            <a:r>
              <a:rPr lang="en-US" dirty="0" smtClean="0"/>
              <a:t>   Since </a:t>
            </a:r>
            <a:r>
              <a:rPr lang="en-US" i="1" dirty="0" smtClean="0"/>
              <a:t>x</a:t>
            </a:r>
            <a:r>
              <a:rPr lang="en-US" dirty="0" smtClean="0"/>
              <a:t> was arbitrary, the result follows by UG.</a:t>
            </a:r>
          </a:p>
          <a:p>
            <a:pPr>
              <a:buNone/>
            </a:pPr>
            <a:r>
              <a:rPr lang="en-US" dirty="0" smtClean="0"/>
              <a:t>   Therefore we have shown that </a:t>
            </a:r>
            <a:r>
              <a:rPr lang="en-US" i="1" dirty="0" smtClean="0"/>
              <a:t>x</a:t>
            </a:r>
            <a:r>
              <a:rPr lang="en-US" dirty="0" smtClean="0"/>
              <a:t> is even if and only if  </a:t>
            </a:r>
            <a:r>
              <a:rPr lang="en-US" i="1" dirty="0" smtClean="0"/>
              <a:t>x</a:t>
            </a:r>
            <a:r>
              <a:rPr lang="en-US" baseline="30000" dirty="0" smtClean="0">
                <a:latin typeface="Cambria Math" pitchFamily="18" charset="0"/>
                <a:ea typeface="Cambria Math" pitchFamily="18" charset="0"/>
              </a:rPr>
              <a:t>2</a:t>
            </a:r>
            <a:r>
              <a:rPr lang="en-US" baseline="30000" dirty="0" smtClean="0"/>
              <a:t> </a:t>
            </a:r>
            <a:r>
              <a:rPr lang="en-US" dirty="0" smtClean="0"/>
              <a:t>is even</a:t>
            </a:r>
            <a:r>
              <a:rPr lang="en-US" i="1" dirty="0" smtClean="0"/>
              <a:t>. </a:t>
            </a:r>
          </a:p>
          <a:p>
            <a:pPr>
              <a:buNone/>
            </a:pPr>
            <a:r>
              <a:rPr lang="en-US" i="1" dirty="0" smtClean="0"/>
              <a:t>  </a:t>
            </a:r>
            <a:endParaRPr lang="en-US" b="1" dirty="0" smtClean="0"/>
          </a:p>
        </p:txBody>
      </p:sp>
      <p:sp>
        <p:nvSpPr>
          <p:cNvPr id="4" name="Isosceles Triangle 3"/>
          <p:cNvSpPr/>
          <p:nvPr/>
        </p:nvSpPr>
        <p:spPr>
          <a:xfrm rot="5400000" flipV="1">
            <a:off x="8229600" y="54102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9096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Proof and Disproof: </a:t>
            </a:r>
            <a:r>
              <a:rPr lang="en-US" dirty="0" err="1" smtClean="0"/>
              <a:t>Tilings</a:t>
            </a:r>
            <a:endParaRPr lang="en-US" dirty="0"/>
          </a:p>
        </p:txBody>
      </p:sp>
      <p:sp>
        <p:nvSpPr>
          <p:cNvPr id="3" name="Content Placeholder 2"/>
          <p:cNvSpPr>
            <a:spLocks noGrp="1"/>
          </p:cNvSpPr>
          <p:nvPr>
            <p:ph idx="1"/>
          </p:nvPr>
        </p:nvSpPr>
        <p:spPr/>
        <p:txBody>
          <a:bodyPr/>
          <a:lstStyle/>
          <a:p>
            <a:pPr>
              <a:buNone/>
            </a:pPr>
            <a:r>
              <a:rPr lang="en-US" b="1" dirty="0" smtClean="0"/>
              <a:t>Example </a:t>
            </a:r>
            <a:r>
              <a:rPr lang="en-US" b="1" dirty="0" smtClean="0">
                <a:latin typeface="Cambria Math" pitchFamily="18" charset="0"/>
                <a:ea typeface="Cambria Math" pitchFamily="18" charset="0"/>
              </a:rPr>
              <a:t>1</a:t>
            </a:r>
            <a:r>
              <a:rPr lang="en-US" dirty="0" smtClean="0"/>
              <a:t>: Can we tile the standard checkerboard using dominos?</a:t>
            </a:r>
          </a:p>
          <a:p>
            <a:pPr>
              <a:buNone/>
            </a:pPr>
            <a:r>
              <a:rPr lang="en-US" b="1" dirty="0" smtClean="0"/>
              <a:t>Solution</a:t>
            </a:r>
            <a:r>
              <a:rPr lang="en-US" dirty="0" smtClean="0"/>
              <a:t>: Yes! One example provides a constructive existence proof.</a:t>
            </a:r>
            <a:endParaRPr lang="en-US" dirty="0"/>
          </a:p>
        </p:txBody>
      </p:sp>
      <p:pic>
        <p:nvPicPr>
          <p:cNvPr id="4" name="Picture 3" descr="0114.jpg"/>
          <p:cNvPicPr>
            <a:picLocks noChangeAspect="1"/>
          </p:cNvPicPr>
          <p:nvPr/>
        </p:nvPicPr>
        <p:blipFill>
          <a:blip r:embed="rId2" cstate="print"/>
          <a:stretch>
            <a:fillRect/>
          </a:stretch>
        </p:blipFill>
        <p:spPr>
          <a:xfrm>
            <a:off x="990600" y="3810000"/>
            <a:ext cx="2056729" cy="2057400"/>
          </a:xfrm>
          <a:prstGeom prst="rect">
            <a:avLst/>
          </a:prstGeom>
        </p:spPr>
      </p:pic>
      <p:pic>
        <p:nvPicPr>
          <p:cNvPr id="5" name="Picture 4" descr="0115.jpg"/>
          <p:cNvPicPr>
            <a:picLocks noChangeAspect="1"/>
          </p:cNvPicPr>
          <p:nvPr/>
        </p:nvPicPr>
        <p:blipFill>
          <a:blip r:embed="rId3" cstate="print"/>
          <a:stretch>
            <a:fillRect/>
          </a:stretch>
        </p:blipFill>
        <p:spPr>
          <a:xfrm>
            <a:off x="3657600" y="3810000"/>
            <a:ext cx="574548" cy="1011936"/>
          </a:xfrm>
          <a:prstGeom prst="rect">
            <a:avLst/>
          </a:prstGeom>
        </p:spPr>
      </p:pic>
      <p:pic>
        <p:nvPicPr>
          <p:cNvPr id="6" name="Picture 5" descr="0116.jpg"/>
          <p:cNvPicPr>
            <a:picLocks noChangeAspect="1"/>
          </p:cNvPicPr>
          <p:nvPr/>
        </p:nvPicPr>
        <p:blipFill>
          <a:blip r:embed="rId4" cstate="print"/>
          <a:stretch>
            <a:fillRect/>
          </a:stretch>
        </p:blipFill>
        <p:spPr>
          <a:xfrm>
            <a:off x="5791200" y="3810000"/>
            <a:ext cx="1905000" cy="2011052"/>
          </a:xfrm>
          <a:prstGeom prst="rect">
            <a:avLst/>
          </a:prstGeom>
        </p:spPr>
      </p:pic>
      <p:sp>
        <p:nvSpPr>
          <p:cNvPr id="7" name="TextBox 6"/>
          <p:cNvSpPr txBox="1"/>
          <p:nvPr/>
        </p:nvSpPr>
        <p:spPr>
          <a:xfrm>
            <a:off x="609600" y="5867400"/>
            <a:ext cx="3200400" cy="369332"/>
          </a:xfrm>
          <a:prstGeom prst="rect">
            <a:avLst/>
          </a:prstGeom>
          <a:noFill/>
        </p:spPr>
        <p:txBody>
          <a:bodyPr wrap="square" rtlCol="0">
            <a:spAutoFit/>
          </a:bodyPr>
          <a:lstStyle/>
          <a:p>
            <a:r>
              <a:rPr lang="en-US" dirty="0" smtClean="0"/>
              <a:t>The Standard Checkerboard</a:t>
            </a:r>
            <a:endParaRPr lang="en-US" dirty="0"/>
          </a:p>
        </p:txBody>
      </p:sp>
      <p:sp>
        <p:nvSpPr>
          <p:cNvPr id="8" name="TextBox 7"/>
          <p:cNvSpPr txBox="1"/>
          <p:nvPr/>
        </p:nvSpPr>
        <p:spPr>
          <a:xfrm>
            <a:off x="3352800" y="4876800"/>
            <a:ext cx="1752600" cy="369332"/>
          </a:xfrm>
          <a:prstGeom prst="rect">
            <a:avLst/>
          </a:prstGeom>
          <a:noFill/>
        </p:spPr>
        <p:txBody>
          <a:bodyPr wrap="square" rtlCol="0">
            <a:spAutoFit/>
          </a:bodyPr>
          <a:lstStyle/>
          <a:p>
            <a:r>
              <a:rPr lang="en-US" dirty="0" smtClean="0"/>
              <a:t>Two Dominoes</a:t>
            </a:r>
            <a:endParaRPr lang="en-US" dirty="0"/>
          </a:p>
        </p:txBody>
      </p:sp>
      <p:sp>
        <p:nvSpPr>
          <p:cNvPr id="9" name="TextBox 8"/>
          <p:cNvSpPr txBox="1"/>
          <p:nvPr/>
        </p:nvSpPr>
        <p:spPr>
          <a:xfrm>
            <a:off x="5715000" y="5943600"/>
            <a:ext cx="2514600" cy="369332"/>
          </a:xfrm>
          <a:prstGeom prst="rect">
            <a:avLst/>
          </a:prstGeom>
          <a:noFill/>
        </p:spPr>
        <p:txBody>
          <a:bodyPr wrap="square" rtlCol="0">
            <a:spAutoFit/>
          </a:bodyPr>
          <a:lstStyle/>
          <a:p>
            <a:r>
              <a:rPr lang="en-US" dirty="0" smtClean="0"/>
              <a:t>One Possible Solution</a:t>
            </a:r>
            <a:endParaRPr lang="en-US" dirty="0"/>
          </a:p>
        </p:txBody>
      </p:sp>
    </p:spTree>
    <p:extLst>
      <p:ext uri="{BB962C8B-B14F-4D97-AF65-F5344CB8AC3E}">
        <p14:creationId xmlns:p14="http://schemas.microsoft.com/office/powerpoint/2010/main" val="36580156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Tilings</a:t>
            </a:r>
            <a:endParaRPr lang="en-US" dirty="0"/>
          </a:p>
        </p:txBody>
      </p:sp>
      <p:sp>
        <p:nvSpPr>
          <p:cNvPr id="3" name="Content Placeholder 2"/>
          <p:cNvSpPr>
            <a:spLocks noGrp="1"/>
          </p:cNvSpPr>
          <p:nvPr>
            <p:ph idx="1"/>
          </p:nvPr>
        </p:nvSpPr>
        <p:spPr/>
        <p:txBody>
          <a:bodyPr>
            <a:normAutofit/>
          </a:bodyPr>
          <a:lstStyle/>
          <a:p>
            <a:pPr>
              <a:buNone/>
            </a:pPr>
            <a:r>
              <a:rPr lang="en-US" b="1" dirty="0" smtClean="0"/>
              <a:t>   Example </a:t>
            </a:r>
            <a:r>
              <a:rPr lang="en-US" b="1" dirty="0" smtClean="0">
                <a:latin typeface="Cambria Math" pitchFamily="18" charset="0"/>
                <a:ea typeface="Cambria Math" pitchFamily="18" charset="0"/>
              </a:rPr>
              <a:t>2</a:t>
            </a:r>
            <a:r>
              <a:rPr lang="en-US" dirty="0" smtClean="0"/>
              <a:t>: Can we tile a checkerboard obtained by removing one of the four corner squares of a standard checkerboard?</a:t>
            </a:r>
          </a:p>
          <a:p>
            <a:pPr>
              <a:buNone/>
            </a:pPr>
            <a:r>
              <a:rPr lang="en-US" dirty="0" smtClean="0"/>
              <a:t>    </a:t>
            </a:r>
            <a:r>
              <a:rPr lang="en-US" b="1" dirty="0" smtClean="0"/>
              <a:t>Solution</a:t>
            </a:r>
            <a:r>
              <a:rPr lang="en-US" dirty="0" smtClean="0"/>
              <a:t>: </a:t>
            </a:r>
          </a:p>
          <a:p>
            <a:r>
              <a:rPr lang="en-US" dirty="0" smtClean="0"/>
              <a:t>Our checkerboard has </a:t>
            </a:r>
            <a:r>
              <a:rPr lang="en-US" dirty="0" smtClean="0">
                <a:latin typeface="Cambria Math" pitchFamily="18" charset="0"/>
                <a:ea typeface="Cambria Math" pitchFamily="18" charset="0"/>
              </a:rPr>
              <a:t>64 </a:t>
            </a:r>
            <a:r>
              <a:rPr lang="en-US" dirty="0" smtClean="0">
                <a:latin typeface="Cambria Math"/>
                <a:ea typeface="Cambria Math"/>
              </a:rPr>
              <a:t>−</a:t>
            </a:r>
            <a:r>
              <a:rPr lang="en-US" dirty="0" smtClean="0">
                <a:latin typeface="Cambria Math" pitchFamily="18" charset="0"/>
                <a:ea typeface="Cambria Math" pitchFamily="18" charset="0"/>
              </a:rPr>
              <a:t> 1</a:t>
            </a:r>
            <a:r>
              <a:rPr lang="en-US" dirty="0" smtClean="0"/>
              <a:t> = </a:t>
            </a:r>
            <a:r>
              <a:rPr lang="en-US" dirty="0" smtClean="0">
                <a:latin typeface="Cambria Math" pitchFamily="18" charset="0"/>
                <a:ea typeface="Cambria Math" pitchFamily="18" charset="0"/>
              </a:rPr>
              <a:t>63</a:t>
            </a:r>
            <a:r>
              <a:rPr lang="en-US" dirty="0" smtClean="0"/>
              <a:t> squares. </a:t>
            </a:r>
          </a:p>
          <a:p>
            <a:r>
              <a:rPr lang="en-US" dirty="0" smtClean="0"/>
              <a:t>Since each domino has two squares, a board with a tiling must have an even number of squares.</a:t>
            </a:r>
          </a:p>
          <a:p>
            <a:r>
              <a:rPr lang="en-US" dirty="0" smtClean="0"/>
              <a:t>The number  63 is not even. </a:t>
            </a:r>
          </a:p>
          <a:p>
            <a:r>
              <a:rPr lang="en-US" dirty="0" smtClean="0"/>
              <a:t>We have a contradiction.</a:t>
            </a:r>
          </a:p>
          <a:p>
            <a:endParaRPr lang="en-US" dirty="0"/>
          </a:p>
        </p:txBody>
      </p:sp>
      <p:sp>
        <p:nvSpPr>
          <p:cNvPr id="8" name="Isosceles Triangle 7"/>
          <p:cNvSpPr/>
          <p:nvPr/>
        </p:nvSpPr>
        <p:spPr>
          <a:xfrm rot="5400000" flipV="1">
            <a:off x="8153400" y="57150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73640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Tilings</a:t>
            </a:r>
            <a:r>
              <a:rPr lang="en-US" dirty="0" smtClean="0"/>
              <a:t> </a:t>
            </a:r>
            <a:endParaRPr lang="en-US" dirty="0"/>
          </a:p>
        </p:txBody>
      </p:sp>
      <p:sp>
        <p:nvSpPr>
          <p:cNvPr id="3" name="Content Placeholder 2"/>
          <p:cNvSpPr>
            <a:spLocks noGrp="1"/>
          </p:cNvSpPr>
          <p:nvPr>
            <p:ph idx="1"/>
          </p:nvPr>
        </p:nvSpPr>
        <p:spPr/>
        <p:txBody>
          <a:bodyPr>
            <a:normAutofit/>
          </a:bodyPr>
          <a:lstStyle/>
          <a:p>
            <a:pPr>
              <a:buNone/>
            </a:pPr>
            <a:r>
              <a:rPr lang="en-US" b="1" dirty="0" smtClean="0"/>
              <a:t>   Example </a:t>
            </a:r>
            <a:r>
              <a:rPr lang="en-US" b="1" dirty="0" smtClean="0">
                <a:latin typeface="Cambria Math" pitchFamily="18" charset="0"/>
                <a:ea typeface="Cambria Math" pitchFamily="18" charset="0"/>
              </a:rPr>
              <a:t>3</a:t>
            </a:r>
            <a:r>
              <a:rPr lang="en-US" dirty="0" smtClean="0"/>
              <a:t>: Can we tile a board obtained by removing both the upper left and the lower right squares of a standard checkerboard? </a:t>
            </a:r>
          </a:p>
        </p:txBody>
      </p:sp>
      <p:pic>
        <p:nvPicPr>
          <p:cNvPr id="4" name="Picture 3" descr="0117.jpg"/>
          <p:cNvPicPr>
            <a:picLocks noChangeAspect="1"/>
          </p:cNvPicPr>
          <p:nvPr/>
        </p:nvPicPr>
        <p:blipFill>
          <a:blip r:embed="rId2" cstate="print"/>
          <a:stretch>
            <a:fillRect/>
          </a:stretch>
        </p:blipFill>
        <p:spPr>
          <a:xfrm>
            <a:off x="1752600" y="3352800"/>
            <a:ext cx="2180006" cy="2212086"/>
          </a:xfrm>
          <a:prstGeom prst="rect">
            <a:avLst/>
          </a:prstGeom>
        </p:spPr>
      </p:pic>
      <p:pic>
        <p:nvPicPr>
          <p:cNvPr id="5" name="Picture 4" descr="0115.jpg"/>
          <p:cNvPicPr>
            <a:picLocks noChangeAspect="1"/>
          </p:cNvPicPr>
          <p:nvPr/>
        </p:nvPicPr>
        <p:blipFill>
          <a:blip r:embed="rId3" cstate="print"/>
          <a:stretch>
            <a:fillRect/>
          </a:stretch>
        </p:blipFill>
        <p:spPr>
          <a:xfrm>
            <a:off x="6400800" y="4343400"/>
            <a:ext cx="574548" cy="1011936"/>
          </a:xfrm>
          <a:prstGeom prst="rect">
            <a:avLst/>
          </a:prstGeom>
        </p:spPr>
      </p:pic>
      <p:sp>
        <p:nvSpPr>
          <p:cNvPr id="6" name="TextBox 5"/>
          <p:cNvSpPr txBox="1"/>
          <p:nvPr/>
        </p:nvSpPr>
        <p:spPr>
          <a:xfrm>
            <a:off x="1524000" y="5715000"/>
            <a:ext cx="3276600" cy="381000"/>
          </a:xfrm>
          <a:prstGeom prst="rect">
            <a:avLst/>
          </a:prstGeom>
          <a:noFill/>
        </p:spPr>
        <p:txBody>
          <a:bodyPr wrap="square" rtlCol="0">
            <a:spAutoFit/>
          </a:bodyPr>
          <a:lstStyle/>
          <a:p>
            <a:r>
              <a:rPr lang="en-US" dirty="0" smtClean="0"/>
              <a:t>Nonstandard Checkerboard</a:t>
            </a:r>
            <a:endParaRPr lang="en-US" dirty="0"/>
          </a:p>
        </p:txBody>
      </p:sp>
      <p:sp>
        <p:nvSpPr>
          <p:cNvPr id="7" name="TextBox 6"/>
          <p:cNvSpPr txBox="1"/>
          <p:nvPr/>
        </p:nvSpPr>
        <p:spPr>
          <a:xfrm>
            <a:off x="5943600" y="5715000"/>
            <a:ext cx="1600200" cy="369332"/>
          </a:xfrm>
          <a:prstGeom prst="rect">
            <a:avLst/>
          </a:prstGeom>
          <a:noFill/>
        </p:spPr>
        <p:txBody>
          <a:bodyPr wrap="square" rtlCol="0">
            <a:spAutoFit/>
          </a:bodyPr>
          <a:lstStyle/>
          <a:p>
            <a:r>
              <a:rPr lang="en-US" dirty="0" smtClean="0"/>
              <a:t>Dominoes</a:t>
            </a:r>
            <a:endParaRPr lang="en-US" dirty="0"/>
          </a:p>
        </p:txBody>
      </p:sp>
      <p:sp>
        <p:nvSpPr>
          <p:cNvPr id="8" name="TextBox 7"/>
          <p:cNvSpPr txBox="1"/>
          <p:nvPr/>
        </p:nvSpPr>
        <p:spPr>
          <a:xfrm>
            <a:off x="4724400" y="63246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extLst>
      <p:ext uri="{BB962C8B-B14F-4D97-AF65-F5344CB8AC3E}">
        <p14:creationId xmlns:p14="http://schemas.microsoft.com/office/powerpoint/2010/main" val="5100297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Tilings</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  </a:t>
            </a:r>
            <a:r>
              <a:rPr lang="en-US" b="1" dirty="0" smtClean="0"/>
              <a:t>Solution</a:t>
            </a:r>
            <a:r>
              <a:rPr lang="en-US" dirty="0" smtClean="0"/>
              <a:t>: </a:t>
            </a:r>
          </a:p>
          <a:p>
            <a:r>
              <a:rPr lang="en-US" dirty="0" smtClean="0"/>
              <a:t>There are 62 squares in this board. </a:t>
            </a:r>
          </a:p>
          <a:p>
            <a:r>
              <a:rPr lang="en-US" dirty="0" smtClean="0"/>
              <a:t>To tile it we need </a:t>
            </a:r>
            <a:r>
              <a:rPr lang="en-US" dirty="0" smtClean="0">
                <a:latin typeface="Cambria Math" pitchFamily="18" charset="0"/>
                <a:ea typeface="Cambria Math" pitchFamily="18" charset="0"/>
              </a:rPr>
              <a:t>31 </a:t>
            </a:r>
            <a:r>
              <a:rPr lang="en-US" dirty="0" smtClean="0"/>
              <a:t>dominos. </a:t>
            </a:r>
          </a:p>
          <a:p>
            <a:r>
              <a:rPr lang="en-US" i="1" dirty="0" smtClean="0"/>
              <a:t>Key fact</a:t>
            </a:r>
            <a:r>
              <a:rPr lang="en-US" dirty="0" smtClean="0"/>
              <a:t>: Each domino covers one black and one white square. </a:t>
            </a:r>
          </a:p>
          <a:p>
            <a:r>
              <a:rPr lang="en-US" dirty="0" smtClean="0"/>
              <a:t>Therefore the tiling covers 31 black squares and 31 white squares.</a:t>
            </a:r>
          </a:p>
          <a:p>
            <a:r>
              <a:rPr lang="en-US" dirty="0" smtClean="0"/>
              <a:t>Our board has either 30 black squares and 32 white squares or 32 black squares and 30 white squares.  </a:t>
            </a:r>
          </a:p>
          <a:p>
            <a:r>
              <a:rPr lang="en-US" dirty="0" smtClean="0"/>
              <a:t>Contradiction!</a:t>
            </a:r>
            <a:endParaRPr lang="en-US" dirty="0"/>
          </a:p>
        </p:txBody>
      </p:sp>
      <p:sp>
        <p:nvSpPr>
          <p:cNvPr id="4" name="Isosceles Triangle 3"/>
          <p:cNvSpPr/>
          <p:nvPr/>
        </p:nvSpPr>
        <p:spPr>
          <a:xfrm rot="5400000" flipV="1">
            <a:off x="8458200" y="58674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95565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Role of Open Problems</a:t>
            </a:r>
            <a:endParaRPr lang="en-US" dirty="0"/>
          </a:p>
        </p:txBody>
      </p:sp>
      <p:sp>
        <p:nvSpPr>
          <p:cNvPr id="3" name="Content Placeholder 2"/>
          <p:cNvSpPr>
            <a:spLocks noGrp="1"/>
          </p:cNvSpPr>
          <p:nvPr>
            <p:ph idx="1"/>
          </p:nvPr>
        </p:nvSpPr>
        <p:spPr/>
        <p:txBody>
          <a:bodyPr/>
          <a:lstStyle/>
          <a:p>
            <a:r>
              <a:rPr lang="en-US" dirty="0" smtClean="0"/>
              <a:t>Unsolved problems have motivated much work in mathematics. Fermat’s Last Theorem was conjectured more than 300 years ago. It has only recently been finally solved.</a:t>
            </a:r>
          </a:p>
          <a:p>
            <a:pPr>
              <a:buNone/>
            </a:pPr>
            <a:r>
              <a:rPr lang="en-US" dirty="0" smtClean="0"/>
              <a:t>   </a:t>
            </a:r>
            <a:r>
              <a:rPr lang="en-US" b="1" dirty="0" smtClean="0"/>
              <a:t>Fermat’s Last Theorem</a:t>
            </a:r>
            <a:r>
              <a:rPr lang="en-US" dirty="0" smtClean="0"/>
              <a:t>: The equation </a:t>
            </a:r>
            <a:r>
              <a:rPr lang="en-US" i="1" dirty="0" err="1" smtClean="0">
                <a:latin typeface="Cambria Math" pitchFamily="18" charset="0"/>
                <a:ea typeface="Cambria Math" pitchFamily="18" charset="0"/>
              </a:rPr>
              <a:t>x</a:t>
            </a:r>
            <a:r>
              <a:rPr lang="en-US" i="1" baseline="30000" dirty="0" err="1" smtClean="0">
                <a:latin typeface="Cambria Math" pitchFamily="18" charset="0"/>
                <a:ea typeface="Cambria Math" pitchFamily="18" charset="0"/>
              </a:rPr>
              <a:t>n</a:t>
            </a:r>
            <a:r>
              <a:rPr lang="en-US" baseline="30000" dirty="0" smtClean="0"/>
              <a:t>  </a:t>
            </a:r>
            <a:r>
              <a:rPr lang="en-US" dirty="0" smtClean="0"/>
              <a:t>+ </a:t>
            </a:r>
            <a:r>
              <a:rPr lang="en-US" i="1" dirty="0" err="1" smtClean="0">
                <a:latin typeface="Cambria Math" pitchFamily="18" charset="0"/>
                <a:ea typeface="Cambria Math" pitchFamily="18" charset="0"/>
              </a:rPr>
              <a:t>y</a:t>
            </a:r>
            <a:r>
              <a:rPr lang="en-US" i="1" baseline="30000" dirty="0" err="1" smtClean="0">
                <a:latin typeface="Cambria Math" pitchFamily="18" charset="0"/>
                <a:ea typeface="Cambria Math" pitchFamily="18" charset="0"/>
              </a:rPr>
              <a:t>n</a:t>
            </a:r>
            <a:r>
              <a:rPr lang="en-US" i="1" baseline="30000" dirty="0" smtClean="0">
                <a:latin typeface="Cambria Math" pitchFamily="18" charset="0"/>
                <a:ea typeface="Cambria Math" pitchFamily="18" charset="0"/>
              </a:rPr>
              <a:t> </a:t>
            </a:r>
            <a:r>
              <a:rPr lang="en-US" baseline="30000" dirty="0" smtClean="0"/>
              <a:t>  </a:t>
            </a:r>
            <a:r>
              <a:rPr lang="en-US" dirty="0" smtClean="0"/>
              <a:t>= </a:t>
            </a:r>
            <a:r>
              <a:rPr lang="en-US" i="1" dirty="0" err="1" smtClean="0">
                <a:latin typeface="Cambria Math" pitchFamily="18" charset="0"/>
                <a:ea typeface="Cambria Math" pitchFamily="18" charset="0"/>
              </a:rPr>
              <a:t>z</a:t>
            </a:r>
            <a:r>
              <a:rPr lang="en-US" i="1" baseline="30000" dirty="0" err="1" smtClean="0">
                <a:latin typeface="Cambria Math" pitchFamily="18" charset="0"/>
                <a:ea typeface="Cambria Math" pitchFamily="18" charset="0"/>
              </a:rPr>
              <a:t>n</a:t>
            </a:r>
            <a:endParaRPr lang="en-US" i="1" baseline="30000" dirty="0" smtClean="0">
              <a:latin typeface="Cambria Math" pitchFamily="18" charset="0"/>
              <a:ea typeface="Cambria Math" pitchFamily="18" charset="0"/>
            </a:endParaRPr>
          </a:p>
          <a:p>
            <a:pPr>
              <a:buNone/>
            </a:pPr>
            <a:r>
              <a:rPr lang="en-US" i="1" baseline="30000" dirty="0" smtClean="0">
                <a:latin typeface="Cambria Math" pitchFamily="18" charset="0"/>
                <a:ea typeface="Cambria Math" pitchFamily="18" charset="0"/>
              </a:rPr>
              <a:t>     </a:t>
            </a:r>
            <a:r>
              <a:rPr lang="en-US" dirty="0" smtClean="0">
                <a:ea typeface="Cambria Math" pitchFamily="18" charset="0"/>
              </a:rPr>
              <a:t>has no solutions in integers </a:t>
            </a:r>
            <a:r>
              <a:rPr lang="en-US" i="1" dirty="0" smtClean="0">
                <a:ea typeface="Cambria Math" pitchFamily="18" charset="0"/>
              </a:rPr>
              <a:t>x</a:t>
            </a:r>
            <a:r>
              <a:rPr lang="en-US" dirty="0" smtClean="0">
                <a:ea typeface="Cambria Math" pitchFamily="18" charset="0"/>
              </a:rPr>
              <a:t>, </a:t>
            </a:r>
            <a:r>
              <a:rPr lang="en-US" i="1" dirty="0" smtClean="0">
                <a:ea typeface="Cambria Math" pitchFamily="18" charset="0"/>
              </a:rPr>
              <a:t>y</a:t>
            </a:r>
            <a:r>
              <a:rPr lang="en-US" dirty="0" smtClean="0">
                <a:ea typeface="Cambria Math" pitchFamily="18" charset="0"/>
              </a:rPr>
              <a:t>, and </a:t>
            </a:r>
            <a:r>
              <a:rPr lang="en-US" i="1" dirty="0" smtClean="0">
                <a:ea typeface="Cambria Math" pitchFamily="18" charset="0"/>
              </a:rPr>
              <a:t>z</a:t>
            </a:r>
            <a:r>
              <a:rPr lang="en-US" dirty="0" smtClean="0">
                <a:ea typeface="Cambria Math" pitchFamily="18" charset="0"/>
              </a:rPr>
              <a:t>, with </a:t>
            </a:r>
            <a:r>
              <a:rPr lang="en-US" i="1" dirty="0" smtClean="0">
                <a:ea typeface="Cambria Math" pitchFamily="18" charset="0"/>
              </a:rPr>
              <a:t>xyz</a:t>
            </a:r>
            <a:r>
              <a:rPr lang="en-US" dirty="0" smtClean="0">
                <a:latin typeface="Cambria Math"/>
                <a:ea typeface="Cambria Math"/>
              </a:rPr>
              <a:t>≠0 whenever n is an integer with </a:t>
            </a:r>
            <a:r>
              <a:rPr lang="en-US" i="1" dirty="0" smtClean="0">
                <a:latin typeface="Cambria Math"/>
                <a:ea typeface="Cambria Math"/>
              </a:rPr>
              <a:t>n</a:t>
            </a:r>
            <a:r>
              <a:rPr lang="en-US" dirty="0" smtClean="0">
                <a:latin typeface="Cambria Math"/>
                <a:ea typeface="Cambria Math"/>
              </a:rPr>
              <a:t> &gt; 2.</a:t>
            </a:r>
          </a:p>
          <a:p>
            <a:pPr>
              <a:buNone/>
            </a:pPr>
            <a:endParaRPr lang="en-US" dirty="0" smtClean="0">
              <a:latin typeface="Cambria Math"/>
              <a:ea typeface="Cambria Math"/>
            </a:endParaRPr>
          </a:p>
          <a:p>
            <a:pPr>
              <a:buNone/>
            </a:pPr>
            <a:r>
              <a:rPr lang="en-US" dirty="0" smtClean="0">
                <a:latin typeface="Cambria Math"/>
                <a:ea typeface="Cambria Math"/>
              </a:rPr>
              <a:t>   A proof was found by Andrew Wiles in the 1990s. </a:t>
            </a:r>
            <a:endParaRPr lang="en-US" dirty="0">
              <a:ea typeface="Cambria Math" pitchFamily="18" charset="0"/>
            </a:endParaRPr>
          </a:p>
        </p:txBody>
      </p:sp>
    </p:spTree>
    <p:extLst>
      <p:ext uri="{BB962C8B-B14F-4D97-AF65-F5344CB8AC3E}">
        <p14:creationId xmlns:p14="http://schemas.microsoft.com/office/powerpoint/2010/main" val="35557620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Open Problem</a:t>
            </a:r>
            <a:endParaRPr lang="en-US" dirty="0"/>
          </a:p>
        </p:txBody>
      </p:sp>
      <p:sp>
        <p:nvSpPr>
          <p:cNvPr id="3" name="Content Placeholder 2"/>
          <p:cNvSpPr>
            <a:spLocks noGrp="1"/>
          </p:cNvSpPr>
          <p:nvPr>
            <p:ph idx="1"/>
          </p:nvPr>
        </p:nvSpPr>
        <p:spPr/>
        <p:txBody>
          <a:bodyPr>
            <a:normAutofit lnSpcReduction="10000"/>
          </a:bodyPr>
          <a:lstStyle/>
          <a:p>
            <a:r>
              <a:rPr lang="en-US" b="1" dirty="0" smtClean="0"/>
              <a:t>The </a:t>
            </a:r>
            <a:r>
              <a:rPr lang="en-US" b="1" dirty="0" smtClean="0">
                <a:latin typeface="Cambria Math" pitchFamily="18" charset="0"/>
                <a:ea typeface="Cambria Math" pitchFamily="18" charset="0"/>
              </a:rPr>
              <a:t>3</a:t>
            </a:r>
            <a:r>
              <a:rPr lang="en-US" b="1" i="1" dirty="0" smtClean="0"/>
              <a:t>x</a:t>
            </a:r>
            <a:r>
              <a:rPr lang="en-US" b="1" dirty="0" smtClean="0"/>
              <a:t> + </a:t>
            </a:r>
            <a:r>
              <a:rPr lang="en-US" b="1" dirty="0" smtClean="0">
                <a:latin typeface="Cambria Math" pitchFamily="18" charset="0"/>
                <a:ea typeface="Cambria Math" pitchFamily="18" charset="0"/>
              </a:rPr>
              <a:t>1</a:t>
            </a:r>
            <a:r>
              <a:rPr lang="en-US" b="1" dirty="0" smtClean="0"/>
              <a:t> Conjecture</a:t>
            </a:r>
            <a:r>
              <a:rPr lang="en-US" dirty="0" smtClean="0"/>
              <a:t>: Let T be the transformation that sends an even integer </a:t>
            </a:r>
            <a:r>
              <a:rPr lang="en-US" i="1" dirty="0" smtClean="0"/>
              <a:t>x</a:t>
            </a:r>
            <a:r>
              <a:rPr lang="en-US" dirty="0" smtClean="0"/>
              <a:t> to </a:t>
            </a:r>
            <a:r>
              <a:rPr lang="en-US" i="1" dirty="0" smtClean="0"/>
              <a:t>x</a:t>
            </a:r>
            <a:r>
              <a:rPr lang="en-US" dirty="0" smtClean="0"/>
              <a:t>/</a:t>
            </a:r>
            <a:r>
              <a:rPr lang="en-US" dirty="0" smtClean="0">
                <a:latin typeface="Cambria Math" pitchFamily="18" charset="0"/>
                <a:ea typeface="Cambria Math" pitchFamily="18" charset="0"/>
              </a:rPr>
              <a:t>2 </a:t>
            </a:r>
            <a:r>
              <a:rPr lang="en-US" dirty="0" smtClean="0"/>
              <a:t>and an odd integer </a:t>
            </a:r>
            <a:r>
              <a:rPr lang="en-US" i="1" dirty="0" smtClean="0"/>
              <a:t>x</a:t>
            </a:r>
            <a:r>
              <a:rPr lang="en-US" dirty="0" smtClean="0"/>
              <a:t> to </a:t>
            </a:r>
            <a:r>
              <a:rPr lang="en-US" dirty="0" smtClean="0">
                <a:latin typeface="Cambria Math" pitchFamily="18" charset="0"/>
                <a:ea typeface="Cambria Math" pitchFamily="18" charset="0"/>
              </a:rPr>
              <a:t>3</a:t>
            </a:r>
            <a:r>
              <a:rPr lang="en-US" i="1" dirty="0" smtClean="0"/>
              <a:t>x</a:t>
            </a:r>
            <a:r>
              <a:rPr lang="en-US" dirty="0" smtClean="0"/>
              <a:t> + </a:t>
            </a:r>
            <a:r>
              <a:rPr lang="en-US" dirty="0" smtClean="0">
                <a:latin typeface="Cambria Math" pitchFamily="18" charset="0"/>
                <a:ea typeface="Cambria Math" pitchFamily="18" charset="0"/>
              </a:rPr>
              <a:t>1</a:t>
            </a:r>
            <a:r>
              <a:rPr lang="en-US" dirty="0" smtClean="0"/>
              <a:t>. For all positive integers </a:t>
            </a:r>
            <a:r>
              <a:rPr lang="en-US" i="1" dirty="0" smtClean="0"/>
              <a:t>x</a:t>
            </a:r>
            <a:r>
              <a:rPr lang="en-US" dirty="0" smtClean="0"/>
              <a:t>, when we repeatedly apply the transformation T, we will eventually reach the integer </a:t>
            </a:r>
            <a:r>
              <a:rPr lang="en-US" dirty="0" smtClean="0">
                <a:latin typeface="Cambria Math" pitchFamily="18" charset="0"/>
                <a:ea typeface="Cambria Math" pitchFamily="18" charset="0"/>
              </a:rPr>
              <a:t>1</a:t>
            </a:r>
            <a:r>
              <a:rPr lang="en-US" dirty="0" smtClean="0"/>
              <a:t>. </a:t>
            </a:r>
          </a:p>
          <a:p>
            <a:pPr>
              <a:buNone/>
            </a:pPr>
            <a:r>
              <a:rPr lang="en-US" dirty="0" smtClean="0"/>
              <a:t>    For example, starting with </a:t>
            </a:r>
            <a:r>
              <a:rPr lang="en-US" i="1" dirty="0" smtClean="0"/>
              <a:t>x</a:t>
            </a:r>
            <a:r>
              <a:rPr lang="en-US" dirty="0" smtClean="0"/>
              <a:t> = </a:t>
            </a:r>
            <a:r>
              <a:rPr lang="en-US" dirty="0" smtClean="0">
                <a:latin typeface="Cambria Math" pitchFamily="18" charset="0"/>
                <a:ea typeface="Cambria Math" pitchFamily="18" charset="0"/>
              </a:rPr>
              <a:t>13</a:t>
            </a:r>
            <a:r>
              <a:rPr lang="en-US" dirty="0" smtClean="0"/>
              <a:t>:</a:t>
            </a:r>
          </a:p>
          <a:p>
            <a:pPr>
              <a:buNone/>
            </a:pPr>
            <a:r>
              <a:rPr lang="en-US" dirty="0" smtClean="0"/>
              <a:t>    </a:t>
            </a:r>
            <a:r>
              <a:rPr lang="en-US" sz="2200" dirty="0" smtClean="0"/>
              <a:t>T(</a:t>
            </a:r>
            <a:r>
              <a:rPr lang="en-US" sz="2200" dirty="0" smtClean="0">
                <a:latin typeface="Cambria Math" pitchFamily="18" charset="0"/>
                <a:ea typeface="Cambria Math" pitchFamily="18" charset="0"/>
              </a:rPr>
              <a:t>13</a:t>
            </a:r>
            <a:r>
              <a:rPr lang="en-US" sz="2200" dirty="0" smtClean="0"/>
              <a:t>) = </a:t>
            </a:r>
            <a:r>
              <a:rPr lang="en-US" sz="2200" dirty="0" smtClean="0">
                <a:latin typeface="Cambria Math" pitchFamily="18" charset="0"/>
                <a:ea typeface="Cambria Math" pitchFamily="18" charset="0"/>
              </a:rPr>
              <a:t>3∙13 + 1 </a:t>
            </a:r>
            <a:r>
              <a:rPr lang="en-US" sz="2200" dirty="0" smtClean="0">
                <a:latin typeface="Cambria Math"/>
                <a:ea typeface="Cambria Math"/>
              </a:rPr>
              <a:t>= 40, </a:t>
            </a:r>
            <a:r>
              <a:rPr lang="en-US" sz="2200" dirty="0" smtClean="0"/>
              <a:t>T(</a:t>
            </a:r>
            <a:r>
              <a:rPr lang="en-US" sz="2200" dirty="0" smtClean="0">
                <a:latin typeface="Cambria Math" pitchFamily="18" charset="0"/>
                <a:ea typeface="Cambria Math" pitchFamily="18" charset="0"/>
              </a:rPr>
              <a:t>40</a:t>
            </a:r>
            <a:r>
              <a:rPr lang="en-US" sz="2200" dirty="0" smtClean="0"/>
              <a:t>) = </a:t>
            </a:r>
            <a:r>
              <a:rPr lang="en-US" sz="2200" dirty="0" smtClean="0">
                <a:latin typeface="Cambria Math" pitchFamily="18" charset="0"/>
                <a:ea typeface="Cambria Math" pitchFamily="18" charset="0"/>
              </a:rPr>
              <a:t>40/2  </a:t>
            </a:r>
            <a:r>
              <a:rPr lang="en-US" sz="2200" dirty="0" smtClean="0">
                <a:latin typeface="Cambria Math"/>
                <a:ea typeface="Cambria Math"/>
              </a:rPr>
              <a:t>= 20, </a:t>
            </a:r>
            <a:r>
              <a:rPr lang="en-US" sz="2200" dirty="0" smtClean="0"/>
              <a:t>T(</a:t>
            </a:r>
            <a:r>
              <a:rPr lang="en-US" sz="2200" dirty="0" smtClean="0">
                <a:latin typeface="Cambria Math" pitchFamily="18" charset="0"/>
                <a:ea typeface="Cambria Math" pitchFamily="18" charset="0"/>
              </a:rPr>
              <a:t>20</a:t>
            </a:r>
            <a:r>
              <a:rPr lang="en-US" sz="2200" dirty="0" smtClean="0"/>
              <a:t>) = </a:t>
            </a:r>
            <a:r>
              <a:rPr lang="en-US" sz="2200" dirty="0" smtClean="0">
                <a:latin typeface="Cambria Math" pitchFamily="18" charset="0"/>
                <a:ea typeface="Cambria Math" pitchFamily="18" charset="0"/>
              </a:rPr>
              <a:t>20/2  </a:t>
            </a:r>
            <a:r>
              <a:rPr lang="en-US" sz="2200" dirty="0" smtClean="0">
                <a:latin typeface="Cambria Math"/>
                <a:ea typeface="Cambria Math"/>
              </a:rPr>
              <a:t>= 10, </a:t>
            </a:r>
          </a:p>
          <a:p>
            <a:pPr>
              <a:buNone/>
            </a:pPr>
            <a:r>
              <a:rPr lang="en-US" sz="2200" dirty="0" smtClean="0">
                <a:latin typeface="Cambria Math"/>
                <a:ea typeface="Cambria Math"/>
              </a:rPr>
              <a:t>      </a:t>
            </a:r>
            <a:r>
              <a:rPr lang="en-US" sz="2200" dirty="0" smtClean="0"/>
              <a:t>T(</a:t>
            </a:r>
            <a:r>
              <a:rPr lang="en-US" sz="2200" dirty="0" smtClean="0">
                <a:latin typeface="Cambria Math" pitchFamily="18" charset="0"/>
                <a:ea typeface="Cambria Math" pitchFamily="18" charset="0"/>
              </a:rPr>
              <a:t>10</a:t>
            </a:r>
            <a:r>
              <a:rPr lang="en-US" sz="2200" dirty="0" smtClean="0"/>
              <a:t>) = </a:t>
            </a:r>
            <a:r>
              <a:rPr lang="en-US" sz="2200" dirty="0" smtClean="0">
                <a:latin typeface="Cambria Math" pitchFamily="18" charset="0"/>
                <a:ea typeface="Cambria Math" pitchFamily="18" charset="0"/>
              </a:rPr>
              <a:t>10/2  </a:t>
            </a:r>
            <a:r>
              <a:rPr lang="en-US" sz="2200" dirty="0" smtClean="0">
                <a:latin typeface="Cambria Math"/>
                <a:ea typeface="Cambria Math"/>
              </a:rPr>
              <a:t>= 5, </a:t>
            </a:r>
            <a:r>
              <a:rPr lang="en-US" sz="2200" dirty="0" smtClean="0"/>
              <a:t>T(</a:t>
            </a:r>
            <a:r>
              <a:rPr lang="en-US" sz="2200" dirty="0" smtClean="0">
                <a:latin typeface="Cambria Math" pitchFamily="18" charset="0"/>
                <a:ea typeface="Cambria Math" pitchFamily="18" charset="0"/>
              </a:rPr>
              <a:t>5</a:t>
            </a:r>
            <a:r>
              <a:rPr lang="en-US" sz="2200" dirty="0" smtClean="0"/>
              <a:t>) = </a:t>
            </a:r>
            <a:r>
              <a:rPr lang="en-US" sz="2200" dirty="0" smtClean="0">
                <a:latin typeface="Cambria Math" pitchFamily="18" charset="0"/>
                <a:ea typeface="Cambria Math" pitchFamily="18" charset="0"/>
              </a:rPr>
              <a:t>3∙5 + 1 </a:t>
            </a:r>
            <a:r>
              <a:rPr lang="en-US" sz="2200" dirty="0" smtClean="0">
                <a:latin typeface="Cambria Math"/>
                <a:ea typeface="Cambria Math"/>
              </a:rPr>
              <a:t>= 16,</a:t>
            </a:r>
            <a:r>
              <a:rPr lang="en-US" sz="2200" dirty="0" smtClean="0"/>
              <a:t>T(</a:t>
            </a:r>
            <a:r>
              <a:rPr lang="en-US" sz="2200" dirty="0" smtClean="0">
                <a:latin typeface="Cambria Math" pitchFamily="18" charset="0"/>
                <a:ea typeface="Cambria Math" pitchFamily="18" charset="0"/>
              </a:rPr>
              <a:t>16</a:t>
            </a:r>
            <a:r>
              <a:rPr lang="en-US" sz="2200" dirty="0" smtClean="0"/>
              <a:t>) = </a:t>
            </a:r>
            <a:r>
              <a:rPr lang="en-US" sz="2200" dirty="0" smtClean="0">
                <a:latin typeface="Cambria Math" pitchFamily="18" charset="0"/>
                <a:ea typeface="Cambria Math" pitchFamily="18" charset="0"/>
              </a:rPr>
              <a:t>16/2  </a:t>
            </a:r>
            <a:r>
              <a:rPr lang="en-US" sz="2200" dirty="0" smtClean="0">
                <a:latin typeface="Cambria Math"/>
                <a:ea typeface="Cambria Math"/>
              </a:rPr>
              <a:t>= 8, </a:t>
            </a:r>
          </a:p>
          <a:p>
            <a:pPr>
              <a:buNone/>
            </a:pPr>
            <a:r>
              <a:rPr lang="en-US" sz="2200" dirty="0" smtClean="0">
                <a:latin typeface="Cambria Math"/>
                <a:ea typeface="Cambria Math"/>
              </a:rPr>
              <a:t>      </a:t>
            </a:r>
            <a:r>
              <a:rPr lang="en-US" sz="2200" dirty="0" smtClean="0"/>
              <a:t>T(</a:t>
            </a:r>
            <a:r>
              <a:rPr lang="en-US" sz="2200" dirty="0" smtClean="0">
                <a:latin typeface="Cambria Math" pitchFamily="18" charset="0"/>
                <a:ea typeface="Cambria Math" pitchFamily="18" charset="0"/>
              </a:rPr>
              <a:t>8</a:t>
            </a:r>
            <a:r>
              <a:rPr lang="en-US" sz="2200" dirty="0" smtClean="0"/>
              <a:t>) = </a:t>
            </a:r>
            <a:r>
              <a:rPr lang="en-US" sz="2200" dirty="0" smtClean="0">
                <a:latin typeface="Cambria Math" pitchFamily="18" charset="0"/>
                <a:ea typeface="Cambria Math" pitchFamily="18" charset="0"/>
              </a:rPr>
              <a:t>8/2  </a:t>
            </a:r>
            <a:r>
              <a:rPr lang="en-US" sz="2200" dirty="0" smtClean="0">
                <a:latin typeface="Cambria Math"/>
                <a:ea typeface="Cambria Math"/>
              </a:rPr>
              <a:t>= 4, </a:t>
            </a:r>
            <a:r>
              <a:rPr lang="en-US" sz="2200" dirty="0" smtClean="0"/>
              <a:t>T(</a:t>
            </a:r>
            <a:r>
              <a:rPr lang="en-US" sz="2200" dirty="0" smtClean="0">
                <a:latin typeface="Cambria Math" pitchFamily="18" charset="0"/>
                <a:ea typeface="Cambria Math" pitchFamily="18" charset="0"/>
              </a:rPr>
              <a:t>4</a:t>
            </a:r>
            <a:r>
              <a:rPr lang="en-US" sz="2200" dirty="0" smtClean="0"/>
              <a:t>) = </a:t>
            </a:r>
            <a:r>
              <a:rPr lang="en-US" sz="2200" dirty="0" smtClean="0">
                <a:latin typeface="Cambria Math" pitchFamily="18" charset="0"/>
                <a:ea typeface="Cambria Math" pitchFamily="18" charset="0"/>
              </a:rPr>
              <a:t>4/2  </a:t>
            </a:r>
            <a:r>
              <a:rPr lang="en-US" sz="2200" dirty="0" smtClean="0">
                <a:latin typeface="Cambria Math"/>
                <a:ea typeface="Cambria Math"/>
              </a:rPr>
              <a:t>= 2, </a:t>
            </a:r>
            <a:r>
              <a:rPr lang="en-US" sz="2200" dirty="0" smtClean="0"/>
              <a:t>T(</a:t>
            </a:r>
            <a:r>
              <a:rPr lang="en-US" sz="2200" dirty="0" smtClean="0">
                <a:latin typeface="Cambria Math" pitchFamily="18" charset="0"/>
                <a:ea typeface="Cambria Math" pitchFamily="18" charset="0"/>
              </a:rPr>
              <a:t>2</a:t>
            </a:r>
            <a:r>
              <a:rPr lang="en-US" sz="2200" dirty="0" smtClean="0"/>
              <a:t>) = </a:t>
            </a:r>
            <a:r>
              <a:rPr lang="en-US" sz="2200" dirty="0" smtClean="0">
                <a:latin typeface="Cambria Math" pitchFamily="18" charset="0"/>
                <a:ea typeface="Cambria Math" pitchFamily="18" charset="0"/>
              </a:rPr>
              <a:t>2/2  </a:t>
            </a:r>
            <a:r>
              <a:rPr lang="en-US" sz="2200" dirty="0" smtClean="0">
                <a:latin typeface="Cambria Math"/>
                <a:ea typeface="Cambria Math"/>
              </a:rPr>
              <a:t>= 1</a:t>
            </a:r>
          </a:p>
          <a:p>
            <a:pPr>
              <a:buNone/>
            </a:pPr>
            <a:r>
              <a:rPr lang="en-US" dirty="0" smtClean="0">
                <a:latin typeface="Cambria Math"/>
                <a:ea typeface="Cambria Math"/>
              </a:rPr>
              <a:t>    The conjecture has been verified using computers up to </a:t>
            </a:r>
            <a:r>
              <a:rPr lang="en-US" altLang="zh-CN" sz="2800"/>
              <a:t>112589990684262400</a:t>
            </a:r>
            <a:r>
              <a:rPr lang="en-US" sz="2400" smtClean="0">
                <a:latin typeface="Cambria Math"/>
                <a:ea typeface="Cambria Math"/>
              </a:rPr>
              <a:t>.</a:t>
            </a:r>
            <a:endParaRPr lang="en-US" sz="2400" dirty="0"/>
          </a:p>
        </p:txBody>
      </p:sp>
    </p:spTree>
    <p:extLst>
      <p:ext uri="{BB962C8B-B14F-4D97-AF65-F5344CB8AC3E}">
        <p14:creationId xmlns:p14="http://schemas.microsoft.com/office/powerpoint/2010/main" val="33020575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Additional Proof Methods</a:t>
            </a:r>
            <a:endParaRPr lang="en-US" dirty="0"/>
          </a:p>
        </p:txBody>
      </p:sp>
      <p:sp>
        <p:nvSpPr>
          <p:cNvPr id="3" name="Content Placeholder 2"/>
          <p:cNvSpPr>
            <a:spLocks noGrp="1"/>
          </p:cNvSpPr>
          <p:nvPr>
            <p:ph idx="1"/>
          </p:nvPr>
        </p:nvSpPr>
        <p:spPr/>
        <p:txBody>
          <a:bodyPr/>
          <a:lstStyle/>
          <a:p>
            <a:r>
              <a:rPr lang="en-US" dirty="0" smtClean="0"/>
              <a:t>Later we will see many other proof methods:</a:t>
            </a:r>
          </a:p>
          <a:p>
            <a:pPr lvl="1"/>
            <a:r>
              <a:rPr lang="en-US" dirty="0" smtClean="0"/>
              <a:t>Mathematical induction</a:t>
            </a:r>
            <a:r>
              <a:rPr lang="zh-CN" altLang="en-US" sz="2000" dirty="0" smtClean="0"/>
              <a:t>（数学归纳法）</a:t>
            </a:r>
            <a:r>
              <a:rPr lang="en-US" dirty="0" smtClean="0"/>
              <a:t>, which is a useful method for proving statements of the form </a:t>
            </a:r>
            <a:r>
              <a:rPr lang="en-US" dirty="0" smtClean="0">
                <a:sym typeface="Symbol"/>
              </a:rPr>
              <a:t></a:t>
            </a:r>
            <a:r>
              <a:rPr lang="en-US" i="1" dirty="0" smtClean="0">
                <a:sym typeface="Symbol"/>
              </a:rPr>
              <a:t>n P</a:t>
            </a:r>
            <a:r>
              <a:rPr lang="en-US" dirty="0" smtClean="0">
                <a:sym typeface="Symbol"/>
              </a:rPr>
              <a:t>(</a:t>
            </a:r>
            <a:r>
              <a:rPr lang="en-US" i="1" dirty="0" smtClean="0">
                <a:sym typeface="Symbol"/>
              </a:rPr>
              <a:t>n</a:t>
            </a:r>
            <a:r>
              <a:rPr lang="en-US" dirty="0" smtClean="0">
                <a:sym typeface="Symbol"/>
              </a:rPr>
              <a:t>), where the domain consists of all positive integers.</a:t>
            </a:r>
          </a:p>
          <a:p>
            <a:pPr lvl="1"/>
            <a:r>
              <a:rPr lang="en-US" dirty="0" smtClean="0">
                <a:sym typeface="Symbol"/>
              </a:rPr>
              <a:t>Structural induction</a:t>
            </a:r>
            <a:r>
              <a:rPr lang="zh-CN" altLang="en-US" dirty="0"/>
              <a:t> </a:t>
            </a:r>
            <a:r>
              <a:rPr lang="zh-CN" altLang="en-US" sz="2000" dirty="0" smtClean="0"/>
              <a:t>（结构归纳法</a:t>
            </a:r>
            <a:r>
              <a:rPr lang="zh-CN" altLang="en-US" sz="2000" dirty="0"/>
              <a:t>）</a:t>
            </a:r>
            <a:r>
              <a:rPr lang="en-US" dirty="0" smtClean="0">
                <a:sym typeface="Symbol"/>
              </a:rPr>
              <a:t>, which can be used to prove such results about recursively defined sets.</a:t>
            </a:r>
          </a:p>
          <a:p>
            <a:pPr lvl="1"/>
            <a:r>
              <a:rPr lang="en-US" dirty="0" smtClean="0">
                <a:sym typeface="Symbol"/>
              </a:rPr>
              <a:t>Cantor diagonalization</a:t>
            </a:r>
            <a:r>
              <a:rPr lang="zh-CN" altLang="en-US" sz="2000" dirty="0" smtClean="0">
                <a:sym typeface="Symbol"/>
              </a:rPr>
              <a:t>（康托尔对角线方法）</a:t>
            </a:r>
            <a:r>
              <a:rPr lang="en-US" sz="2000" dirty="0" smtClean="0">
                <a:sym typeface="Symbol"/>
              </a:rPr>
              <a:t> </a:t>
            </a:r>
            <a:r>
              <a:rPr lang="en-US" dirty="0" smtClean="0">
                <a:sym typeface="Symbol"/>
              </a:rPr>
              <a:t>is used to prove results about the size of infinite sets.</a:t>
            </a:r>
          </a:p>
          <a:p>
            <a:pPr lvl="1"/>
            <a:r>
              <a:rPr lang="en-US" dirty="0" smtClean="0">
                <a:sym typeface="Symbol"/>
              </a:rPr>
              <a:t>Combinatorial proofs</a:t>
            </a:r>
            <a:r>
              <a:rPr lang="zh-CN" altLang="en-US" sz="2000" dirty="0" smtClean="0">
                <a:sym typeface="Symbol"/>
              </a:rPr>
              <a:t>（组合证明）</a:t>
            </a:r>
            <a:r>
              <a:rPr lang="en-US" sz="2000" dirty="0" smtClean="0">
                <a:sym typeface="Symbol"/>
              </a:rPr>
              <a:t> </a:t>
            </a:r>
            <a:r>
              <a:rPr lang="en-US" dirty="0" smtClean="0">
                <a:sym typeface="Symbol"/>
              </a:rPr>
              <a:t>use counting arguments. </a:t>
            </a:r>
            <a:endParaRPr lang="en-US" dirty="0"/>
          </a:p>
        </p:txBody>
      </p:sp>
    </p:spTree>
    <p:extLst>
      <p:ext uri="{BB962C8B-B14F-4D97-AF65-F5344CB8AC3E}">
        <p14:creationId xmlns:p14="http://schemas.microsoft.com/office/powerpoint/2010/main" val="37117681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Exercise (</a:t>
            </a:r>
            <a:r>
              <a:rPr lang="en-US" altLang="zh-CN" dirty="0" err="1" smtClean="0"/>
              <a:t>partB</a:t>
            </a:r>
            <a:r>
              <a:rPr lang="en-US" altLang="zh-CN" dirty="0" smtClean="0"/>
              <a:t>) </a:t>
            </a:r>
            <a:endParaRPr lang="zh-CN" altLang="en-US" dirty="0"/>
          </a:p>
        </p:txBody>
      </p:sp>
      <p:sp>
        <p:nvSpPr>
          <p:cNvPr id="3" name="内容占位符 2"/>
          <p:cNvSpPr>
            <a:spLocks noGrp="1"/>
          </p:cNvSpPr>
          <p:nvPr>
            <p:ph idx="1"/>
          </p:nvPr>
        </p:nvSpPr>
        <p:spPr/>
        <p:txBody>
          <a:bodyPr/>
          <a:lstStyle/>
          <a:p>
            <a:pPr>
              <a:defRPr/>
            </a:pPr>
            <a:r>
              <a:rPr kumimoji="1" lang="zh-CN" altLang="en-US" sz="2800" dirty="0" smtClean="0">
                <a:solidFill>
                  <a:srgbClr val="3333FF"/>
                </a:solidFill>
              </a:rPr>
              <a:t>第</a:t>
            </a:r>
            <a:r>
              <a:rPr kumimoji="1" lang="en-US" altLang="zh-CN" sz="2800" dirty="0" smtClean="0">
                <a:solidFill>
                  <a:srgbClr val="3333FF"/>
                </a:solidFill>
              </a:rPr>
              <a:t>8</a:t>
            </a:r>
            <a:r>
              <a:rPr kumimoji="1" lang="zh-CN" altLang="en-US" sz="2800" dirty="0" smtClean="0">
                <a:solidFill>
                  <a:srgbClr val="3333FF"/>
                </a:solidFill>
              </a:rPr>
              <a:t>版</a:t>
            </a:r>
            <a:r>
              <a:rPr kumimoji="1" lang="zh-CN" altLang="en-US" sz="2800" dirty="0">
                <a:solidFill>
                  <a:srgbClr val="3333FF"/>
                </a:solidFill>
              </a:rPr>
              <a:t>： </a:t>
            </a:r>
            <a:r>
              <a:rPr kumimoji="1" lang="en-US" altLang="zh-CN" sz="2800" dirty="0">
                <a:solidFill>
                  <a:srgbClr val="3333FF"/>
                </a:solidFill>
              </a:rPr>
              <a:t>Sec. 1.8 </a:t>
            </a:r>
            <a:r>
              <a:rPr kumimoji="1" lang="en-US" altLang="zh-CN" sz="2800" dirty="0"/>
              <a:t> </a:t>
            </a:r>
            <a:r>
              <a:rPr kumimoji="1" lang="en-US" altLang="zh-CN" sz="2800" dirty="0" smtClean="0"/>
              <a:t>26</a:t>
            </a:r>
            <a:endParaRPr kumimoji="1" lang="en-US" altLang="zh-CN" sz="2800" dirty="0">
              <a:solidFill>
                <a:srgbClr val="3333FF"/>
              </a:solidFill>
            </a:endParaRPr>
          </a:p>
          <a:p>
            <a:pPr>
              <a:defRPr/>
            </a:pPr>
            <a:endParaRPr kumimoji="1" lang="en-US" altLang="zh-CN" sz="2800" dirty="0">
              <a:solidFill>
                <a:srgbClr val="3333FF"/>
              </a:solidFill>
              <a:ea typeface="宋体" pitchFamily="2" charset="-122"/>
            </a:endParaRPr>
          </a:p>
          <a:p>
            <a:endParaRPr lang="zh-CN" altLang="en-US" dirty="0"/>
          </a:p>
        </p:txBody>
      </p:sp>
    </p:spTree>
    <p:extLst>
      <p:ext uri="{BB962C8B-B14F-4D97-AF65-F5344CB8AC3E}">
        <p14:creationId xmlns:p14="http://schemas.microsoft.com/office/powerpoint/2010/main" val="2417378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Basic Structures: Sets, Functions, Sequences, Sums, </a:t>
            </a:r>
            <a:r>
              <a:rPr lang="en-US" smtClean="0"/>
              <a:t>and Matrices</a:t>
            </a:r>
            <a:endParaRPr lang="en-US" dirty="0"/>
          </a:p>
        </p:txBody>
      </p:sp>
      <p:sp>
        <p:nvSpPr>
          <p:cNvPr id="3" name="Subtitle 2"/>
          <p:cNvSpPr>
            <a:spLocks noGrp="1"/>
          </p:cNvSpPr>
          <p:nvPr>
            <p:ph type="subTitle" idx="1"/>
          </p:nvPr>
        </p:nvSpPr>
        <p:spPr/>
        <p:txBody>
          <a:bodyPr/>
          <a:lstStyle/>
          <a:p>
            <a:r>
              <a:rPr lang="en-US" smtClean="0"/>
              <a:t>Chapter 2 </a:t>
            </a:r>
            <a:endParaRPr lang="en-US" dirty="0"/>
          </a:p>
        </p:txBody>
      </p:sp>
    </p:spTree>
    <p:extLst>
      <p:ext uri="{BB962C8B-B14F-4D97-AF65-F5344CB8AC3E}">
        <p14:creationId xmlns:p14="http://schemas.microsoft.com/office/powerpoint/2010/main" val="264316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Summary</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Sets</a:t>
            </a:r>
            <a:r>
              <a:rPr lang="zh-CN" altLang="en-US" sz="2300" dirty="0" smtClean="0"/>
              <a:t>（集合）</a:t>
            </a:r>
            <a:endParaRPr lang="en-US" sz="2300" dirty="0" smtClean="0"/>
          </a:p>
          <a:p>
            <a:pPr lvl="1"/>
            <a:r>
              <a:rPr lang="en-US" dirty="0" smtClean="0"/>
              <a:t>The Language of Sets</a:t>
            </a:r>
          </a:p>
          <a:p>
            <a:pPr lvl="1"/>
            <a:r>
              <a:rPr lang="en-US" dirty="0" smtClean="0"/>
              <a:t>Set Operations</a:t>
            </a:r>
          </a:p>
          <a:p>
            <a:pPr lvl="1"/>
            <a:r>
              <a:rPr lang="en-US" dirty="0" smtClean="0"/>
              <a:t>Set Identities</a:t>
            </a:r>
          </a:p>
          <a:p>
            <a:r>
              <a:rPr lang="en-US" dirty="0" smtClean="0"/>
              <a:t>Functions</a:t>
            </a:r>
            <a:r>
              <a:rPr lang="zh-CN" altLang="en-US" sz="2300" dirty="0" smtClean="0"/>
              <a:t>（函数）</a:t>
            </a:r>
            <a:endParaRPr lang="en-US" sz="2300" dirty="0" smtClean="0"/>
          </a:p>
          <a:p>
            <a:pPr lvl="1"/>
            <a:r>
              <a:rPr lang="en-US" dirty="0" smtClean="0"/>
              <a:t>Types of Functions</a:t>
            </a:r>
          </a:p>
          <a:p>
            <a:pPr lvl="1"/>
            <a:r>
              <a:rPr lang="en-US" dirty="0" smtClean="0"/>
              <a:t>Operations on Functions</a:t>
            </a:r>
          </a:p>
          <a:p>
            <a:pPr lvl="1"/>
            <a:r>
              <a:rPr lang="en-US" dirty="0" smtClean="0"/>
              <a:t>Computability</a:t>
            </a:r>
          </a:p>
          <a:p>
            <a:r>
              <a:rPr lang="en-US" dirty="0" smtClean="0"/>
              <a:t>Sequences</a:t>
            </a:r>
            <a:r>
              <a:rPr lang="zh-CN" altLang="en-US" sz="2300" dirty="0" smtClean="0"/>
              <a:t>（序列）</a:t>
            </a:r>
            <a:r>
              <a:rPr lang="en-US" sz="2300" dirty="0" smtClean="0"/>
              <a:t> </a:t>
            </a:r>
            <a:r>
              <a:rPr lang="en-US" dirty="0" smtClean="0"/>
              <a:t>and Summations</a:t>
            </a:r>
            <a:r>
              <a:rPr lang="zh-CN" altLang="en-US" sz="2300" dirty="0" smtClean="0"/>
              <a:t>（求和）</a:t>
            </a:r>
            <a:endParaRPr lang="en-US" sz="2300" dirty="0" smtClean="0"/>
          </a:p>
          <a:p>
            <a:pPr lvl="1"/>
            <a:r>
              <a:rPr lang="en-US" dirty="0" smtClean="0"/>
              <a:t>Types of Sequences</a:t>
            </a:r>
          </a:p>
          <a:p>
            <a:pPr lvl="1"/>
            <a:r>
              <a:rPr lang="en-US" dirty="0" smtClean="0"/>
              <a:t>Summation Formulae</a:t>
            </a:r>
          </a:p>
          <a:p>
            <a:r>
              <a:rPr lang="en-US" dirty="0" smtClean="0"/>
              <a:t>Set Cardinality</a:t>
            </a:r>
            <a:r>
              <a:rPr lang="zh-CN" altLang="en-US" dirty="0" smtClean="0"/>
              <a:t>（基数）</a:t>
            </a:r>
            <a:endParaRPr lang="en-US" dirty="0" smtClean="0"/>
          </a:p>
          <a:p>
            <a:pPr lvl="1"/>
            <a:r>
              <a:rPr lang="en-US" dirty="0" smtClean="0"/>
              <a:t>Countable Sets</a:t>
            </a:r>
          </a:p>
          <a:p>
            <a:r>
              <a:rPr lang="en-US" dirty="0" smtClean="0"/>
              <a:t>Matrices</a:t>
            </a:r>
          </a:p>
          <a:p>
            <a:pPr lvl="1"/>
            <a:r>
              <a:rPr lang="en-US" dirty="0" smtClean="0"/>
              <a:t>Matrix Arithmetic</a:t>
            </a:r>
          </a:p>
          <a:p>
            <a:endParaRPr lang="en-US" dirty="0" smtClean="0"/>
          </a:p>
          <a:p>
            <a:pPr lvl="1">
              <a:buNone/>
            </a:pPr>
            <a:endParaRPr lang="en-US" dirty="0" smtClean="0"/>
          </a:p>
          <a:p>
            <a:endParaRPr lang="en-US" dirty="0"/>
          </a:p>
        </p:txBody>
      </p:sp>
    </p:spTree>
    <p:extLst>
      <p:ext uri="{BB962C8B-B14F-4D97-AF65-F5344CB8AC3E}">
        <p14:creationId xmlns:p14="http://schemas.microsoft.com/office/powerpoint/2010/main" val="38917333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Sets</a:t>
            </a:r>
            <a:endParaRPr lang="en-US" dirty="0"/>
          </a:p>
        </p:txBody>
      </p:sp>
      <p:sp>
        <p:nvSpPr>
          <p:cNvPr id="3" name="Subtitle 2"/>
          <p:cNvSpPr>
            <a:spLocks noGrp="1"/>
          </p:cNvSpPr>
          <p:nvPr>
            <p:ph type="subTitle" idx="1"/>
          </p:nvPr>
        </p:nvSpPr>
        <p:spPr/>
        <p:txBody>
          <a:bodyPr/>
          <a:lstStyle/>
          <a:p>
            <a:r>
              <a:rPr lang="en-US" dirty="0" smtClean="0"/>
              <a:t>Section 2.1</a:t>
            </a:r>
            <a:endParaRPr lang="en-US" dirty="0"/>
          </a:p>
        </p:txBody>
      </p:sp>
    </p:spTree>
    <p:extLst>
      <p:ext uri="{BB962C8B-B14F-4D97-AF65-F5344CB8AC3E}">
        <p14:creationId xmlns:p14="http://schemas.microsoft.com/office/powerpoint/2010/main" val="29920210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lnSpcReduction="10000"/>
          </a:bodyPr>
          <a:lstStyle/>
          <a:p>
            <a:r>
              <a:rPr lang="en-US" dirty="0" smtClean="0"/>
              <a:t>Definition of sets</a:t>
            </a:r>
          </a:p>
          <a:p>
            <a:r>
              <a:rPr lang="en-US" dirty="0" smtClean="0"/>
              <a:t>Describing Sets</a:t>
            </a:r>
          </a:p>
          <a:p>
            <a:pPr lvl="1"/>
            <a:r>
              <a:rPr lang="en-US" dirty="0" smtClean="0"/>
              <a:t>Roster Method</a:t>
            </a:r>
          </a:p>
          <a:p>
            <a:pPr lvl="1"/>
            <a:r>
              <a:rPr lang="en-US" dirty="0" smtClean="0"/>
              <a:t>Set-Builder Notation</a:t>
            </a:r>
          </a:p>
          <a:p>
            <a:r>
              <a:rPr lang="en-US" dirty="0" smtClean="0"/>
              <a:t>Some Important Sets in Mathematics</a:t>
            </a:r>
          </a:p>
          <a:p>
            <a:r>
              <a:rPr lang="en-US" dirty="0" smtClean="0"/>
              <a:t>Empty Set and Universal Set</a:t>
            </a:r>
          </a:p>
          <a:p>
            <a:r>
              <a:rPr lang="en-US" dirty="0" smtClean="0"/>
              <a:t>Subsets and Set Equality</a:t>
            </a:r>
          </a:p>
          <a:p>
            <a:r>
              <a:rPr lang="en-US" dirty="0" smtClean="0"/>
              <a:t>Cardinality of Sets</a:t>
            </a:r>
          </a:p>
          <a:p>
            <a:r>
              <a:rPr lang="en-US" dirty="0" err="1" smtClean="0"/>
              <a:t>Tuples</a:t>
            </a:r>
            <a:endParaRPr lang="en-US" dirty="0" smtClean="0"/>
          </a:p>
          <a:p>
            <a:r>
              <a:rPr lang="en-US" dirty="0" smtClean="0"/>
              <a:t>Cartesian Product</a:t>
            </a:r>
          </a:p>
        </p:txBody>
      </p:sp>
    </p:spTree>
    <p:extLst>
      <p:ext uri="{BB962C8B-B14F-4D97-AF65-F5344CB8AC3E}">
        <p14:creationId xmlns:p14="http://schemas.microsoft.com/office/powerpoint/2010/main" val="37446025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Sets are one of the basic building blocks for the types of objects considered in discrete mathematics.</a:t>
            </a:r>
          </a:p>
          <a:p>
            <a:pPr lvl="1"/>
            <a:r>
              <a:rPr lang="en-US" dirty="0" smtClean="0"/>
              <a:t>Important for counting.</a:t>
            </a:r>
          </a:p>
          <a:p>
            <a:pPr lvl="1"/>
            <a:r>
              <a:rPr lang="en-US" dirty="0" smtClean="0"/>
              <a:t>Programming languages have set operations.</a:t>
            </a:r>
          </a:p>
          <a:p>
            <a:r>
              <a:rPr lang="en-US" dirty="0" smtClean="0"/>
              <a:t>Set theory is an important branch of mathematics.</a:t>
            </a:r>
          </a:p>
          <a:p>
            <a:pPr lvl="1"/>
            <a:r>
              <a:rPr lang="en-US" dirty="0" smtClean="0"/>
              <a:t>Many different systems of axioms have been used to develop set theory.</a:t>
            </a:r>
          </a:p>
          <a:p>
            <a:pPr lvl="1"/>
            <a:r>
              <a:rPr lang="en-US" dirty="0" smtClean="0"/>
              <a:t>Here we are not concerned with a formal set of axioms for set theory. Instead, we will use what is called naïve set theory.</a:t>
            </a:r>
            <a:endParaRPr lang="en-US" dirty="0"/>
          </a:p>
        </p:txBody>
      </p:sp>
    </p:spTree>
    <p:extLst>
      <p:ext uri="{BB962C8B-B14F-4D97-AF65-F5344CB8AC3E}">
        <p14:creationId xmlns:p14="http://schemas.microsoft.com/office/powerpoint/2010/main" val="32817373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Sets</a:t>
            </a:r>
            <a:endParaRPr lang="en-US" dirty="0"/>
          </a:p>
        </p:txBody>
      </p:sp>
      <p:sp>
        <p:nvSpPr>
          <p:cNvPr id="3" name="Content Placeholder 2"/>
          <p:cNvSpPr>
            <a:spLocks noGrp="1"/>
          </p:cNvSpPr>
          <p:nvPr>
            <p:ph idx="1"/>
          </p:nvPr>
        </p:nvSpPr>
        <p:spPr/>
        <p:txBody>
          <a:bodyPr/>
          <a:lstStyle/>
          <a:p>
            <a:r>
              <a:rPr lang="en-US" dirty="0" smtClean="0"/>
              <a:t>A </a:t>
            </a:r>
            <a:r>
              <a:rPr lang="en-US" i="1" dirty="0" smtClean="0"/>
              <a:t>set</a:t>
            </a:r>
            <a:r>
              <a:rPr lang="en-US" dirty="0" smtClean="0"/>
              <a:t> is an unordered collection of objects.</a:t>
            </a:r>
          </a:p>
          <a:p>
            <a:pPr lvl="1"/>
            <a:r>
              <a:rPr lang="en-US" dirty="0" smtClean="0"/>
              <a:t> the students in this class</a:t>
            </a:r>
          </a:p>
          <a:p>
            <a:pPr lvl="1"/>
            <a:r>
              <a:rPr lang="en-US" dirty="0" smtClean="0"/>
              <a:t> the chairs in this room</a:t>
            </a:r>
          </a:p>
          <a:p>
            <a:r>
              <a:rPr lang="en-US" dirty="0" smtClean="0"/>
              <a:t>The objects in a set are called the </a:t>
            </a:r>
            <a:r>
              <a:rPr lang="en-US" i="1" dirty="0" smtClean="0"/>
              <a:t>elements</a:t>
            </a:r>
            <a:r>
              <a:rPr lang="en-US" dirty="0" smtClean="0"/>
              <a:t>, or </a:t>
            </a:r>
            <a:r>
              <a:rPr lang="en-US" i="1" dirty="0" smtClean="0"/>
              <a:t>members</a:t>
            </a:r>
            <a:r>
              <a:rPr lang="en-US" dirty="0" smtClean="0"/>
              <a:t> of the set. A set is said to </a:t>
            </a:r>
            <a:r>
              <a:rPr lang="en-US" i="1" dirty="0" smtClean="0"/>
              <a:t>contain</a:t>
            </a:r>
            <a:r>
              <a:rPr lang="en-US" dirty="0" smtClean="0"/>
              <a:t> its elements.</a:t>
            </a:r>
          </a:p>
          <a:p>
            <a:r>
              <a:rPr lang="en-US" dirty="0" smtClean="0"/>
              <a:t>The notation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t>denotes that </a:t>
            </a:r>
            <a:r>
              <a:rPr lang="en-US" i="1" dirty="0" smtClean="0">
                <a:latin typeface="Cambria Math" pitchFamily="18" charset="0"/>
                <a:ea typeface="Cambria Math" pitchFamily="18" charset="0"/>
              </a:rPr>
              <a:t>a</a:t>
            </a:r>
            <a:r>
              <a:rPr lang="en-US" dirty="0" smtClean="0"/>
              <a:t> is an element of the set </a:t>
            </a:r>
            <a:r>
              <a:rPr lang="en-US" i="1" dirty="0" smtClean="0">
                <a:latin typeface="Cambria Math" pitchFamily="18" charset="0"/>
                <a:ea typeface="Cambria Math" pitchFamily="18" charset="0"/>
              </a:rPr>
              <a:t>A</a:t>
            </a:r>
            <a:r>
              <a:rPr lang="en-US" dirty="0" smtClean="0"/>
              <a:t>.</a:t>
            </a:r>
          </a:p>
          <a:p>
            <a:r>
              <a:rPr lang="en-US" dirty="0" smtClean="0"/>
              <a:t>If </a:t>
            </a:r>
            <a:r>
              <a:rPr lang="en-US" i="1" dirty="0" smtClean="0">
                <a:latin typeface="Cambria Math" pitchFamily="18" charset="0"/>
                <a:ea typeface="Cambria Math" pitchFamily="18" charset="0"/>
              </a:rPr>
              <a:t>a</a:t>
            </a:r>
            <a:r>
              <a:rPr lang="en-US" dirty="0" smtClean="0"/>
              <a:t> is not a member of </a:t>
            </a:r>
            <a:r>
              <a:rPr lang="en-US" i="1" dirty="0" smtClean="0">
                <a:latin typeface="Cambria Math" pitchFamily="18" charset="0"/>
                <a:ea typeface="Cambria Math" pitchFamily="18" charset="0"/>
              </a:rPr>
              <a:t>A</a:t>
            </a:r>
            <a:r>
              <a:rPr lang="en-US" dirty="0" smtClean="0"/>
              <a:t>, write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endParaRPr lang="en-US" dirty="0"/>
          </a:p>
        </p:txBody>
      </p:sp>
    </p:spTree>
    <p:extLst>
      <p:ext uri="{BB962C8B-B14F-4D97-AF65-F5344CB8AC3E}">
        <p14:creationId xmlns:p14="http://schemas.microsoft.com/office/powerpoint/2010/main" val="40189683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Describing a Set: Roster Method</a:t>
            </a:r>
            <a:endParaRPr lang="en-US" dirty="0"/>
          </a:p>
        </p:txBody>
      </p:sp>
      <p:sp>
        <p:nvSpPr>
          <p:cNvPr id="3" name="Content Placeholder 2"/>
          <p:cNvSpPr>
            <a:spLocks noGrp="1"/>
          </p:cNvSpPr>
          <p:nvPr>
            <p:ph idx="1"/>
          </p:nvPr>
        </p:nvSpPr>
        <p:spPr/>
        <p:txBody>
          <a:bodyPr/>
          <a:lstStyle/>
          <a:p>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a,b,c,d</a:t>
            </a:r>
            <a:r>
              <a:rPr lang="en-US" dirty="0" smtClean="0">
                <a:latin typeface="Cambria Math" pitchFamily="18" charset="0"/>
                <a:ea typeface="Cambria Math" pitchFamily="18" charset="0"/>
              </a:rPr>
              <a:t>}</a:t>
            </a:r>
          </a:p>
          <a:p>
            <a:r>
              <a:rPr lang="en-US" dirty="0" smtClean="0"/>
              <a:t>Order not important </a:t>
            </a:r>
          </a:p>
          <a:p>
            <a:pPr>
              <a:buNone/>
            </a:pPr>
            <a:r>
              <a:rPr lang="en-US" dirty="0" smtClean="0"/>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a,b,c,d</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b,c,a,d</a:t>
            </a:r>
            <a:r>
              <a:rPr lang="en-US" dirty="0" smtClean="0">
                <a:latin typeface="Cambria Math" pitchFamily="18" charset="0"/>
                <a:ea typeface="Cambria Math" pitchFamily="18" charset="0"/>
              </a:rPr>
              <a:t>}</a:t>
            </a:r>
          </a:p>
          <a:p>
            <a:r>
              <a:rPr lang="en-US" dirty="0" smtClean="0"/>
              <a:t>Each distinct object is either a member or not; listing more than once does not change the set.</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a,b,c,d</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a,b,c,b,c,d</a:t>
            </a:r>
            <a:r>
              <a:rPr lang="en-US" dirty="0" smtClean="0">
                <a:latin typeface="Cambria Math" pitchFamily="18" charset="0"/>
                <a:ea typeface="Cambria Math" pitchFamily="18" charset="0"/>
              </a:rPr>
              <a:t>}</a:t>
            </a:r>
          </a:p>
          <a:p>
            <a:r>
              <a:rPr lang="en-US" dirty="0" err="1" smtClean="0">
                <a:latin typeface="Cambria Math" pitchFamily="18" charset="0"/>
                <a:ea typeface="Cambria Math" pitchFamily="18" charset="0"/>
              </a:rPr>
              <a:t>Elipses</a:t>
            </a:r>
            <a:r>
              <a:rPr lang="en-US" dirty="0" smtClean="0">
                <a:latin typeface="Cambria Math" pitchFamily="18" charset="0"/>
                <a:ea typeface="Cambria Math" pitchFamily="18" charset="0"/>
              </a:rPr>
              <a:t> (…) may be used to describe a set without listing all of the members when the pattern is clear.</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a,b,c,d</a:t>
            </a:r>
            <a:r>
              <a:rPr lang="en-US" i="1" dirty="0" smtClean="0">
                <a:latin typeface="Cambria Math" pitchFamily="18" charset="0"/>
                <a:ea typeface="Cambria Math" pitchFamily="18" charset="0"/>
              </a:rPr>
              <a:t>, ……,z </a:t>
            </a:r>
            <a:r>
              <a:rPr lang="en-US" dirty="0" smtClean="0">
                <a:latin typeface="Cambria Math" pitchFamily="18" charset="0"/>
                <a:ea typeface="Cambria Math" pitchFamily="18" charset="0"/>
              </a:rPr>
              <a:t>}</a:t>
            </a:r>
          </a:p>
          <a:p>
            <a:pPr>
              <a:buNone/>
            </a:pPr>
            <a:endParaRPr lang="en-US" dirty="0">
              <a:latin typeface="Cambria Math" pitchFamily="18" charset="0"/>
              <a:ea typeface="Cambria Math" pitchFamily="18" charset="0"/>
            </a:endParaRPr>
          </a:p>
        </p:txBody>
      </p:sp>
    </p:spTree>
    <p:extLst>
      <p:ext uri="{BB962C8B-B14F-4D97-AF65-F5344CB8AC3E}">
        <p14:creationId xmlns:p14="http://schemas.microsoft.com/office/powerpoint/2010/main" val="32127600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Roster Method</a:t>
            </a:r>
            <a:endParaRPr lang="en-US" dirty="0"/>
          </a:p>
        </p:txBody>
      </p:sp>
      <p:sp>
        <p:nvSpPr>
          <p:cNvPr id="3" name="Content Placeholder 2"/>
          <p:cNvSpPr>
            <a:spLocks noGrp="1"/>
          </p:cNvSpPr>
          <p:nvPr>
            <p:ph idx="1"/>
          </p:nvPr>
        </p:nvSpPr>
        <p:spPr/>
        <p:txBody>
          <a:bodyPr>
            <a:normAutofit/>
          </a:bodyPr>
          <a:lstStyle/>
          <a:p>
            <a:r>
              <a:rPr lang="en-US" dirty="0" smtClean="0"/>
              <a:t>Set of all vowels in the English alphabet:</a:t>
            </a:r>
          </a:p>
          <a:p>
            <a:pPr>
              <a:buNone/>
            </a:pPr>
            <a:r>
              <a:rPr lang="en-US" dirty="0" smtClean="0"/>
              <a:t>              </a:t>
            </a:r>
            <a:r>
              <a:rPr lang="en-US" i="1" dirty="0" smtClean="0">
                <a:latin typeface="Cambria Math" pitchFamily="18" charset="0"/>
                <a:ea typeface="Cambria Math" pitchFamily="18" charset="0"/>
              </a:rPr>
              <a:t>V</a:t>
            </a:r>
            <a:r>
              <a:rPr lang="en-US" dirty="0" smtClean="0">
                <a:latin typeface="Cambria Math" pitchFamily="18" charset="0"/>
                <a:ea typeface="Cambria Math" pitchFamily="18" charset="0"/>
              </a:rPr>
              <a:t> = {</a:t>
            </a:r>
            <a:r>
              <a:rPr lang="en-US" dirty="0" err="1" smtClean="0">
                <a:latin typeface="Cambria Math" pitchFamily="18" charset="0"/>
                <a:ea typeface="Cambria Math" pitchFamily="18" charset="0"/>
              </a:rPr>
              <a:t>a,e,i,o,u</a:t>
            </a:r>
            <a:r>
              <a:rPr lang="en-US" dirty="0" smtClean="0">
                <a:latin typeface="Cambria Math" pitchFamily="18" charset="0"/>
                <a:ea typeface="Cambria Math" pitchFamily="18" charset="0"/>
              </a:rPr>
              <a:t>}</a:t>
            </a:r>
          </a:p>
          <a:p>
            <a:r>
              <a:rPr lang="en-US" dirty="0" smtClean="0"/>
              <a:t>Set of all  odd positive integers less than </a:t>
            </a:r>
            <a:r>
              <a:rPr lang="en-US" dirty="0" smtClean="0">
                <a:latin typeface="Cambria Math" pitchFamily="18" charset="0"/>
                <a:ea typeface="Cambria Math" pitchFamily="18" charset="0"/>
              </a:rPr>
              <a:t>10</a:t>
            </a:r>
            <a:r>
              <a:rPr lang="en-US" dirty="0" smtClean="0"/>
              <a:t>:</a:t>
            </a:r>
          </a:p>
          <a:p>
            <a:pPr>
              <a:buNone/>
            </a:pPr>
            <a:r>
              <a:rPr lang="en-US" dirty="0" smtClean="0"/>
              <a:t>             </a:t>
            </a:r>
            <a:r>
              <a:rPr lang="en-US" i="1" dirty="0" smtClean="0">
                <a:latin typeface="Cambria Math" pitchFamily="18" charset="0"/>
                <a:ea typeface="Cambria Math" pitchFamily="18" charset="0"/>
              </a:rPr>
              <a:t>O</a:t>
            </a:r>
            <a:r>
              <a:rPr lang="en-US" dirty="0" smtClean="0">
                <a:latin typeface="Cambria Math" pitchFamily="18" charset="0"/>
                <a:ea typeface="Cambria Math" pitchFamily="18" charset="0"/>
              </a:rPr>
              <a:t> = {1,3,5,7,9}</a:t>
            </a:r>
          </a:p>
          <a:p>
            <a:r>
              <a:rPr lang="en-US" dirty="0" smtClean="0"/>
              <a:t>Set of all positive integers less than </a:t>
            </a:r>
            <a:r>
              <a:rPr lang="en-US" dirty="0" smtClean="0">
                <a:latin typeface="Cambria Math" pitchFamily="18" charset="0"/>
                <a:ea typeface="Cambria Math" pitchFamily="18" charset="0"/>
              </a:rPr>
              <a:t>100</a:t>
            </a:r>
            <a:r>
              <a:rPr lang="en-US" dirty="0" smtClean="0"/>
              <a:t>:</a:t>
            </a:r>
          </a:p>
          <a:p>
            <a:pPr>
              <a:buNone/>
            </a:pPr>
            <a:r>
              <a:rPr lang="en-US" dirty="0" smtClean="0"/>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{1,2,3,……..,99}</a:t>
            </a:r>
          </a:p>
          <a:p>
            <a:pPr marL="514350" indent="-514350"/>
            <a:r>
              <a:rPr lang="en-US" dirty="0" smtClean="0">
                <a:latin typeface="Cambria Math" pitchFamily="18" charset="0"/>
                <a:ea typeface="Cambria Math" pitchFamily="18" charset="0"/>
              </a:rPr>
              <a:t>Set of all integers less than 0:</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 -3,-2,-1}</a:t>
            </a:r>
            <a:endParaRPr lang="en-US" dirty="0">
              <a:latin typeface="Cambria Math" pitchFamily="18" charset="0"/>
              <a:ea typeface="Cambria Math" pitchFamily="18" charset="0"/>
            </a:endParaRPr>
          </a:p>
        </p:txBody>
      </p:sp>
    </p:spTree>
    <p:extLst>
      <p:ext uri="{BB962C8B-B14F-4D97-AF65-F5344CB8AC3E}">
        <p14:creationId xmlns:p14="http://schemas.microsoft.com/office/powerpoint/2010/main" val="37668387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Some Important Sets</a:t>
            </a:r>
            <a:endParaRPr lang="en-US" dirty="0"/>
          </a:p>
        </p:txBody>
      </p:sp>
      <p:sp>
        <p:nvSpPr>
          <p:cNvPr id="3" name="Content Placeholder 2"/>
          <p:cNvSpPr>
            <a:spLocks noGrp="1"/>
          </p:cNvSpPr>
          <p:nvPr>
            <p:ph idx="1"/>
          </p:nvPr>
        </p:nvSpPr>
        <p:spPr/>
        <p:txBody>
          <a:bodyPr/>
          <a:lstStyle/>
          <a:p>
            <a:pPr>
              <a:buNone/>
            </a:pPr>
            <a:r>
              <a:rPr lang="en-US" b="1" dirty="0" smtClean="0">
                <a:latin typeface="Cambria Math" pitchFamily="18" charset="0"/>
                <a:ea typeface="Cambria Math" pitchFamily="18" charset="0"/>
              </a:rPr>
              <a:t>N</a:t>
            </a:r>
            <a:r>
              <a:rPr lang="en-US" dirty="0" smtClean="0"/>
              <a:t> = </a:t>
            </a:r>
            <a:r>
              <a:rPr lang="en-US" i="1" dirty="0" smtClean="0"/>
              <a:t>natural numbers </a:t>
            </a:r>
            <a:r>
              <a:rPr lang="en-US" dirty="0" smtClean="0"/>
              <a:t>= </a:t>
            </a:r>
            <a:r>
              <a:rPr lang="en-US" dirty="0" smtClean="0">
                <a:latin typeface="Cambria Math" pitchFamily="18" charset="0"/>
                <a:ea typeface="Cambria Math" pitchFamily="18" charset="0"/>
              </a:rPr>
              <a:t>{0,1,2,3….}</a:t>
            </a:r>
          </a:p>
          <a:p>
            <a:pPr>
              <a:buNone/>
            </a:pPr>
            <a:r>
              <a:rPr lang="en-US" b="1" dirty="0" smtClean="0">
                <a:latin typeface="Cambria Math" pitchFamily="18" charset="0"/>
                <a:ea typeface="Cambria Math" pitchFamily="18" charset="0"/>
              </a:rPr>
              <a:t>Z</a:t>
            </a:r>
            <a:r>
              <a:rPr lang="en-US" dirty="0" smtClean="0"/>
              <a:t> = </a:t>
            </a:r>
            <a:r>
              <a:rPr lang="en-US" i="1" dirty="0" smtClean="0"/>
              <a:t>integers</a:t>
            </a:r>
            <a:r>
              <a:rPr lang="en-US" dirty="0" smtClean="0"/>
              <a:t> = </a:t>
            </a:r>
            <a:r>
              <a:rPr lang="en-US" dirty="0" smtClean="0">
                <a:latin typeface="Cambria Math" pitchFamily="18" charset="0"/>
                <a:ea typeface="Cambria Math" pitchFamily="18" charset="0"/>
              </a:rPr>
              <a:t>{…,-3,-2,-1,0,1,2,3,…}</a:t>
            </a:r>
          </a:p>
          <a:p>
            <a:pPr>
              <a:buNone/>
            </a:pPr>
            <a:r>
              <a:rPr lang="en-US" b="1" dirty="0" smtClean="0">
                <a:latin typeface="Cambria Math" pitchFamily="18" charset="0"/>
                <a:ea typeface="Cambria Math" pitchFamily="18" charset="0"/>
              </a:rPr>
              <a:t>Z⁺</a:t>
            </a:r>
            <a:r>
              <a:rPr lang="en-US" dirty="0" smtClean="0"/>
              <a:t> = </a:t>
            </a:r>
            <a:r>
              <a:rPr lang="en-US" i="1" dirty="0" smtClean="0"/>
              <a:t>positive integers </a:t>
            </a:r>
            <a:r>
              <a:rPr lang="en-US" dirty="0" smtClean="0"/>
              <a:t>= </a:t>
            </a:r>
            <a:r>
              <a:rPr lang="en-US" dirty="0" smtClean="0">
                <a:latin typeface="Cambria Math" pitchFamily="18" charset="0"/>
                <a:ea typeface="Cambria Math" pitchFamily="18" charset="0"/>
              </a:rPr>
              <a:t>{1,2,3,…..}</a:t>
            </a:r>
          </a:p>
          <a:p>
            <a:pPr>
              <a:buNone/>
            </a:pPr>
            <a:r>
              <a:rPr lang="en-US" b="1" dirty="0" smtClean="0">
                <a:latin typeface="Cambria Math" pitchFamily="18" charset="0"/>
                <a:ea typeface="Cambria Math" pitchFamily="18" charset="0"/>
              </a:rPr>
              <a:t>R</a:t>
            </a:r>
            <a:r>
              <a:rPr lang="en-US" dirty="0" smtClean="0"/>
              <a:t> = set of </a:t>
            </a:r>
            <a:r>
              <a:rPr lang="en-US" i="1" dirty="0" smtClean="0"/>
              <a:t>real numbers</a:t>
            </a:r>
          </a:p>
          <a:p>
            <a:pPr>
              <a:buNone/>
            </a:pPr>
            <a:r>
              <a:rPr lang="en-US" b="1" dirty="0" smtClean="0">
                <a:latin typeface="Cambria Math" pitchFamily="18" charset="0"/>
                <a:ea typeface="Cambria Math" pitchFamily="18" charset="0"/>
              </a:rPr>
              <a:t>R</a:t>
            </a:r>
            <a:r>
              <a:rPr lang="en-US" b="1" baseline="30000" dirty="0" smtClean="0">
                <a:latin typeface="Cambria Math" pitchFamily="18" charset="0"/>
                <a:ea typeface="Cambria Math" pitchFamily="18" charset="0"/>
              </a:rPr>
              <a:t>+</a:t>
            </a:r>
            <a:r>
              <a:rPr lang="en-US" dirty="0" smtClean="0"/>
              <a:t> = set of </a:t>
            </a:r>
            <a:r>
              <a:rPr lang="en-US" i="1" dirty="0" smtClean="0"/>
              <a:t>positive real numbers</a:t>
            </a:r>
          </a:p>
          <a:p>
            <a:pPr>
              <a:buNone/>
            </a:pPr>
            <a:r>
              <a:rPr lang="en-US" b="1" dirty="0" smtClean="0">
                <a:latin typeface="Cambria Math" pitchFamily="18" charset="0"/>
                <a:ea typeface="Cambria Math" pitchFamily="18" charset="0"/>
              </a:rPr>
              <a:t>C</a:t>
            </a:r>
            <a:r>
              <a:rPr lang="en-US" dirty="0" smtClean="0"/>
              <a:t> =  set of </a:t>
            </a:r>
            <a:r>
              <a:rPr lang="en-US" i="1" dirty="0" smtClean="0"/>
              <a:t>complex numbers</a:t>
            </a:r>
            <a:r>
              <a:rPr lang="en-US" dirty="0" smtClean="0"/>
              <a:t>.</a:t>
            </a:r>
          </a:p>
          <a:p>
            <a:pPr>
              <a:buNone/>
            </a:pPr>
            <a:r>
              <a:rPr lang="en-US" b="1" dirty="0" smtClean="0"/>
              <a:t>Q</a:t>
            </a:r>
            <a:r>
              <a:rPr lang="en-US" dirty="0" smtClean="0"/>
              <a:t> = set of rational numbers</a:t>
            </a:r>
          </a:p>
          <a:p>
            <a:endParaRPr lang="en-US" dirty="0">
              <a:latin typeface="Cambria Math" pitchFamily="18" charset="0"/>
              <a:ea typeface="Cambria Math" pitchFamily="18" charset="0"/>
            </a:endParaRPr>
          </a:p>
        </p:txBody>
      </p:sp>
    </p:spTree>
    <p:extLst>
      <p:ext uri="{BB962C8B-B14F-4D97-AF65-F5344CB8AC3E}">
        <p14:creationId xmlns:p14="http://schemas.microsoft.com/office/powerpoint/2010/main" val="4880287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Set-Builder Notation</a:t>
            </a:r>
            <a:endParaRPr lang="en-US" dirty="0"/>
          </a:p>
        </p:txBody>
      </p:sp>
      <p:sp>
        <p:nvSpPr>
          <p:cNvPr id="3" name="Content Placeholder 2"/>
          <p:cNvSpPr>
            <a:spLocks noGrp="1"/>
          </p:cNvSpPr>
          <p:nvPr>
            <p:ph idx="1"/>
          </p:nvPr>
        </p:nvSpPr>
        <p:spPr/>
        <p:txBody>
          <a:bodyPr>
            <a:normAutofit lnSpcReduction="10000"/>
          </a:bodyPr>
          <a:lstStyle/>
          <a:p>
            <a:r>
              <a:rPr lang="en-US" dirty="0" smtClean="0"/>
              <a:t>Specify the property or properties that all members must satisfy:</a:t>
            </a:r>
          </a:p>
          <a:p>
            <a:pPr>
              <a:buNone/>
            </a:pPr>
            <a:r>
              <a:rPr lang="en-US" dirty="0" smtClean="0"/>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 </a:t>
            </a:r>
            <a:r>
              <a:rPr lang="en-US" i="1" dirty="0" smtClean="0">
                <a:ea typeface="Cambria Math" pitchFamily="18" charset="0"/>
              </a:rPr>
              <a:t>x</a:t>
            </a:r>
            <a:r>
              <a:rPr lang="en-US" dirty="0" smtClean="0">
                <a:latin typeface="Cambria Math" pitchFamily="18" charset="0"/>
                <a:ea typeface="Cambria Math" pitchFamily="18" charset="0"/>
              </a:rPr>
              <a:t> is a positive integer less than 100}</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O</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is an odd positive integer less than 10}</a:t>
            </a:r>
          </a:p>
          <a:p>
            <a:pPr>
              <a:buNone/>
            </a:pPr>
            <a:r>
              <a:rPr lang="en-US" b="1" dirty="0" smtClean="0">
                <a:latin typeface="Cambria Math" pitchFamily="18" charset="0"/>
                <a:ea typeface="Cambria Math" pitchFamily="18" charset="0"/>
              </a:rPr>
              <a:t>     </a:t>
            </a:r>
            <a:r>
              <a:rPr lang="en-US" i="1" dirty="0" smtClean="0">
                <a:latin typeface="Cambria Math" pitchFamily="18" charset="0"/>
                <a:ea typeface="Cambria Math" pitchFamily="18" charset="0"/>
              </a:rPr>
              <a:t>O</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 Z⁺</a:t>
            </a:r>
            <a:r>
              <a:rPr lang="en-US" dirty="0" smtClean="0">
                <a:latin typeface="Cambria Math" pitchFamily="18" charset="0"/>
                <a:ea typeface="Cambria Math" pitchFamily="18" charset="0"/>
              </a:rPr>
              <a:t> | </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is odd and </a:t>
            </a:r>
            <a:r>
              <a:rPr lang="en-US" i="1" dirty="0" smtClean="0">
                <a:ea typeface="Cambria Math" pitchFamily="18" charset="0"/>
              </a:rPr>
              <a:t>x</a:t>
            </a:r>
            <a:r>
              <a:rPr lang="en-US" dirty="0" smtClean="0">
                <a:latin typeface="Cambria Math" pitchFamily="18" charset="0"/>
                <a:ea typeface="Cambria Math" pitchFamily="18" charset="0"/>
              </a:rPr>
              <a:t> &lt; 10}</a:t>
            </a:r>
          </a:p>
          <a:p>
            <a:r>
              <a:rPr lang="en-US" dirty="0" smtClean="0"/>
              <a:t>A predicate may be used: </a:t>
            </a:r>
          </a:p>
          <a:p>
            <a:pPr>
              <a:buNone/>
            </a:pPr>
            <a:r>
              <a:rPr lang="en-US" dirty="0" smtClean="0"/>
              <a:t>                 </a:t>
            </a:r>
            <a:r>
              <a:rPr lang="en-US" i="1" dirty="0" smtClean="0">
                <a:latin typeface="Cambria Math" pitchFamily="18" charset="0"/>
                <a:ea typeface="Cambria Math" pitchFamily="18" charset="0"/>
              </a:rPr>
              <a:t>S</a:t>
            </a:r>
            <a:r>
              <a:rPr lang="en-US" b="1" i="1" dirty="0" smtClean="0">
                <a:latin typeface="Cambria Math" pitchFamily="18" charset="0"/>
                <a:ea typeface="Cambria Math" pitchFamily="18" charset="0"/>
              </a:rPr>
              <a:t>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 P(</a:t>
            </a:r>
            <a:r>
              <a:rPr lang="en-US" i="1" dirty="0" smtClean="0">
                <a:ea typeface="Cambria Math" pitchFamily="18" charset="0"/>
              </a:rPr>
              <a:t>x</a:t>
            </a:r>
            <a:r>
              <a:rPr lang="en-US" dirty="0" smtClean="0">
                <a:latin typeface="Cambria Math" pitchFamily="18" charset="0"/>
                <a:ea typeface="Cambria Math" pitchFamily="18" charset="0"/>
              </a:rPr>
              <a:t>)}</a:t>
            </a:r>
          </a:p>
          <a:p>
            <a:r>
              <a:rPr lang="en-US" dirty="0" smtClean="0"/>
              <a:t>Example: </a:t>
            </a:r>
            <a:r>
              <a:rPr lang="en-US" i="1" dirty="0" smtClean="0">
                <a:latin typeface="Cambria Math" pitchFamily="18" charset="0"/>
                <a:ea typeface="Cambria Math" pitchFamily="18" charset="0"/>
              </a:rPr>
              <a:t>S</a:t>
            </a:r>
            <a:r>
              <a:rPr lang="en-US" b="1" i="1" dirty="0" smtClean="0">
                <a:latin typeface="Cambria Math" pitchFamily="18" charset="0"/>
                <a:ea typeface="Cambria Math" pitchFamily="18" charset="0"/>
              </a:rPr>
              <a:t>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Prime(</a:t>
            </a:r>
            <a:r>
              <a:rPr lang="en-US" i="1" dirty="0" smtClean="0">
                <a:ea typeface="Cambria Math" pitchFamily="18" charset="0"/>
              </a:rPr>
              <a:t>x</a:t>
            </a:r>
            <a:r>
              <a:rPr lang="en-US" dirty="0" smtClean="0">
                <a:latin typeface="Cambria Math" pitchFamily="18" charset="0"/>
                <a:ea typeface="Cambria Math" pitchFamily="18" charset="0"/>
              </a:rPr>
              <a:t>)}</a:t>
            </a:r>
          </a:p>
          <a:p>
            <a:r>
              <a:rPr lang="en-US" dirty="0" smtClean="0">
                <a:ea typeface="Cambria Math" pitchFamily="18" charset="0"/>
              </a:rPr>
              <a:t>Positive rational numbers</a:t>
            </a:r>
            <a:r>
              <a:rPr lang="en-US" i="1" dirty="0" smtClean="0">
                <a:ea typeface="Cambria Math" pitchFamily="18" charset="0"/>
              </a:rPr>
              <a:t>:</a:t>
            </a:r>
          </a:p>
          <a:p>
            <a:pPr>
              <a:buNone/>
            </a:pPr>
            <a:r>
              <a:rPr lang="en-US" i="1" dirty="0" smtClean="0">
                <a:ea typeface="Cambria Math" pitchFamily="18" charset="0"/>
              </a:rPr>
              <a:t>        </a:t>
            </a:r>
            <a:r>
              <a:rPr lang="en-US" b="1" dirty="0" smtClean="0">
                <a:latin typeface="Cambria Math" pitchFamily="18" charset="0"/>
                <a:ea typeface="Cambria Math" pitchFamily="18" charset="0"/>
              </a:rPr>
              <a:t>Q</a:t>
            </a:r>
            <a:r>
              <a:rPr lang="en-US" b="1" baseline="30000" dirty="0" smtClean="0">
                <a:latin typeface="Cambria Math" pitchFamily="18" charset="0"/>
                <a:ea typeface="Cambria Math" pitchFamily="18" charset="0"/>
              </a:rPr>
              <a:t>+</a:t>
            </a:r>
            <a:r>
              <a:rPr lang="en-US" baseline="30000" dirty="0" smtClean="0">
                <a:latin typeface="Cambria Math" pitchFamily="18" charset="0"/>
                <a:ea typeface="Cambria Math" pitchFamily="18" charset="0"/>
              </a:rPr>
              <a:t> </a:t>
            </a:r>
            <a:r>
              <a:rPr lang="en-US" dirty="0" smtClean="0">
                <a:latin typeface="Cambria Math" pitchFamily="18" charset="0"/>
                <a:ea typeface="Cambria Math" pitchFamily="18" charset="0"/>
              </a:rPr>
              <a:t>= {</a:t>
            </a:r>
            <a:r>
              <a:rPr lang="en-US" i="1" dirty="0" smtClean="0">
                <a:ea typeface="Cambria Math" pitchFamily="18" charset="0"/>
              </a:rPr>
              <a:t>x</a:t>
            </a:r>
            <a:r>
              <a:rPr lang="en-US" dirty="0" smtClean="0">
                <a:latin typeface="Cambria Math" pitchFamily="18" charset="0"/>
                <a:ea typeface="Cambria Math" pitchFamily="18" charset="0"/>
              </a:rPr>
              <a:t> ∈ </a:t>
            </a:r>
            <a:r>
              <a:rPr lang="en-US" b="1" dirty="0" smtClean="0">
                <a:ea typeface="Cambria Math" pitchFamily="18" charset="0"/>
              </a:rPr>
              <a:t>R</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p</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q</a:t>
            </a:r>
            <a:r>
              <a:rPr lang="en-US" dirty="0" smtClean="0">
                <a:latin typeface="Cambria Math" pitchFamily="18" charset="0"/>
                <a:ea typeface="Cambria Math" pitchFamily="18" charset="0"/>
              </a:rPr>
              <a:t>, for some positive integers </a:t>
            </a:r>
            <a:r>
              <a:rPr lang="en-US" i="1" dirty="0" err="1" smtClean="0">
                <a:latin typeface="Cambria Math" pitchFamily="18" charset="0"/>
                <a:ea typeface="Cambria Math" pitchFamily="18" charset="0"/>
              </a:rPr>
              <a:t>p</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q</a:t>
            </a:r>
            <a:r>
              <a:rPr lang="en-US" dirty="0" smtClean="0">
                <a:latin typeface="Cambria Math" pitchFamily="18" charset="0"/>
                <a:ea typeface="Cambria Math" pitchFamily="18" charset="0"/>
              </a:rPr>
              <a:t>}</a:t>
            </a:r>
          </a:p>
          <a:p>
            <a:endParaRPr lang="en-US" i="1" dirty="0" smtClean="0">
              <a:latin typeface="Cambria Math" pitchFamily="18" charset="0"/>
              <a:ea typeface="Cambria Math" pitchFamily="18" charset="0"/>
            </a:endParaRPr>
          </a:p>
          <a:p>
            <a:pPr>
              <a:buNone/>
            </a:pPr>
            <a:endParaRPr lang="en-US" dirty="0" smtClean="0"/>
          </a:p>
        </p:txBody>
      </p:sp>
    </p:spTree>
    <p:extLst>
      <p:ext uri="{BB962C8B-B14F-4D97-AF65-F5344CB8AC3E}">
        <p14:creationId xmlns:p14="http://schemas.microsoft.com/office/powerpoint/2010/main" val="36176472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Interval Notation</a:t>
            </a:r>
            <a:endParaRPr lang="en-US" dirty="0"/>
          </a:p>
        </p:txBody>
      </p:sp>
      <p:sp>
        <p:nvSpPr>
          <p:cNvPr id="3" name="Content Placeholder 2"/>
          <p:cNvSpPr>
            <a:spLocks noGrp="1"/>
          </p:cNvSpPr>
          <p:nvPr>
            <p:ph idx="1"/>
          </p:nvPr>
        </p:nvSpPr>
        <p:spPr/>
        <p:txBody>
          <a:bodyPr/>
          <a:lstStyle/>
          <a:p>
            <a:pPr>
              <a:buNone/>
            </a:pPr>
            <a:endParaRPr lang="en-US" dirty="0" smtClean="0"/>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 </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b</a:t>
            </a:r>
            <a:r>
              <a:rPr lang="en-US" dirty="0" smtClean="0">
                <a:latin typeface="Cambria Math"/>
                <a:ea typeface="Cambria Math"/>
              </a:rPr>
              <a:t>}</a:t>
            </a:r>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 </a:t>
            </a:r>
            <a:r>
              <a:rPr lang="en-US" i="1" dirty="0" smtClean="0">
                <a:latin typeface="Cambria Math"/>
                <a:ea typeface="Cambria Math"/>
              </a:rPr>
              <a:t>x</a:t>
            </a:r>
            <a:r>
              <a:rPr lang="en-US" dirty="0" smtClean="0">
                <a:latin typeface="Cambria Math"/>
                <a:ea typeface="Cambria Math"/>
              </a:rPr>
              <a:t> &lt; </a:t>
            </a:r>
            <a:r>
              <a:rPr lang="en-US" i="1" dirty="0" smtClean="0">
                <a:latin typeface="Cambria Math"/>
                <a:ea typeface="Cambria Math"/>
              </a:rPr>
              <a:t>b</a:t>
            </a:r>
            <a:r>
              <a:rPr lang="en-US" dirty="0" smtClean="0">
                <a:latin typeface="Cambria Math"/>
                <a:ea typeface="Cambria Math"/>
              </a:rPr>
              <a:t>}  </a:t>
            </a:r>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&lt; </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b</a:t>
            </a:r>
            <a:r>
              <a:rPr lang="en-US" dirty="0" smtClean="0">
                <a:latin typeface="Cambria Math"/>
                <a:ea typeface="Cambria Math"/>
              </a:rPr>
              <a:t>}</a:t>
            </a:r>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&lt; </a:t>
            </a:r>
            <a:r>
              <a:rPr lang="en-US" i="1" dirty="0" smtClean="0">
                <a:latin typeface="Cambria Math"/>
                <a:ea typeface="Cambria Math"/>
              </a:rPr>
              <a:t>x</a:t>
            </a:r>
            <a:r>
              <a:rPr lang="en-US" dirty="0" smtClean="0">
                <a:latin typeface="Cambria Math"/>
                <a:ea typeface="Cambria Math"/>
              </a:rPr>
              <a:t> &lt; </a:t>
            </a:r>
            <a:r>
              <a:rPr lang="en-US" i="1" dirty="0" smtClean="0">
                <a:latin typeface="Cambria Math"/>
                <a:ea typeface="Cambria Math"/>
              </a:rPr>
              <a:t>b</a:t>
            </a:r>
            <a:r>
              <a:rPr lang="en-US" dirty="0" smtClean="0">
                <a:latin typeface="Cambria Math"/>
                <a:ea typeface="Cambria Math"/>
              </a:rPr>
              <a:t>}</a:t>
            </a:r>
          </a:p>
          <a:p>
            <a:pPr>
              <a:buNone/>
            </a:pPr>
            <a:endParaRPr lang="en-US" dirty="0" smtClean="0">
              <a:latin typeface="Cambria Math"/>
              <a:ea typeface="Cambria Math"/>
            </a:endParaRPr>
          </a:p>
          <a:p>
            <a:pPr>
              <a:buNone/>
            </a:pPr>
            <a:r>
              <a:rPr lang="en-US" i="1" dirty="0" smtClean="0"/>
              <a:t>  closed interval  </a:t>
            </a:r>
            <a:r>
              <a:rPr lang="en-US" dirty="0" smtClean="0"/>
              <a:t>[</a:t>
            </a:r>
            <a:r>
              <a:rPr lang="en-US" dirty="0" err="1" smtClean="0"/>
              <a:t>a,b</a:t>
            </a:r>
            <a:r>
              <a:rPr lang="en-US" dirty="0" smtClean="0"/>
              <a:t>]</a:t>
            </a:r>
          </a:p>
          <a:p>
            <a:pPr>
              <a:buNone/>
            </a:pPr>
            <a:r>
              <a:rPr lang="en-US" i="1" dirty="0" smtClean="0"/>
              <a:t>  open interval     </a:t>
            </a:r>
            <a:r>
              <a:rPr lang="en-US" dirty="0" smtClean="0"/>
              <a:t>(</a:t>
            </a:r>
            <a:r>
              <a:rPr lang="en-US" dirty="0" err="1" smtClean="0"/>
              <a:t>a,b</a:t>
            </a:r>
            <a:r>
              <a:rPr lang="en-US" dirty="0" smtClean="0"/>
              <a:t>)</a:t>
            </a:r>
          </a:p>
          <a:p>
            <a:pPr>
              <a:buNone/>
            </a:pPr>
            <a:endParaRPr lang="en-US" dirty="0">
              <a:latin typeface="Cambria Math" pitchFamily="18" charset="0"/>
              <a:ea typeface="Cambria Math" pitchFamily="18" charset="0"/>
            </a:endParaRPr>
          </a:p>
        </p:txBody>
      </p:sp>
    </p:spTree>
    <p:extLst>
      <p:ext uri="{BB962C8B-B14F-4D97-AF65-F5344CB8AC3E}">
        <p14:creationId xmlns:p14="http://schemas.microsoft.com/office/powerpoint/2010/main" val="6412225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Universal Set and Empty Set</a:t>
            </a:r>
            <a:endParaRPr lang="en-US" dirty="0"/>
          </a:p>
        </p:txBody>
      </p:sp>
      <p:sp>
        <p:nvSpPr>
          <p:cNvPr id="3" name="Content Placeholder 2"/>
          <p:cNvSpPr>
            <a:spLocks noGrp="1"/>
          </p:cNvSpPr>
          <p:nvPr>
            <p:ph idx="1"/>
          </p:nvPr>
        </p:nvSpPr>
        <p:spPr/>
        <p:txBody>
          <a:bodyPr/>
          <a:lstStyle/>
          <a:p>
            <a:r>
              <a:rPr lang="en-US" dirty="0" smtClean="0"/>
              <a:t>The </a:t>
            </a:r>
            <a:r>
              <a:rPr lang="en-US" i="1" dirty="0" smtClean="0"/>
              <a:t>universal set</a:t>
            </a:r>
            <a:r>
              <a:rPr lang="zh-CN" altLang="en-US" sz="2000" dirty="0" smtClean="0"/>
              <a:t>（全集）</a:t>
            </a:r>
            <a:r>
              <a:rPr lang="en-US" sz="2400" dirty="0" smtClean="0"/>
              <a:t> </a:t>
            </a:r>
            <a:r>
              <a:rPr lang="en-US" i="1" dirty="0" smtClean="0"/>
              <a:t>U </a:t>
            </a:r>
            <a:r>
              <a:rPr lang="en-US" dirty="0" smtClean="0"/>
              <a:t>is the set containing everything currently under consideration. </a:t>
            </a:r>
            <a:endParaRPr lang="en-US" i="1" dirty="0" smtClean="0"/>
          </a:p>
          <a:p>
            <a:pPr lvl="1"/>
            <a:r>
              <a:rPr lang="en-US" dirty="0" smtClean="0"/>
              <a:t>Sometimes implicit</a:t>
            </a:r>
          </a:p>
          <a:p>
            <a:pPr lvl="1"/>
            <a:r>
              <a:rPr lang="en-US" dirty="0" smtClean="0"/>
              <a:t>Sometimes explicitly stated.</a:t>
            </a:r>
          </a:p>
          <a:p>
            <a:pPr lvl="1"/>
            <a:r>
              <a:rPr lang="en-US" dirty="0" smtClean="0"/>
              <a:t>Contents depend on the context.</a:t>
            </a:r>
          </a:p>
          <a:p>
            <a:r>
              <a:rPr lang="en-US" dirty="0" smtClean="0"/>
              <a:t>The empty set is the set with no</a:t>
            </a:r>
          </a:p>
          <a:p>
            <a:pPr>
              <a:buNone/>
            </a:pPr>
            <a:r>
              <a:rPr lang="en-US" dirty="0" smtClean="0"/>
              <a:t>      elements. Symbolized </a:t>
            </a:r>
            <a:r>
              <a:rPr lang="en-US" dirty="0" smtClean="0">
                <a:latin typeface="Cambria Math"/>
                <a:ea typeface="Cambria Math"/>
              </a:rPr>
              <a:t>∅, but</a:t>
            </a:r>
          </a:p>
          <a:p>
            <a:pPr>
              <a:buNone/>
            </a:pPr>
            <a:r>
              <a:rPr lang="en-US" dirty="0" smtClean="0">
                <a:latin typeface="Cambria Math"/>
                <a:ea typeface="Cambria Math"/>
              </a:rPr>
              <a:t>       </a:t>
            </a:r>
            <a:r>
              <a:rPr lang="en-US" dirty="0" smtClean="0"/>
              <a:t>{} also used.</a:t>
            </a:r>
            <a:endParaRPr lang="en-US" dirty="0">
              <a:ea typeface="Cambria Math" pitchFamily="18" charset="0"/>
            </a:endParaRPr>
          </a:p>
        </p:txBody>
      </p:sp>
      <p:sp>
        <p:nvSpPr>
          <p:cNvPr id="4" name="Rectangle 3"/>
          <p:cNvSpPr/>
          <p:nvPr/>
        </p:nvSpPr>
        <p:spPr>
          <a:xfrm>
            <a:off x="5638800" y="3581400"/>
            <a:ext cx="2590800" cy="1676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6705600" y="4267200"/>
            <a:ext cx="762000" cy="609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96200" y="3657600"/>
            <a:ext cx="457200" cy="369332"/>
          </a:xfrm>
          <a:prstGeom prst="rect">
            <a:avLst/>
          </a:prstGeom>
          <a:noFill/>
        </p:spPr>
        <p:txBody>
          <a:bodyPr wrap="square" rtlCol="0">
            <a:spAutoFit/>
          </a:bodyPr>
          <a:lstStyle/>
          <a:p>
            <a:r>
              <a:rPr lang="en-US" i="1" dirty="0" smtClean="0"/>
              <a:t>U</a:t>
            </a:r>
            <a:endParaRPr lang="en-US" i="1" dirty="0"/>
          </a:p>
        </p:txBody>
      </p:sp>
      <p:sp>
        <p:nvSpPr>
          <p:cNvPr id="7" name="TextBox 6"/>
          <p:cNvSpPr txBox="1"/>
          <p:nvPr/>
        </p:nvSpPr>
        <p:spPr>
          <a:xfrm>
            <a:off x="6248400" y="2895600"/>
            <a:ext cx="1828800" cy="615553"/>
          </a:xfrm>
          <a:prstGeom prst="rect">
            <a:avLst/>
          </a:prstGeom>
          <a:noFill/>
        </p:spPr>
        <p:txBody>
          <a:bodyPr wrap="square" rtlCol="0">
            <a:spAutoFit/>
          </a:bodyPr>
          <a:lstStyle/>
          <a:p>
            <a:r>
              <a:rPr lang="en-US" dirty="0" smtClean="0"/>
              <a:t>Venn Diagram</a:t>
            </a:r>
            <a:r>
              <a:rPr lang="zh-CN" altLang="en-US" sz="1600" dirty="0" smtClean="0"/>
              <a:t>（文氏图）</a:t>
            </a:r>
            <a:endParaRPr lang="en-US" sz="1600" dirty="0"/>
          </a:p>
        </p:txBody>
      </p:sp>
      <p:sp>
        <p:nvSpPr>
          <p:cNvPr id="10" name="TextBox 9"/>
          <p:cNvSpPr txBox="1"/>
          <p:nvPr/>
        </p:nvSpPr>
        <p:spPr>
          <a:xfrm>
            <a:off x="6629400" y="4267200"/>
            <a:ext cx="1828800" cy="646331"/>
          </a:xfrm>
          <a:prstGeom prst="rect">
            <a:avLst/>
          </a:prstGeom>
          <a:noFill/>
        </p:spPr>
        <p:txBody>
          <a:bodyPr wrap="square" rtlCol="0">
            <a:spAutoFit/>
          </a:bodyPr>
          <a:lstStyle/>
          <a:p>
            <a:r>
              <a:rPr lang="en-US" dirty="0" smtClean="0"/>
              <a:t>   a e </a:t>
            </a:r>
            <a:r>
              <a:rPr lang="en-US" dirty="0" err="1" smtClean="0"/>
              <a:t>i</a:t>
            </a:r>
            <a:endParaRPr lang="en-US" dirty="0" smtClean="0"/>
          </a:p>
          <a:p>
            <a:r>
              <a:rPr lang="en-US" dirty="0" smtClean="0"/>
              <a:t>    o u</a:t>
            </a:r>
            <a:endParaRPr lang="en-US" dirty="0"/>
          </a:p>
        </p:txBody>
      </p:sp>
      <p:sp>
        <p:nvSpPr>
          <p:cNvPr id="11" name="TextBox 10"/>
          <p:cNvSpPr txBox="1"/>
          <p:nvPr/>
        </p:nvSpPr>
        <p:spPr>
          <a:xfrm>
            <a:off x="6400800" y="4267200"/>
            <a:ext cx="457200" cy="369332"/>
          </a:xfrm>
          <a:prstGeom prst="rect">
            <a:avLst/>
          </a:prstGeom>
          <a:noFill/>
        </p:spPr>
        <p:txBody>
          <a:bodyPr wrap="square" rtlCol="0">
            <a:spAutoFit/>
          </a:bodyPr>
          <a:lstStyle/>
          <a:p>
            <a:r>
              <a:rPr lang="en-US" i="1" dirty="0" smtClean="0"/>
              <a:t>V</a:t>
            </a:r>
            <a:endParaRPr lang="en-US" i="1" dirty="0"/>
          </a:p>
        </p:txBody>
      </p:sp>
      <p:pic>
        <p:nvPicPr>
          <p:cNvPr id="13" name="Picture 12" descr="0204.jpg"/>
          <p:cNvPicPr>
            <a:picLocks noChangeAspect="1"/>
          </p:cNvPicPr>
          <p:nvPr/>
        </p:nvPicPr>
        <p:blipFill>
          <a:blip r:embed="rId2" cstate="print"/>
          <a:stretch>
            <a:fillRect/>
          </a:stretch>
        </p:blipFill>
        <p:spPr>
          <a:xfrm>
            <a:off x="4800600" y="5486400"/>
            <a:ext cx="893064" cy="1036320"/>
          </a:xfrm>
          <a:prstGeom prst="rect">
            <a:avLst/>
          </a:prstGeom>
        </p:spPr>
      </p:pic>
      <p:sp>
        <p:nvSpPr>
          <p:cNvPr id="14" name="TextBox 13"/>
          <p:cNvSpPr txBox="1"/>
          <p:nvPr/>
        </p:nvSpPr>
        <p:spPr>
          <a:xfrm>
            <a:off x="5943600" y="5638800"/>
            <a:ext cx="2819400" cy="646331"/>
          </a:xfrm>
          <a:prstGeom prst="rect">
            <a:avLst/>
          </a:prstGeom>
          <a:noFill/>
        </p:spPr>
        <p:txBody>
          <a:bodyPr wrap="square" rtlCol="0">
            <a:spAutoFit/>
          </a:bodyPr>
          <a:lstStyle/>
          <a:p>
            <a:r>
              <a:rPr lang="en-US" dirty="0" smtClean="0"/>
              <a:t>John Venn (1834-1923)</a:t>
            </a:r>
          </a:p>
          <a:p>
            <a:r>
              <a:rPr lang="en-US" dirty="0" smtClean="0"/>
              <a:t>Cambridge, UK</a:t>
            </a:r>
            <a:endParaRPr lang="en-US" dirty="0"/>
          </a:p>
        </p:txBody>
      </p:sp>
    </p:spTree>
    <p:extLst>
      <p:ext uri="{BB962C8B-B14F-4D97-AF65-F5344CB8AC3E}">
        <p14:creationId xmlns:p14="http://schemas.microsoft.com/office/powerpoint/2010/main" val="38754624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Russell’s Paradox</a:t>
            </a:r>
            <a:r>
              <a:rPr lang="zh-CN" altLang="en-US" sz="4400" dirty="0" smtClean="0"/>
              <a:t>（罗素悖论）</a:t>
            </a:r>
            <a:endParaRPr lang="en-US" sz="4400" dirty="0"/>
          </a:p>
        </p:txBody>
      </p:sp>
      <p:sp>
        <p:nvSpPr>
          <p:cNvPr id="3" name="Content Placeholder 2"/>
          <p:cNvSpPr>
            <a:spLocks noGrp="1"/>
          </p:cNvSpPr>
          <p:nvPr>
            <p:ph idx="1"/>
          </p:nvPr>
        </p:nvSpPr>
        <p:spPr/>
        <p:txBody>
          <a:bodyPr/>
          <a:lstStyle/>
          <a:p>
            <a:r>
              <a:rPr lang="en-US" dirty="0" smtClean="0"/>
              <a:t>Let </a:t>
            </a:r>
            <a:r>
              <a:rPr lang="en-US" i="1" dirty="0" smtClean="0"/>
              <a:t>S</a:t>
            </a:r>
            <a:r>
              <a:rPr lang="en-US" dirty="0" smtClean="0"/>
              <a:t> be the set of all sets which are not members of themselves. A paradox results from trying to answer the question “Is </a:t>
            </a:r>
            <a:r>
              <a:rPr lang="en-US" i="1" dirty="0" smtClean="0"/>
              <a:t>S</a:t>
            </a:r>
            <a:r>
              <a:rPr lang="en-US" dirty="0" smtClean="0"/>
              <a:t> a member of itself?”</a:t>
            </a:r>
          </a:p>
          <a:p>
            <a:r>
              <a:rPr lang="en-US" dirty="0" smtClean="0"/>
              <a:t>Related Paradox:</a:t>
            </a:r>
          </a:p>
          <a:p>
            <a:pPr lvl="1"/>
            <a:r>
              <a:rPr lang="en-US" dirty="0" smtClean="0"/>
              <a:t> Henry is a barber who shaves all people who do not shave themselves. A paradox results from trying to answer the question “Does Henry shave himself?”</a:t>
            </a:r>
          </a:p>
          <a:p>
            <a:endParaRPr lang="en-US" dirty="0"/>
          </a:p>
        </p:txBody>
      </p:sp>
      <p:pic>
        <p:nvPicPr>
          <p:cNvPr id="4" name="Picture 3" descr="0202.jpg"/>
          <p:cNvPicPr>
            <a:picLocks noChangeAspect="1"/>
          </p:cNvPicPr>
          <p:nvPr/>
        </p:nvPicPr>
        <p:blipFill>
          <a:blip r:embed="rId2" cstate="print"/>
          <a:stretch>
            <a:fillRect/>
          </a:stretch>
        </p:blipFill>
        <p:spPr>
          <a:xfrm>
            <a:off x="4191000" y="5105400"/>
            <a:ext cx="893064" cy="1030224"/>
          </a:xfrm>
          <a:prstGeom prst="rect">
            <a:avLst/>
          </a:prstGeom>
        </p:spPr>
      </p:pic>
      <p:sp>
        <p:nvSpPr>
          <p:cNvPr id="5" name="TextBox 4"/>
          <p:cNvSpPr txBox="1"/>
          <p:nvPr/>
        </p:nvSpPr>
        <p:spPr>
          <a:xfrm>
            <a:off x="5486400" y="5181600"/>
            <a:ext cx="2971800" cy="923330"/>
          </a:xfrm>
          <a:prstGeom prst="rect">
            <a:avLst/>
          </a:prstGeom>
          <a:noFill/>
        </p:spPr>
        <p:txBody>
          <a:bodyPr wrap="square" rtlCol="0">
            <a:spAutoFit/>
          </a:bodyPr>
          <a:lstStyle/>
          <a:p>
            <a:r>
              <a:rPr lang="en-US" dirty="0" smtClean="0"/>
              <a:t>Bertrand Russell (1872-1970)</a:t>
            </a:r>
          </a:p>
          <a:p>
            <a:r>
              <a:rPr lang="en-US" dirty="0" smtClean="0"/>
              <a:t>Cambridge, UK</a:t>
            </a:r>
          </a:p>
          <a:p>
            <a:r>
              <a:rPr lang="en-US" dirty="0" smtClean="0"/>
              <a:t>Nobel Prize Winner</a:t>
            </a:r>
            <a:endParaRPr lang="en-US" dirty="0"/>
          </a:p>
        </p:txBody>
      </p:sp>
    </p:spTree>
    <p:extLst>
      <p:ext uri="{BB962C8B-B14F-4D97-AF65-F5344CB8AC3E}">
        <p14:creationId xmlns:p14="http://schemas.microsoft.com/office/powerpoint/2010/main" val="29091041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things to remember</a:t>
            </a:r>
            <a:endParaRPr lang="en-US" dirty="0"/>
          </a:p>
        </p:txBody>
      </p:sp>
      <p:sp>
        <p:nvSpPr>
          <p:cNvPr id="3" name="Content Placeholder 2"/>
          <p:cNvSpPr>
            <a:spLocks noGrp="1"/>
          </p:cNvSpPr>
          <p:nvPr>
            <p:ph idx="1"/>
          </p:nvPr>
        </p:nvSpPr>
        <p:spPr/>
        <p:txBody>
          <a:bodyPr/>
          <a:lstStyle/>
          <a:p>
            <a:r>
              <a:rPr lang="en-US" dirty="0" smtClean="0"/>
              <a:t>Sets can be elements of sets.</a:t>
            </a:r>
          </a:p>
          <a:p>
            <a:pPr>
              <a:buNone/>
            </a:pPr>
            <a:r>
              <a:rPr lang="en-US" dirty="0" smtClean="0">
                <a:latin typeface="Cambria Math" pitchFamily="18" charset="0"/>
                <a:ea typeface="Cambria Math" pitchFamily="18" charset="0"/>
              </a:rPr>
              <a:t>         {{1,2,3},</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b,c</a:t>
            </a:r>
            <a:r>
              <a:rPr lang="en-US" dirty="0" smtClean="0">
                <a:latin typeface="Cambria Math" pitchFamily="18" charset="0"/>
                <a:ea typeface="Cambria Math" pitchFamily="18" charset="0"/>
              </a:rPr>
              <a:t>}}</a:t>
            </a:r>
          </a:p>
          <a:p>
            <a:pPr>
              <a:buNone/>
            </a:pP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N</a:t>
            </a:r>
            <a:r>
              <a:rPr lang="en-US" dirty="0" smtClean="0">
                <a:latin typeface="Cambria Math" pitchFamily="18" charset="0"/>
                <a:ea typeface="Cambria Math" pitchFamily="18" charset="0"/>
              </a:rPr>
              <a:t>,</a:t>
            </a:r>
            <a:r>
              <a:rPr lang="en-US" b="1" dirty="0" smtClean="0">
                <a:latin typeface="Cambria Math" pitchFamily="18" charset="0"/>
                <a:ea typeface="Cambria Math" pitchFamily="18" charset="0"/>
              </a:rPr>
              <a:t>Z</a:t>
            </a:r>
            <a:r>
              <a:rPr lang="en-US" dirty="0" smtClean="0">
                <a:latin typeface="Cambria Math" pitchFamily="18" charset="0"/>
                <a:ea typeface="Cambria Math" pitchFamily="18" charset="0"/>
              </a:rPr>
              <a:t>,</a:t>
            </a:r>
            <a:r>
              <a:rPr lang="en-US" b="1" dirty="0" smtClean="0">
                <a:latin typeface="Cambria Math" pitchFamily="18" charset="0"/>
                <a:ea typeface="Cambria Math" pitchFamily="18" charset="0"/>
              </a:rPr>
              <a:t>Q</a:t>
            </a:r>
            <a:r>
              <a:rPr lang="en-US" dirty="0" smtClean="0">
                <a:latin typeface="Cambria Math" pitchFamily="18" charset="0"/>
                <a:ea typeface="Cambria Math" pitchFamily="18" charset="0"/>
              </a:rPr>
              <a:t>,</a:t>
            </a:r>
            <a:r>
              <a:rPr lang="en-US" b="1" dirty="0" smtClean="0">
                <a:latin typeface="Cambria Math" pitchFamily="18" charset="0"/>
                <a:ea typeface="Cambria Math" pitchFamily="18" charset="0"/>
              </a:rPr>
              <a:t>R</a:t>
            </a:r>
            <a:r>
              <a:rPr lang="en-US" dirty="0" smtClean="0">
                <a:latin typeface="Cambria Math" pitchFamily="18" charset="0"/>
                <a:ea typeface="Cambria Math" pitchFamily="18" charset="0"/>
              </a:rPr>
              <a:t>}</a:t>
            </a:r>
          </a:p>
          <a:p>
            <a:r>
              <a:rPr lang="en-US" dirty="0" smtClean="0"/>
              <a:t>The empty set is different from a set containing the empty set.</a:t>
            </a:r>
          </a:p>
          <a:p>
            <a:pPr>
              <a:buNone/>
            </a:pPr>
            <a:r>
              <a:rPr lang="en-US" dirty="0" smtClean="0"/>
              <a:t>       </a:t>
            </a:r>
            <a:r>
              <a:rPr lang="en-US" dirty="0" smtClean="0">
                <a:latin typeface="Cambria Math"/>
                <a:ea typeface="Cambria Math"/>
              </a:rPr>
              <a:t>∅</a:t>
            </a:r>
            <a:r>
              <a:rPr lang="en-US" dirty="0" smtClean="0"/>
              <a:t>  </a:t>
            </a:r>
            <a:r>
              <a:rPr lang="en-US" dirty="0" smtClean="0">
                <a:latin typeface="Cambria Math"/>
                <a:ea typeface="Cambria Math"/>
              </a:rPr>
              <a:t>≠ { ∅ } </a:t>
            </a:r>
            <a:endParaRPr lang="en-US" dirty="0"/>
          </a:p>
        </p:txBody>
      </p:sp>
    </p:spTree>
    <p:extLst>
      <p:ext uri="{BB962C8B-B14F-4D97-AF65-F5344CB8AC3E}">
        <p14:creationId xmlns:p14="http://schemas.microsoft.com/office/powerpoint/2010/main" val="16970027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Equality</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Two sets are </a:t>
            </a:r>
            <a:r>
              <a:rPr lang="en-US" i="1" dirty="0" smtClean="0"/>
              <a:t>equal</a:t>
            </a:r>
            <a:r>
              <a:rPr lang="en-US" dirty="0" smtClean="0"/>
              <a:t> if and only if they have the same elements. </a:t>
            </a:r>
          </a:p>
          <a:p>
            <a:pPr lvl="1"/>
            <a:r>
              <a:rPr lang="en-US" dirty="0" smtClean="0"/>
              <a:t>Therefore if A and B are sets, then A and B are equal if and only if                                         . </a:t>
            </a:r>
          </a:p>
          <a:p>
            <a:pPr lvl="1"/>
            <a:r>
              <a:rPr lang="en-US" dirty="0" smtClean="0"/>
              <a:t>We write </a:t>
            </a:r>
            <a:r>
              <a:rPr lang="en-US" i="1" dirty="0" smtClean="0"/>
              <a:t>A</a:t>
            </a:r>
            <a:r>
              <a:rPr lang="en-US" dirty="0" smtClean="0"/>
              <a:t> = </a:t>
            </a:r>
            <a:r>
              <a:rPr lang="en-US" i="1" dirty="0" smtClean="0"/>
              <a:t>B</a:t>
            </a:r>
            <a:r>
              <a:rPr lang="en-US" dirty="0" smtClean="0"/>
              <a:t> if </a:t>
            </a:r>
            <a:r>
              <a:rPr lang="en-US" i="1" dirty="0" smtClean="0"/>
              <a:t>A</a:t>
            </a:r>
            <a:r>
              <a:rPr lang="en-US" dirty="0" smtClean="0"/>
              <a:t> and </a:t>
            </a:r>
            <a:r>
              <a:rPr lang="en-US" i="1" dirty="0" smtClean="0"/>
              <a:t>B</a:t>
            </a:r>
            <a:r>
              <a:rPr lang="en-US" dirty="0" smtClean="0"/>
              <a:t> are equal sets.</a:t>
            </a:r>
          </a:p>
          <a:p>
            <a:pPr>
              <a:buNone/>
            </a:pPr>
            <a:r>
              <a:rPr lang="en-US" dirty="0" smtClean="0"/>
              <a:t>                </a:t>
            </a:r>
            <a:r>
              <a:rPr lang="en-US" dirty="0" smtClean="0">
                <a:latin typeface="Cambria Math" pitchFamily="18" charset="0"/>
                <a:ea typeface="Cambria Math" pitchFamily="18" charset="0"/>
              </a:rPr>
              <a:t>{1,3,5}   = {3, 5, 1}</a:t>
            </a:r>
          </a:p>
          <a:p>
            <a:pPr>
              <a:buNone/>
            </a:pPr>
            <a:r>
              <a:rPr lang="en-US" dirty="0" smtClean="0">
                <a:latin typeface="Cambria Math" pitchFamily="18" charset="0"/>
                <a:ea typeface="Cambria Math" pitchFamily="18" charset="0"/>
              </a:rPr>
              <a:t>                  {1,5,5,5,3,3,1} = {1,3,5}</a:t>
            </a:r>
            <a:endParaRPr lang="en-US" dirty="0">
              <a:latin typeface="Cambria Math" pitchFamily="18" charset="0"/>
              <a:ea typeface="Cambria Math" pitchFamily="18" charset="0"/>
            </a:endParaRPr>
          </a:p>
        </p:txBody>
      </p:sp>
      <p:pic>
        <p:nvPicPr>
          <p:cNvPr id="4" name="Picture 3" descr="addin_tmp.png"/>
          <p:cNvPicPr>
            <a:picLocks noChangeAspect="1"/>
          </p:cNvPicPr>
          <p:nvPr>
            <p:custDataLst>
              <p:tags r:id="rId1"/>
            </p:custDataLst>
          </p:nvPr>
        </p:nvPicPr>
        <p:blipFill>
          <a:blip r:embed="rId4" cstate="print"/>
          <a:stretch>
            <a:fillRect/>
          </a:stretch>
        </p:blipFill>
        <p:spPr>
          <a:xfrm>
            <a:off x="2819400" y="3200400"/>
            <a:ext cx="3231833" cy="382905"/>
          </a:xfrm>
          <a:prstGeom prst="rect">
            <a:avLst/>
          </a:prstGeom>
        </p:spPr>
      </p:pic>
    </p:spTree>
    <p:extLst>
      <p:ext uri="{BB962C8B-B14F-4D97-AF65-F5344CB8AC3E}">
        <p14:creationId xmlns:p14="http://schemas.microsoft.com/office/powerpoint/2010/main" val="5880767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Subsets</a:t>
            </a:r>
            <a:endParaRPr lang="en-US" dirty="0"/>
          </a:p>
        </p:txBody>
      </p:sp>
      <p:sp>
        <p:nvSpPr>
          <p:cNvPr id="3" name="Content Placeholder 2"/>
          <p:cNvSpPr>
            <a:spLocks noGrp="1"/>
          </p:cNvSpPr>
          <p:nvPr>
            <p:ph idx="1"/>
          </p:nvPr>
        </p:nvSpPr>
        <p:spPr/>
        <p:txBody>
          <a:bodyPr>
            <a:normAutofit/>
          </a:bodyPr>
          <a:lstStyle/>
          <a:p>
            <a:pPr>
              <a:buNone/>
            </a:pPr>
            <a:r>
              <a:rPr lang="en-US" b="1" dirty="0" smtClean="0"/>
              <a:t>   Definition</a:t>
            </a:r>
            <a:r>
              <a:rPr lang="en-US" dirty="0" smtClean="0"/>
              <a:t>:  The set </a:t>
            </a:r>
            <a:r>
              <a:rPr lang="en-US" i="1" dirty="0" smtClean="0"/>
              <a:t>A</a:t>
            </a:r>
            <a:r>
              <a:rPr lang="en-US" dirty="0" smtClean="0"/>
              <a:t> is a </a:t>
            </a:r>
            <a:r>
              <a:rPr lang="en-US" i="1" dirty="0" smtClean="0"/>
              <a:t>subset</a:t>
            </a:r>
            <a:r>
              <a:rPr lang="zh-CN" altLang="en-US" sz="2000" dirty="0" smtClean="0"/>
              <a:t>（子集）</a:t>
            </a:r>
            <a:r>
              <a:rPr lang="en-US" dirty="0" smtClean="0"/>
              <a:t> of </a:t>
            </a:r>
            <a:r>
              <a:rPr lang="en-US" i="1" dirty="0" smtClean="0"/>
              <a:t>B</a:t>
            </a:r>
            <a:r>
              <a:rPr lang="en-US" dirty="0" smtClean="0"/>
              <a:t>, if and only if every element of </a:t>
            </a:r>
            <a:r>
              <a:rPr lang="en-US" i="1" dirty="0" smtClean="0"/>
              <a:t>A</a:t>
            </a:r>
            <a:r>
              <a:rPr lang="en-US" dirty="0" smtClean="0"/>
              <a:t> is also an element of </a:t>
            </a:r>
            <a:r>
              <a:rPr lang="en-US" i="1" dirty="0" smtClean="0"/>
              <a:t>B</a:t>
            </a:r>
            <a:r>
              <a:rPr lang="en-US" dirty="0" smtClean="0"/>
              <a:t>.  </a:t>
            </a:r>
          </a:p>
          <a:p>
            <a:pPr lvl="1"/>
            <a:r>
              <a:rPr lang="en-US" dirty="0" smtClean="0"/>
              <a:t>The notation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B</a:t>
            </a:r>
            <a:r>
              <a:rPr lang="en-US" dirty="0" smtClean="0">
                <a:latin typeface="Cambria Math" pitchFamily="18" charset="0"/>
                <a:ea typeface="Cambria Math" pitchFamily="18" charset="0"/>
              </a:rPr>
              <a:t>  is used </a:t>
            </a:r>
            <a:r>
              <a:rPr lang="en-US" dirty="0" smtClean="0">
                <a:latin typeface="Cambria Math"/>
                <a:ea typeface="Cambria Math"/>
              </a:rPr>
              <a:t>to indicate that </a:t>
            </a:r>
            <a:r>
              <a:rPr lang="en-US" i="1" dirty="0" smtClean="0">
                <a:latin typeface="Cambria Math"/>
                <a:ea typeface="Cambria Math"/>
              </a:rPr>
              <a:t>A</a:t>
            </a:r>
            <a:r>
              <a:rPr lang="en-US" dirty="0" smtClean="0">
                <a:latin typeface="Cambria Math"/>
                <a:ea typeface="Cambria Math"/>
              </a:rPr>
              <a:t> is a subset of the set </a:t>
            </a:r>
            <a:r>
              <a:rPr lang="en-US" i="1" dirty="0" smtClean="0">
                <a:latin typeface="Cambria Math"/>
                <a:ea typeface="Cambria Math"/>
              </a:rPr>
              <a:t>B</a:t>
            </a:r>
            <a:r>
              <a:rPr lang="en-US" dirty="0" smtClean="0">
                <a:latin typeface="Cambria Math"/>
                <a:ea typeface="Cambria Math"/>
              </a:rPr>
              <a:t>. </a:t>
            </a:r>
          </a:p>
          <a:p>
            <a:pPr lvl="1"/>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B</a:t>
            </a:r>
            <a:r>
              <a:rPr lang="en-US" dirty="0" smtClean="0">
                <a:latin typeface="Cambria Math" pitchFamily="18" charset="0"/>
                <a:ea typeface="Cambria Math" pitchFamily="18" charset="0"/>
              </a:rPr>
              <a:t>   holds if and only if                                            </a:t>
            </a:r>
            <a:r>
              <a:rPr lang="en-US" dirty="0" smtClean="0"/>
              <a:t>is true. </a:t>
            </a:r>
          </a:p>
          <a:p>
            <a:pPr marL="1124712" lvl="2" indent="-457200">
              <a:buFont typeface="+mj-lt"/>
              <a:buAutoNum type="arabicPeriod"/>
            </a:pPr>
            <a:r>
              <a:rPr lang="en-US" dirty="0" smtClean="0"/>
              <a:t>Because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dirty="0" smtClean="0">
                <a:latin typeface="Cambria Math"/>
                <a:ea typeface="Cambria Math"/>
              </a:rPr>
              <a:t>∅</a:t>
            </a:r>
            <a:r>
              <a:rPr lang="en-US" dirty="0" smtClean="0">
                <a:latin typeface="MS Reference Sans Serif" pitchFamily="34" charset="0"/>
                <a:ea typeface="Cambria Math" pitchFamily="18" charset="0"/>
              </a:rPr>
              <a:t>  </a:t>
            </a:r>
            <a:r>
              <a:rPr lang="en-US" dirty="0" smtClean="0"/>
              <a:t>is  always false, </a:t>
            </a:r>
            <a:r>
              <a:rPr lang="en-US" dirty="0" smtClean="0">
                <a:latin typeface="Cambria Math"/>
                <a:ea typeface="Cambria Math"/>
              </a:rPr>
              <a:t>∅ </a:t>
            </a: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dirty="0" smtClean="0"/>
              <a:t> ,for every  set </a:t>
            </a:r>
            <a:r>
              <a:rPr lang="en-US" i="1" dirty="0" smtClean="0"/>
              <a:t>S</a:t>
            </a:r>
            <a:r>
              <a:rPr lang="en-US" dirty="0" smtClean="0"/>
              <a:t>.     </a:t>
            </a:r>
            <a:endParaRPr lang="en-US" b="1" dirty="0" smtClean="0"/>
          </a:p>
          <a:p>
            <a:pPr marL="1124712" lvl="2" indent="-457200">
              <a:buFont typeface="+mj-lt"/>
              <a:buAutoNum type="arabicPeriod"/>
            </a:pPr>
            <a:r>
              <a:rPr lang="en-US" dirty="0" smtClean="0"/>
              <a:t> Because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S</a:t>
            </a:r>
            <a:r>
              <a:rPr lang="en-US" dirty="0" smtClean="0">
                <a:latin typeface="MS Reference Sans Serif" pitchFamily="34" charset="0"/>
                <a:ea typeface="Cambria Math" pitchFamily="18" charset="0"/>
              </a:rPr>
              <a:t> </a:t>
            </a:r>
            <a:r>
              <a:rPr lang="en-US" dirty="0" smtClean="0">
                <a:latin typeface="Cambria Math"/>
                <a:ea typeface="Cambria Math"/>
              </a:rPr>
              <a:t>→</a:t>
            </a:r>
            <a:r>
              <a:rPr lang="en-US" i="1" dirty="0" smtClean="0">
                <a:latin typeface="Cambria Math" pitchFamily="18" charset="0"/>
                <a:ea typeface="Cambria Math" pitchFamily="18" charset="0"/>
              </a:rPr>
              <a:t> 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S</a:t>
            </a:r>
            <a:r>
              <a:rPr lang="en-US" dirty="0" smtClean="0">
                <a:latin typeface="MS Reference Sans Serif" pitchFamily="34" charset="0"/>
                <a:ea typeface="Cambria Math" pitchFamily="18" charset="0"/>
              </a:rPr>
              <a:t>, </a:t>
            </a:r>
            <a:r>
              <a:rPr lang="en-US" i="1" dirty="0" smtClean="0">
                <a:latin typeface="Cambria Math" pitchFamily="18" charset="0"/>
                <a:ea typeface="Cambria Math" pitchFamily="18" charset="0"/>
              </a:rPr>
              <a:t>S</a:t>
            </a:r>
            <a:r>
              <a:rPr lang="en-US" dirty="0" smtClean="0">
                <a:latin typeface="Cambria Math"/>
                <a:ea typeface="Cambria Math"/>
              </a:rPr>
              <a:t> </a:t>
            </a: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dirty="0" smtClean="0"/>
              <a:t>, for every  set </a:t>
            </a:r>
            <a:r>
              <a:rPr lang="en-US" i="1" dirty="0" smtClean="0"/>
              <a:t>S</a:t>
            </a:r>
            <a:r>
              <a:rPr lang="en-US" dirty="0" smtClean="0"/>
              <a:t>. </a:t>
            </a:r>
          </a:p>
        </p:txBody>
      </p:sp>
      <p:pic>
        <p:nvPicPr>
          <p:cNvPr id="7" name="Picture 6" descr="addin_tmp.png"/>
          <p:cNvPicPr>
            <a:picLocks noChangeAspect="1"/>
          </p:cNvPicPr>
          <p:nvPr>
            <p:custDataLst>
              <p:tags r:id="rId1"/>
            </p:custDataLst>
          </p:nvPr>
        </p:nvPicPr>
        <p:blipFill>
          <a:blip r:embed="rId3" cstate="print"/>
          <a:stretch>
            <a:fillRect/>
          </a:stretch>
        </p:blipFill>
        <p:spPr>
          <a:xfrm>
            <a:off x="4648200" y="3657600"/>
            <a:ext cx="2693194" cy="319088"/>
          </a:xfrm>
          <a:prstGeom prst="rect">
            <a:avLst/>
          </a:prstGeom>
        </p:spPr>
      </p:pic>
    </p:spTree>
    <p:extLst>
      <p:ext uri="{BB962C8B-B14F-4D97-AF65-F5344CB8AC3E}">
        <p14:creationId xmlns:p14="http://schemas.microsoft.com/office/powerpoint/2010/main" val="10198378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Showing a Set is or is not a Subset of Another Set</a:t>
            </a:r>
            <a:endParaRPr lang="en-US" dirty="0"/>
          </a:p>
        </p:txBody>
      </p:sp>
      <p:sp>
        <p:nvSpPr>
          <p:cNvPr id="3" name="Content Placeholder 2"/>
          <p:cNvSpPr>
            <a:spLocks noGrp="1"/>
          </p:cNvSpPr>
          <p:nvPr>
            <p:ph idx="1"/>
          </p:nvPr>
        </p:nvSpPr>
        <p:spPr/>
        <p:txBody>
          <a:bodyPr>
            <a:normAutofit lnSpcReduction="10000"/>
          </a:bodyPr>
          <a:lstStyle/>
          <a:p>
            <a:r>
              <a:rPr lang="en-US" b="1" dirty="0" smtClean="0">
                <a:ea typeface="Cambria Math" pitchFamily="18" charset="0"/>
              </a:rPr>
              <a:t>Showing  that A is a Subset of B</a:t>
            </a:r>
            <a:r>
              <a:rPr lang="en-US" dirty="0" smtClean="0">
                <a:ea typeface="Cambria Math" pitchFamily="18" charset="0"/>
              </a:rPr>
              <a:t>: To </a:t>
            </a:r>
            <a:r>
              <a:rPr lang="en-US" dirty="0" smtClean="0">
                <a:latin typeface="Cambria Math" pitchFamily="18" charset="0"/>
                <a:ea typeface="Cambria Math" pitchFamily="18" charset="0"/>
              </a:rPr>
              <a:t>show that </a:t>
            </a:r>
            <a:r>
              <a:rPr lang="en-US" i="1" dirty="0" smtClean="0">
                <a:ea typeface="Cambria Math" pitchFamily="18" charset="0"/>
              </a:rPr>
              <a:t>A</a:t>
            </a:r>
            <a:r>
              <a:rPr lang="en-US" dirty="0" smtClean="0">
                <a:latin typeface="Cambria Math" pitchFamily="18" charset="0"/>
                <a:ea typeface="Cambria Math" pitchFamily="18" charset="0"/>
              </a:rPr>
              <a:t> ⊆ </a:t>
            </a:r>
            <a:r>
              <a:rPr lang="en-US" i="1" dirty="0" smtClean="0">
                <a:ea typeface="Cambria Math" pitchFamily="18" charset="0"/>
              </a:rPr>
              <a:t>B</a:t>
            </a:r>
            <a:r>
              <a:rPr lang="en-US" dirty="0" smtClean="0">
                <a:latin typeface="Cambria Math" pitchFamily="18" charset="0"/>
                <a:ea typeface="Cambria Math" pitchFamily="18" charset="0"/>
              </a:rPr>
              <a:t>, show that if </a:t>
            </a:r>
            <a:r>
              <a:rPr lang="en-US" i="1" dirty="0" smtClean="0">
                <a:ea typeface="Cambria Math" pitchFamily="18" charset="0"/>
              </a:rPr>
              <a:t>x</a:t>
            </a:r>
            <a:r>
              <a:rPr lang="en-US" dirty="0" smtClean="0">
                <a:latin typeface="Cambria Math" pitchFamily="18" charset="0"/>
                <a:ea typeface="Cambria Math" pitchFamily="18" charset="0"/>
              </a:rPr>
              <a:t> belongs to </a:t>
            </a:r>
            <a:r>
              <a:rPr lang="en-US" i="1" dirty="0" smtClean="0">
                <a:ea typeface="Cambria Math" pitchFamily="18" charset="0"/>
              </a:rPr>
              <a:t>A,</a:t>
            </a:r>
            <a:r>
              <a:rPr lang="en-US" dirty="0" smtClean="0">
                <a:latin typeface="Cambria Math" pitchFamily="18" charset="0"/>
                <a:ea typeface="Cambria Math" pitchFamily="18" charset="0"/>
              </a:rPr>
              <a:t> then </a:t>
            </a:r>
            <a:r>
              <a:rPr lang="en-US" dirty="0" smtClean="0">
                <a:ea typeface="Cambria Math" pitchFamily="18" charset="0"/>
              </a:rPr>
              <a:t>x </a:t>
            </a:r>
            <a:r>
              <a:rPr lang="en-US" dirty="0" smtClean="0">
                <a:latin typeface="Cambria Math" pitchFamily="18" charset="0"/>
                <a:ea typeface="Cambria Math" pitchFamily="18" charset="0"/>
              </a:rPr>
              <a:t>also belongs to </a:t>
            </a:r>
            <a:r>
              <a:rPr lang="en-US" i="1" dirty="0" smtClean="0">
                <a:ea typeface="Cambria Math" pitchFamily="18" charset="0"/>
              </a:rPr>
              <a:t>B</a:t>
            </a:r>
            <a:r>
              <a:rPr lang="en-US" dirty="0" smtClean="0">
                <a:latin typeface="Cambria Math" pitchFamily="18" charset="0"/>
                <a:ea typeface="Cambria Math" pitchFamily="18" charset="0"/>
              </a:rPr>
              <a:t>.</a:t>
            </a:r>
            <a:endParaRPr lang="en-US" b="1" dirty="0" smtClean="0">
              <a:latin typeface="Cambria Math" pitchFamily="18" charset="0"/>
              <a:ea typeface="Cambria Math" pitchFamily="18" charset="0"/>
            </a:endParaRPr>
          </a:p>
          <a:p>
            <a:r>
              <a:rPr lang="en-US" b="1" dirty="0" smtClean="0">
                <a:ea typeface="Cambria Math" pitchFamily="18" charset="0"/>
              </a:rPr>
              <a:t>Showing that A is not a Subset of B</a:t>
            </a:r>
            <a:r>
              <a:rPr lang="en-US" dirty="0" smtClean="0">
                <a:latin typeface="Cambria Math" pitchFamily="18" charset="0"/>
                <a:ea typeface="Cambria Math" pitchFamily="18" charset="0"/>
              </a:rPr>
              <a:t>: </a:t>
            </a:r>
            <a:r>
              <a:rPr lang="en-US" dirty="0" smtClean="0"/>
              <a:t>To show that </a:t>
            </a:r>
            <a:r>
              <a:rPr lang="en-US" i="1" dirty="0" smtClean="0"/>
              <a:t>A</a:t>
            </a:r>
            <a:r>
              <a:rPr lang="en-US" dirty="0" smtClean="0"/>
              <a:t> is not a subset of </a:t>
            </a:r>
            <a:r>
              <a:rPr lang="en-US" i="1" dirty="0" smtClean="0"/>
              <a:t>B</a:t>
            </a:r>
            <a:r>
              <a:rPr lang="en-US" dirty="0" smtClean="0"/>
              <a:t>, </a:t>
            </a:r>
            <a:r>
              <a:rPr lang="en-US" i="1" dirty="0" smtClean="0">
                <a:ea typeface="Cambria Math" pitchFamily="18" charset="0"/>
              </a:rPr>
              <a:t>A</a:t>
            </a:r>
            <a:r>
              <a:rPr lang="en-US" dirty="0" smtClean="0">
                <a:latin typeface="Cambria Math" pitchFamily="18" charset="0"/>
                <a:ea typeface="Cambria Math" pitchFamily="18" charset="0"/>
              </a:rPr>
              <a:t> ⊈ </a:t>
            </a:r>
            <a:r>
              <a:rPr lang="en-US" i="1" dirty="0" smtClean="0">
                <a:ea typeface="Cambria Math" pitchFamily="18" charset="0"/>
              </a:rPr>
              <a:t>B</a:t>
            </a:r>
            <a:r>
              <a:rPr lang="en-US" b="1" dirty="0" smtClean="0">
                <a:latin typeface="Cambria Math" pitchFamily="18" charset="0"/>
                <a:ea typeface="Cambria Math" pitchFamily="18" charset="0"/>
              </a:rPr>
              <a:t>,</a:t>
            </a:r>
            <a:r>
              <a:rPr lang="en-US" dirty="0" smtClean="0"/>
              <a:t>  find an element </a:t>
            </a:r>
            <a:r>
              <a:rPr lang="en-US" i="1" dirty="0" smtClean="0">
                <a:ea typeface="Cambria Math" pitchFamily="18" charset="0"/>
              </a:rPr>
              <a:t>x</a:t>
            </a:r>
            <a:r>
              <a:rPr lang="en-US" dirty="0" smtClean="0">
                <a:latin typeface="Cambria Math" pitchFamily="18" charset="0"/>
                <a:ea typeface="Cambria Math" pitchFamily="18" charset="0"/>
              </a:rPr>
              <a:t> ∈ </a:t>
            </a:r>
            <a:r>
              <a:rPr lang="en-US" i="1" dirty="0" smtClean="0">
                <a:ea typeface="Cambria Math" pitchFamily="18" charset="0"/>
              </a:rPr>
              <a:t>A</a:t>
            </a:r>
            <a:r>
              <a:rPr lang="en-US" dirty="0" smtClean="0">
                <a:latin typeface="Cambria Math" pitchFamily="18" charset="0"/>
                <a:ea typeface="Cambria Math" pitchFamily="18" charset="0"/>
              </a:rPr>
              <a:t> with </a:t>
            </a:r>
            <a:r>
              <a:rPr lang="en-US" i="1" dirty="0" smtClean="0">
                <a:ea typeface="Cambria Math" pitchFamily="18" charset="0"/>
              </a:rPr>
              <a:t>x</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latin typeface="Cambria Math" pitchFamily="18" charset="0"/>
                <a:ea typeface="Cambria Math" pitchFamily="18" charset="0"/>
              </a:rPr>
              <a:t> </a:t>
            </a:r>
            <a:r>
              <a:rPr lang="en-US" i="1" dirty="0" smtClean="0">
                <a:ea typeface="Cambria Math" pitchFamily="18" charset="0"/>
              </a:rPr>
              <a:t>B</a:t>
            </a:r>
            <a:r>
              <a:rPr lang="en-US" b="1" dirty="0" smtClean="0">
                <a:latin typeface="Cambria Math" pitchFamily="18" charset="0"/>
                <a:ea typeface="Cambria Math" pitchFamily="18" charset="0"/>
              </a:rPr>
              <a:t>.</a:t>
            </a:r>
            <a:r>
              <a:rPr lang="en-US" dirty="0" smtClean="0">
                <a:latin typeface="Cambria Math" pitchFamily="18" charset="0"/>
                <a:ea typeface="Cambria Math" pitchFamily="18" charset="0"/>
              </a:rPr>
              <a:t>  </a:t>
            </a:r>
            <a:r>
              <a:rPr lang="en-US" dirty="0" smtClean="0">
                <a:ea typeface="Cambria Math" pitchFamily="18" charset="0"/>
              </a:rPr>
              <a:t>(</a:t>
            </a:r>
            <a:r>
              <a:rPr lang="en-US" dirty="0" smtClean="0">
                <a:latin typeface="Cambria Math" pitchFamily="18" charset="0"/>
                <a:ea typeface="Cambria Math" pitchFamily="18" charset="0"/>
              </a:rPr>
              <a:t>Such an </a:t>
            </a:r>
            <a:r>
              <a:rPr lang="en-US" i="1" dirty="0" smtClean="0">
                <a:ea typeface="Cambria Math" pitchFamily="18" charset="0"/>
              </a:rPr>
              <a:t>x</a:t>
            </a:r>
            <a:r>
              <a:rPr lang="en-US" dirty="0" smtClean="0">
                <a:latin typeface="Cambria Math" pitchFamily="18" charset="0"/>
                <a:ea typeface="Cambria Math" pitchFamily="18" charset="0"/>
              </a:rPr>
              <a:t> is a counterexample to the claim that </a:t>
            </a:r>
            <a:r>
              <a:rPr lang="en-US" i="1" dirty="0" smtClean="0">
                <a:ea typeface="Cambria Math" pitchFamily="18" charset="0"/>
              </a:rPr>
              <a:t>x</a:t>
            </a:r>
            <a:r>
              <a:rPr lang="en-US" dirty="0" smtClean="0">
                <a:latin typeface="Cambria Math" pitchFamily="18" charset="0"/>
                <a:ea typeface="Cambria Math" pitchFamily="18" charset="0"/>
              </a:rPr>
              <a:t> ∈ </a:t>
            </a:r>
            <a:r>
              <a:rPr lang="en-US" i="1" dirty="0" smtClean="0">
                <a:ea typeface="Cambria Math" pitchFamily="18" charset="0"/>
              </a:rPr>
              <a:t>A</a:t>
            </a:r>
            <a:r>
              <a:rPr lang="en-US" dirty="0" smtClean="0">
                <a:latin typeface="Cambria Math" pitchFamily="18" charset="0"/>
                <a:ea typeface="Cambria Math" pitchFamily="18" charset="0"/>
              </a:rPr>
              <a:t> implies </a:t>
            </a:r>
            <a:r>
              <a:rPr lang="en-US" i="1" dirty="0" smtClean="0">
                <a:ea typeface="Cambria Math" pitchFamily="18" charset="0"/>
              </a:rPr>
              <a:t>x</a:t>
            </a:r>
            <a:r>
              <a:rPr lang="en-US" dirty="0" smtClean="0">
                <a:latin typeface="Cambria Math" pitchFamily="18" charset="0"/>
                <a:ea typeface="Cambria Math" pitchFamily="18" charset="0"/>
              </a:rPr>
              <a:t> ∈ </a:t>
            </a:r>
            <a:r>
              <a:rPr lang="en-US" i="1" dirty="0" smtClean="0">
                <a:ea typeface="Cambria Math" pitchFamily="18" charset="0"/>
              </a:rPr>
              <a:t>B</a:t>
            </a:r>
            <a:r>
              <a:rPr lang="en-US" dirty="0" smtClean="0">
                <a:ea typeface="Cambria Math" pitchFamily="18" charset="0"/>
              </a:rPr>
              <a:t>.)</a:t>
            </a:r>
          </a:p>
          <a:p>
            <a:pPr>
              <a:buNone/>
            </a:pPr>
            <a:r>
              <a:rPr lang="en-US" b="1" dirty="0" smtClean="0">
                <a:latin typeface="Cambria Math" pitchFamily="18" charset="0"/>
                <a:ea typeface="Cambria Math" pitchFamily="18" charset="0"/>
              </a:rPr>
              <a:t>    </a:t>
            </a:r>
            <a:r>
              <a:rPr lang="en-US" b="1" dirty="0" smtClean="0">
                <a:ea typeface="Cambria Math" pitchFamily="18" charset="0"/>
              </a:rPr>
              <a:t>Examples</a:t>
            </a:r>
            <a:r>
              <a:rPr lang="en-US" dirty="0" smtClean="0">
                <a:ea typeface="Cambria Math" pitchFamily="18" charset="0"/>
              </a:rPr>
              <a:t>:</a:t>
            </a:r>
            <a:r>
              <a:rPr lang="en-US" b="1" dirty="0" smtClean="0">
                <a:ea typeface="Cambria Math" pitchFamily="18" charset="0"/>
              </a:rPr>
              <a:t> </a:t>
            </a:r>
          </a:p>
          <a:p>
            <a:pPr marL="850392" lvl="1" indent="-457200">
              <a:buFont typeface="+mj-lt"/>
              <a:buAutoNum type="arabicPeriod"/>
            </a:pPr>
            <a:r>
              <a:rPr lang="en-US" dirty="0" smtClean="0">
                <a:latin typeface="Cambria Math" pitchFamily="18" charset="0"/>
                <a:ea typeface="Cambria Math" pitchFamily="18" charset="0"/>
              </a:rPr>
              <a:t>The set of all computer science majors at your school is a subset of all students at your school.</a:t>
            </a:r>
          </a:p>
          <a:p>
            <a:pPr marL="850392" lvl="1" indent="-457200">
              <a:buFont typeface="+mj-lt"/>
              <a:buAutoNum type="arabicPeriod"/>
            </a:pPr>
            <a:r>
              <a:rPr lang="en-US" dirty="0" smtClean="0">
                <a:latin typeface="Cambria Math" pitchFamily="18" charset="0"/>
                <a:ea typeface="Cambria Math" pitchFamily="18" charset="0"/>
              </a:rPr>
              <a:t>The set of integers with squares less than 100 is not a subset of the set of nonnegative integers.</a:t>
            </a:r>
          </a:p>
          <a:p>
            <a:endParaRPr lang="en-US" b="1" dirty="0" smtClean="0">
              <a:latin typeface="Cambria Math" pitchFamily="18" charset="0"/>
              <a:ea typeface="Cambria Math" pitchFamily="18" charset="0"/>
            </a:endParaRPr>
          </a:p>
          <a:p>
            <a:endParaRPr lang="en-US" dirty="0"/>
          </a:p>
        </p:txBody>
      </p:sp>
    </p:spTree>
    <p:extLst>
      <p:ext uri="{BB962C8B-B14F-4D97-AF65-F5344CB8AC3E}">
        <p14:creationId xmlns:p14="http://schemas.microsoft.com/office/powerpoint/2010/main" val="127799875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look at Equality of Sets</a:t>
            </a:r>
            <a:endParaRPr lang="en-US" dirty="0"/>
          </a:p>
        </p:txBody>
      </p:sp>
      <p:sp>
        <p:nvSpPr>
          <p:cNvPr id="3" name="Content Placeholder 2"/>
          <p:cNvSpPr>
            <a:spLocks noGrp="1"/>
          </p:cNvSpPr>
          <p:nvPr>
            <p:ph idx="1"/>
          </p:nvPr>
        </p:nvSpPr>
        <p:spPr/>
        <p:txBody>
          <a:bodyPr/>
          <a:lstStyle/>
          <a:p>
            <a:r>
              <a:rPr lang="en-US" dirty="0" smtClean="0"/>
              <a:t>Recall that two sets </a:t>
            </a:r>
            <a:r>
              <a:rPr lang="en-US" i="1" dirty="0" smtClean="0"/>
              <a:t>A</a:t>
            </a:r>
            <a:r>
              <a:rPr lang="en-US" dirty="0" smtClean="0"/>
              <a:t> and </a:t>
            </a:r>
            <a:r>
              <a:rPr lang="en-US" i="1" dirty="0" smtClean="0"/>
              <a:t>B</a:t>
            </a:r>
            <a:r>
              <a:rPr lang="en-US" dirty="0" smtClean="0"/>
              <a:t> are </a:t>
            </a:r>
            <a:r>
              <a:rPr lang="en-US" i="1" dirty="0" smtClean="0"/>
              <a:t>equal</a:t>
            </a:r>
            <a:r>
              <a:rPr lang="en-US" dirty="0" smtClean="0"/>
              <a:t>, denoted by         </a:t>
            </a:r>
            <a:r>
              <a:rPr lang="en-US" i="1" dirty="0" smtClean="0"/>
              <a:t>A</a:t>
            </a:r>
            <a:r>
              <a:rPr lang="en-US" dirty="0" smtClean="0"/>
              <a:t> = </a:t>
            </a:r>
            <a:r>
              <a:rPr lang="en-US" i="1" dirty="0" smtClean="0"/>
              <a:t>B</a:t>
            </a:r>
            <a:r>
              <a:rPr lang="en-US" dirty="0" smtClean="0"/>
              <a:t>, </a:t>
            </a:r>
            <a:r>
              <a:rPr lang="en-US" dirty="0" err="1" smtClean="0"/>
              <a:t>iff</a:t>
            </a:r>
            <a:endParaRPr lang="en-US" dirty="0" smtClean="0"/>
          </a:p>
          <a:p>
            <a:pPr>
              <a:buNone/>
            </a:pPr>
            <a:endParaRPr lang="en-US" dirty="0" smtClean="0"/>
          </a:p>
          <a:p>
            <a:r>
              <a:rPr lang="en-US" dirty="0" smtClean="0"/>
              <a:t>Using logical equivalences we have that </a:t>
            </a:r>
            <a:r>
              <a:rPr lang="en-US" i="1" dirty="0" smtClean="0"/>
              <a:t>A</a:t>
            </a:r>
            <a:r>
              <a:rPr lang="en-US" dirty="0" smtClean="0"/>
              <a:t> = </a:t>
            </a:r>
            <a:r>
              <a:rPr lang="en-US" i="1" dirty="0" smtClean="0"/>
              <a:t>B</a:t>
            </a:r>
            <a:r>
              <a:rPr lang="en-US" dirty="0" smtClean="0"/>
              <a:t> </a:t>
            </a:r>
            <a:r>
              <a:rPr lang="en-US" dirty="0" err="1" smtClean="0"/>
              <a:t>iff</a:t>
            </a:r>
            <a:endParaRPr lang="en-US" dirty="0" smtClean="0"/>
          </a:p>
          <a:p>
            <a:pPr>
              <a:buNone/>
            </a:pPr>
            <a:endParaRPr lang="en-US" dirty="0" smtClean="0"/>
          </a:p>
          <a:p>
            <a:endParaRPr lang="en-US" dirty="0" smtClean="0"/>
          </a:p>
          <a:p>
            <a:r>
              <a:rPr lang="en-US" dirty="0" smtClean="0"/>
              <a:t> This is equivalent to</a:t>
            </a:r>
          </a:p>
          <a:p>
            <a:pPr>
              <a:buNone/>
            </a:pPr>
            <a:r>
              <a:rPr lang="en-US" dirty="0" smtClean="0"/>
              <a:t>                     </a:t>
            </a:r>
            <a:r>
              <a:rPr lang="en-US" i="1" dirty="0" smtClean="0">
                <a:ea typeface="Cambria Math" pitchFamily="18" charset="0"/>
              </a:rPr>
              <a:t>A</a:t>
            </a:r>
            <a:r>
              <a:rPr lang="en-US" dirty="0" smtClean="0">
                <a:latin typeface="Cambria Math" pitchFamily="18" charset="0"/>
                <a:ea typeface="Cambria Math" pitchFamily="18" charset="0"/>
              </a:rPr>
              <a:t> ⊆ </a:t>
            </a:r>
            <a:r>
              <a:rPr lang="en-US" i="1" dirty="0" smtClean="0">
                <a:ea typeface="Cambria Math" pitchFamily="18" charset="0"/>
              </a:rPr>
              <a:t>B</a:t>
            </a:r>
            <a:r>
              <a:rPr lang="en-US" dirty="0" smtClean="0"/>
              <a:t>        and      </a:t>
            </a:r>
            <a:r>
              <a:rPr lang="en-US" i="1" dirty="0" smtClean="0">
                <a:ea typeface="Cambria Math" pitchFamily="18" charset="0"/>
              </a:rPr>
              <a:t>B </a:t>
            </a:r>
            <a:r>
              <a:rPr lang="en-US" dirty="0" smtClean="0">
                <a:latin typeface="Cambria Math" pitchFamily="18" charset="0"/>
                <a:ea typeface="Cambria Math" pitchFamily="18" charset="0"/>
              </a:rPr>
              <a:t>⊆ </a:t>
            </a:r>
            <a:r>
              <a:rPr lang="en-US" i="1" dirty="0" smtClean="0">
                <a:ea typeface="Cambria Math" pitchFamily="18" charset="0"/>
              </a:rPr>
              <a:t>A</a:t>
            </a:r>
            <a:r>
              <a:rPr lang="en-US" dirty="0" smtClean="0">
                <a:latin typeface="Cambria Math" pitchFamily="18" charset="0"/>
                <a:ea typeface="Cambria Math" pitchFamily="18" charset="0"/>
              </a:rPr>
              <a:t> </a:t>
            </a:r>
            <a:endParaRPr lang="en-US" dirty="0"/>
          </a:p>
        </p:txBody>
      </p:sp>
      <p:pic>
        <p:nvPicPr>
          <p:cNvPr id="6" name="Picture 5" descr="addin_tmp.png"/>
          <p:cNvPicPr>
            <a:picLocks noChangeAspect="1"/>
          </p:cNvPicPr>
          <p:nvPr>
            <p:custDataLst>
              <p:tags r:id="rId1"/>
            </p:custDataLst>
          </p:nvPr>
        </p:nvPicPr>
        <p:blipFill>
          <a:blip r:embed="rId4" cstate="print"/>
          <a:stretch>
            <a:fillRect/>
          </a:stretch>
        </p:blipFill>
        <p:spPr>
          <a:xfrm>
            <a:off x="914400" y="4191000"/>
            <a:ext cx="6700838" cy="382905"/>
          </a:xfrm>
          <a:prstGeom prst="rect">
            <a:avLst/>
          </a:prstGeom>
        </p:spPr>
      </p:pic>
      <p:pic>
        <p:nvPicPr>
          <p:cNvPr id="8" name="Picture 7" descr="addin_tmp.png"/>
          <p:cNvPicPr>
            <a:picLocks noChangeAspect="1"/>
          </p:cNvPicPr>
          <p:nvPr>
            <p:custDataLst>
              <p:tags r:id="rId2"/>
            </p:custDataLst>
          </p:nvPr>
        </p:nvPicPr>
        <p:blipFill>
          <a:blip r:embed="rId5" cstate="print"/>
          <a:stretch>
            <a:fillRect/>
          </a:stretch>
        </p:blipFill>
        <p:spPr>
          <a:xfrm>
            <a:off x="2362200" y="2667000"/>
            <a:ext cx="3231833" cy="382905"/>
          </a:xfrm>
          <a:prstGeom prst="rect">
            <a:avLst/>
          </a:prstGeom>
        </p:spPr>
      </p:pic>
    </p:spTree>
    <p:extLst>
      <p:ext uri="{BB962C8B-B14F-4D97-AF65-F5344CB8AC3E}">
        <p14:creationId xmlns:p14="http://schemas.microsoft.com/office/powerpoint/2010/main" val="26731221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 Subsets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If </a:t>
            </a:r>
            <a:r>
              <a:rPr lang="en-US" i="1" dirty="0" smtClean="0">
                <a:ea typeface="Cambria Math" pitchFamily="18" charset="0"/>
              </a:rPr>
              <a:t>A</a:t>
            </a:r>
            <a:r>
              <a:rPr lang="en-US" dirty="0" smtClean="0">
                <a:latin typeface="Cambria Math" pitchFamily="18" charset="0"/>
                <a:ea typeface="Cambria Math" pitchFamily="18" charset="0"/>
              </a:rPr>
              <a:t> ⊆ </a:t>
            </a:r>
            <a:r>
              <a:rPr lang="en-US" i="1" dirty="0" smtClean="0">
                <a:ea typeface="Cambria Math" pitchFamily="18" charset="0"/>
              </a:rPr>
              <a:t>B</a:t>
            </a:r>
            <a:r>
              <a:rPr lang="en-US" dirty="0" smtClean="0"/>
              <a:t>, but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a:t>
            </a:r>
            <a:r>
              <a:rPr lang="en-US" i="1" dirty="0" smtClean="0">
                <a:ea typeface="Cambria Math" pitchFamily="18" charset="0"/>
              </a:rPr>
              <a:t>B</a:t>
            </a:r>
            <a:r>
              <a:rPr lang="en-US" dirty="0" smtClean="0"/>
              <a:t>, then we say </a:t>
            </a:r>
            <a:r>
              <a:rPr lang="en-US" i="1" dirty="0" smtClean="0"/>
              <a:t>A</a:t>
            </a:r>
            <a:r>
              <a:rPr lang="en-US" dirty="0" smtClean="0"/>
              <a:t> is a </a:t>
            </a:r>
            <a:r>
              <a:rPr lang="en-US" i="1" dirty="0" smtClean="0"/>
              <a:t>proper subset</a:t>
            </a:r>
            <a:r>
              <a:rPr lang="zh-CN" altLang="en-US" sz="2000" dirty="0" smtClean="0"/>
              <a:t>（真子集）</a:t>
            </a:r>
            <a:r>
              <a:rPr lang="en-US" i="1" dirty="0" smtClean="0"/>
              <a:t> </a:t>
            </a:r>
            <a:r>
              <a:rPr lang="en-US" dirty="0" smtClean="0"/>
              <a:t>of </a:t>
            </a:r>
            <a:r>
              <a:rPr lang="en-US" i="1" dirty="0" smtClean="0"/>
              <a:t>B</a:t>
            </a:r>
            <a:r>
              <a:rPr lang="en-US" dirty="0" smtClean="0"/>
              <a:t>, denoted by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latin typeface="Cambria Math" pitchFamily="18" charset="0"/>
                <a:ea typeface="Cambria Math" pitchFamily="18" charset="0"/>
              </a:rPr>
              <a:t> </a:t>
            </a:r>
            <a:r>
              <a:rPr lang="en-US" i="1" dirty="0" smtClean="0">
                <a:ea typeface="Cambria Math" pitchFamily="18" charset="0"/>
              </a:rPr>
              <a:t>B</a:t>
            </a:r>
            <a:r>
              <a:rPr lang="en-US" dirty="0" smtClean="0">
                <a:latin typeface="Cambria Math" pitchFamily="18" charset="0"/>
                <a:ea typeface="Cambria Math" pitchFamily="18" charset="0"/>
              </a:rPr>
              <a:t>. If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latin typeface="Cambria Math" pitchFamily="18" charset="0"/>
                <a:ea typeface="Cambria Math" pitchFamily="18" charset="0"/>
              </a:rPr>
              <a:t> </a:t>
            </a:r>
            <a:r>
              <a:rPr lang="en-US" i="1" dirty="0" smtClean="0">
                <a:ea typeface="Cambria Math" pitchFamily="18" charset="0"/>
              </a:rPr>
              <a:t>B</a:t>
            </a:r>
            <a:r>
              <a:rPr lang="en-US" dirty="0" smtClean="0">
                <a:ea typeface="Cambria Math" pitchFamily="18" charset="0"/>
              </a:rPr>
              <a:t>, then</a:t>
            </a:r>
          </a:p>
          <a:p>
            <a:pPr>
              <a:buNone/>
            </a:pPr>
            <a:endParaRPr lang="en-US" b="1" dirty="0" smtClean="0">
              <a:latin typeface="Cambria Math" pitchFamily="18" charset="0"/>
              <a:ea typeface="Cambria Math" pitchFamily="18" charset="0"/>
            </a:endParaRPr>
          </a:p>
          <a:p>
            <a:pPr>
              <a:buNone/>
            </a:pPr>
            <a:endParaRPr lang="en-US" b="1" dirty="0" smtClean="0">
              <a:latin typeface="Cambria Math" pitchFamily="18" charset="0"/>
              <a:ea typeface="Cambria Math" pitchFamily="18" charset="0"/>
            </a:endParaRPr>
          </a:p>
          <a:p>
            <a:pPr>
              <a:buNone/>
            </a:pP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is true. </a:t>
            </a:r>
            <a:endParaRPr lang="en-US" dirty="0" smtClean="0"/>
          </a:p>
          <a:p>
            <a:endParaRPr lang="en-US" dirty="0" smtClean="0"/>
          </a:p>
          <a:p>
            <a:pPr>
              <a:buNone/>
            </a:pPr>
            <a:r>
              <a:rPr lang="en-US" dirty="0" smtClean="0"/>
              <a:t>    Venn Diagram</a:t>
            </a:r>
            <a:endParaRPr lang="en-US" dirty="0"/>
          </a:p>
        </p:txBody>
      </p:sp>
      <p:pic>
        <p:nvPicPr>
          <p:cNvPr id="7" name="Picture 6" descr="addin_tmp.png"/>
          <p:cNvPicPr>
            <a:picLocks noChangeAspect="1"/>
          </p:cNvPicPr>
          <p:nvPr>
            <p:custDataLst>
              <p:tags r:id="rId1"/>
            </p:custDataLst>
          </p:nvPr>
        </p:nvPicPr>
        <p:blipFill>
          <a:blip r:embed="rId3" cstate="print"/>
          <a:stretch>
            <a:fillRect/>
          </a:stretch>
        </p:blipFill>
        <p:spPr>
          <a:xfrm>
            <a:off x="1143000" y="3200400"/>
            <a:ext cx="6755130" cy="382905"/>
          </a:xfrm>
          <a:prstGeom prst="rect">
            <a:avLst/>
          </a:prstGeom>
        </p:spPr>
      </p:pic>
      <p:sp>
        <p:nvSpPr>
          <p:cNvPr id="8" name="Rectangle 7"/>
          <p:cNvSpPr/>
          <p:nvPr/>
        </p:nvSpPr>
        <p:spPr>
          <a:xfrm>
            <a:off x="3124200" y="4495800"/>
            <a:ext cx="3962400" cy="1828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477000" y="4495800"/>
            <a:ext cx="609600" cy="369332"/>
          </a:xfrm>
          <a:prstGeom prst="rect">
            <a:avLst/>
          </a:prstGeom>
          <a:noFill/>
        </p:spPr>
        <p:txBody>
          <a:bodyPr wrap="square" rtlCol="0">
            <a:spAutoFit/>
          </a:bodyPr>
          <a:lstStyle/>
          <a:p>
            <a:r>
              <a:rPr lang="en-US" i="1" dirty="0" smtClean="0"/>
              <a:t>U</a:t>
            </a:r>
            <a:endParaRPr lang="en-US" i="1" dirty="0"/>
          </a:p>
        </p:txBody>
      </p:sp>
      <p:sp>
        <p:nvSpPr>
          <p:cNvPr id="10" name="Oval 9"/>
          <p:cNvSpPr/>
          <p:nvPr/>
        </p:nvSpPr>
        <p:spPr>
          <a:xfrm>
            <a:off x="4648200" y="4648200"/>
            <a:ext cx="1219200" cy="1295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029200" y="5105400"/>
            <a:ext cx="4572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029200" y="4724400"/>
            <a:ext cx="609600" cy="369332"/>
          </a:xfrm>
          <a:prstGeom prst="rect">
            <a:avLst/>
          </a:prstGeom>
          <a:noFill/>
        </p:spPr>
        <p:txBody>
          <a:bodyPr wrap="square" rtlCol="0">
            <a:spAutoFit/>
          </a:bodyPr>
          <a:lstStyle/>
          <a:p>
            <a:r>
              <a:rPr lang="en-US" i="1" dirty="0" smtClean="0"/>
              <a:t>B</a:t>
            </a:r>
            <a:endParaRPr lang="en-US" i="1" dirty="0"/>
          </a:p>
        </p:txBody>
      </p:sp>
      <p:sp>
        <p:nvSpPr>
          <p:cNvPr id="13" name="TextBox 12"/>
          <p:cNvSpPr txBox="1"/>
          <p:nvPr/>
        </p:nvSpPr>
        <p:spPr>
          <a:xfrm>
            <a:off x="5029200" y="5105400"/>
            <a:ext cx="609600" cy="369332"/>
          </a:xfrm>
          <a:prstGeom prst="rect">
            <a:avLst/>
          </a:prstGeom>
          <a:noFill/>
        </p:spPr>
        <p:txBody>
          <a:bodyPr wrap="square" rtlCol="0">
            <a:spAutoFit/>
          </a:bodyPr>
          <a:lstStyle/>
          <a:p>
            <a:r>
              <a:rPr lang="en-US" i="1" dirty="0" smtClean="0"/>
              <a:t>A</a:t>
            </a:r>
            <a:endParaRPr lang="en-US" i="1" dirty="0"/>
          </a:p>
        </p:txBody>
      </p:sp>
    </p:spTree>
    <p:extLst>
      <p:ext uri="{BB962C8B-B14F-4D97-AF65-F5344CB8AC3E}">
        <p14:creationId xmlns:p14="http://schemas.microsoft.com/office/powerpoint/2010/main" val="38955770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Cardinality</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Definition</a:t>
            </a:r>
            <a:r>
              <a:rPr lang="en-US" dirty="0" smtClean="0"/>
              <a:t>:</a:t>
            </a:r>
            <a:r>
              <a:rPr lang="en-US" b="1" dirty="0" smtClean="0"/>
              <a:t> </a:t>
            </a:r>
            <a:r>
              <a:rPr lang="en-US" dirty="0" smtClean="0"/>
              <a:t>If there are exactly n distinct elements in </a:t>
            </a:r>
            <a:r>
              <a:rPr lang="en-US" i="1" dirty="0" smtClean="0"/>
              <a:t>S </a:t>
            </a:r>
            <a:r>
              <a:rPr lang="en-US" dirty="0" smtClean="0"/>
              <a:t>where </a:t>
            </a:r>
            <a:r>
              <a:rPr lang="en-US" i="1" dirty="0" smtClean="0"/>
              <a:t>n</a:t>
            </a:r>
            <a:r>
              <a:rPr lang="en-US" dirty="0" smtClean="0"/>
              <a:t> is a nonnegative integer, we say that </a:t>
            </a:r>
            <a:r>
              <a:rPr lang="en-US" i="1" dirty="0" smtClean="0"/>
              <a:t>S</a:t>
            </a:r>
            <a:r>
              <a:rPr lang="en-US" dirty="0" smtClean="0"/>
              <a:t> is </a:t>
            </a:r>
            <a:r>
              <a:rPr lang="en-US" i="1" dirty="0" smtClean="0"/>
              <a:t>finite</a:t>
            </a:r>
            <a:r>
              <a:rPr lang="en-US" dirty="0" smtClean="0"/>
              <a:t>. Otherwise it is </a:t>
            </a:r>
            <a:r>
              <a:rPr lang="en-US" i="1" dirty="0" smtClean="0"/>
              <a:t>infinite</a:t>
            </a:r>
            <a:r>
              <a:rPr lang="en-US" dirty="0" smtClean="0"/>
              <a:t>. </a:t>
            </a:r>
          </a:p>
          <a:p>
            <a:pPr>
              <a:buNone/>
            </a:pPr>
            <a:r>
              <a:rPr lang="en-US" b="1" dirty="0" smtClean="0"/>
              <a:t>   Definition</a:t>
            </a:r>
            <a:r>
              <a:rPr lang="en-US" dirty="0" smtClean="0"/>
              <a:t>:</a:t>
            </a:r>
            <a:r>
              <a:rPr lang="en-US" b="1" dirty="0" smtClean="0"/>
              <a:t> </a:t>
            </a:r>
            <a:r>
              <a:rPr lang="en-US" dirty="0" smtClean="0"/>
              <a:t>The  </a:t>
            </a:r>
            <a:r>
              <a:rPr lang="en-US" i="1" dirty="0" smtClean="0"/>
              <a:t>cardinality</a:t>
            </a:r>
            <a:r>
              <a:rPr lang="en-US" dirty="0" smtClean="0"/>
              <a:t> of  a finite set </a:t>
            </a:r>
            <a:r>
              <a:rPr lang="en-US" i="1" dirty="0" smtClean="0"/>
              <a:t>A, </a:t>
            </a:r>
            <a:r>
              <a:rPr lang="en-US" dirty="0" smtClean="0"/>
              <a:t>denoted by |</a:t>
            </a:r>
            <a:r>
              <a:rPr lang="en-US" i="1" dirty="0" smtClean="0"/>
              <a:t>A</a:t>
            </a:r>
            <a:r>
              <a:rPr lang="en-US" dirty="0" smtClean="0"/>
              <a:t>|,  is the number of (distinct) elements of </a:t>
            </a:r>
            <a:r>
              <a:rPr lang="en-US" i="1" dirty="0" smtClean="0"/>
              <a:t>A</a:t>
            </a:r>
            <a:r>
              <a:rPr lang="en-US" dirty="0" smtClean="0"/>
              <a:t>. </a:t>
            </a:r>
          </a:p>
          <a:p>
            <a:pPr>
              <a:buNone/>
            </a:pPr>
            <a:r>
              <a:rPr lang="en-US" dirty="0" smtClean="0"/>
              <a:t>   </a:t>
            </a:r>
            <a:r>
              <a:rPr lang="en-US" b="1" dirty="0" smtClean="0"/>
              <a:t>Examples</a:t>
            </a:r>
            <a:r>
              <a:rPr lang="en-US" dirty="0" smtClean="0"/>
              <a:t>:</a:t>
            </a:r>
          </a:p>
          <a:p>
            <a:pPr marL="514350" indent="-514350">
              <a:buFont typeface="+mj-lt"/>
              <a:buAutoNum type="arabicPeriod"/>
            </a:pPr>
            <a:r>
              <a:rPr lang="en-US" dirty="0" smtClean="0"/>
              <a:t>|ø| = </a:t>
            </a:r>
            <a:r>
              <a:rPr lang="en-US" dirty="0" smtClean="0">
                <a:latin typeface="Cambria Math" pitchFamily="18" charset="0"/>
                <a:ea typeface="Cambria Math" pitchFamily="18" charset="0"/>
              </a:rPr>
              <a:t>0</a:t>
            </a:r>
          </a:p>
          <a:p>
            <a:pPr marL="514350" indent="-514350">
              <a:buFont typeface="+mj-lt"/>
              <a:buAutoNum type="arabicPeriod"/>
            </a:pPr>
            <a:r>
              <a:rPr lang="en-US" dirty="0" smtClean="0"/>
              <a:t>Let S be the letters of the English alphabet. Then |</a:t>
            </a:r>
            <a:r>
              <a:rPr lang="en-US" i="1" dirty="0" smtClean="0"/>
              <a:t>S</a:t>
            </a:r>
            <a:r>
              <a:rPr lang="en-US" dirty="0" smtClean="0"/>
              <a:t>| = </a:t>
            </a:r>
            <a:r>
              <a:rPr lang="en-US" dirty="0" smtClean="0">
                <a:latin typeface="Cambria Math" pitchFamily="18" charset="0"/>
                <a:ea typeface="Cambria Math" pitchFamily="18" charset="0"/>
              </a:rPr>
              <a:t>26</a:t>
            </a:r>
          </a:p>
          <a:p>
            <a:pPr marL="514350" indent="-514350">
              <a:buFont typeface="+mj-lt"/>
              <a:buAutoNum type="arabicPeriod"/>
            </a:pPr>
            <a:r>
              <a:rPr lang="en-US" dirty="0" smtClean="0"/>
              <a:t>|{</a:t>
            </a:r>
            <a:r>
              <a:rPr lang="en-US" dirty="0" smtClean="0">
                <a:latin typeface="Cambria Math" pitchFamily="18" charset="0"/>
                <a:ea typeface="Cambria Math" pitchFamily="18" charset="0"/>
              </a:rPr>
              <a:t>1,2,3</a:t>
            </a:r>
            <a:r>
              <a:rPr lang="en-US" dirty="0" smtClean="0"/>
              <a:t>}| = </a:t>
            </a:r>
            <a:r>
              <a:rPr lang="en-US" dirty="0" smtClean="0">
                <a:latin typeface="Cambria Math" pitchFamily="18" charset="0"/>
                <a:ea typeface="Cambria Math" pitchFamily="18" charset="0"/>
              </a:rPr>
              <a:t>3</a:t>
            </a:r>
          </a:p>
          <a:p>
            <a:pPr marL="514350" indent="-514350">
              <a:buFont typeface="+mj-lt"/>
              <a:buAutoNum type="arabicPeriod"/>
            </a:pPr>
            <a:r>
              <a:rPr lang="en-US" dirty="0" smtClean="0"/>
              <a:t>|{ø}| = </a:t>
            </a:r>
            <a:r>
              <a:rPr lang="en-US" dirty="0" smtClean="0">
                <a:latin typeface="Cambria Math" pitchFamily="18" charset="0"/>
                <a:ea typeface="Cambria Math" pitchFamily="18" charset="0"/>
              </a:rPr>
              <a:t>1</a:t>
            </a:r>
          </a:p>
          <a:p>
            <a:pPr marL="514350" indent="-514350">
              <a:buFont typeface="+mj-lt"/>
              <a:buAutoNum type="arabicPeriod"/>
            </a:pPr>
            <a:r>
              <a:rPr lang="en-US" dirty="0" smtClean="0"/>
              <a:t>The set of integers is infinite.</a:t>
            </a:r>
          </a:p>
          <a:p>
            <a:pPr>
              <a:buNone/>
            </a:pPr>
            <a:endParaRPr lang="en-US" dirty="0"/>
          </a:p>
        </p:txBody>
      </p:sp>
    </p:spTree>
    <p:extLst>
      <p:ext uri="{BB962C8B-B14F-4D97-AF65-F5344CB8AC3E}">
        <p14:creationId xmlns:p14="http://schemas.microsoft.com/office/powerpoint/2010/main" val="17244002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 Sets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The set of all subsets of a set </a:t>
            </a:r>
            <a:r>
              <a:rPr lang="en-US" i="1" dirty="0" smtClean="0"/>
              <a:t>A</a:t>
            </a:r>
            <a:r>
              <a:rPr lang="en-US" dirty="0" smtClean="0"/>
              <a:t>, denoted P</a:t>
            </a:r>
            <a:r>
              <a:rPr lang="en-US" b="1" dirty="0" smtClean="0"/>
              <a:t>(</a:t>
            </a:r>
            <a:r>
              <a:rPr lang="en-US" i="1" dirty="0" smtClean="0"/>
              <a:t>A</a:t>
            </a:r>
            <a:r>
              <a:rPr lang="en-US" b="1" dirty="0" smtClean="0"/>
              <a:t>)</a:t>
            </a:r>
            <a:r>
              <a:rPr lang="en-US" dirty="0" smtClean="0"/>
              <a:t>, is called the </a:t>
            </a:r>
            <a:r>
              <a:rPr lang="en-US" i="1" dirty="0" smtClean="0"/>
              <a:t>power set</a:t>
            </a:r>
            <a:r>
              <a:rPr lang="zh-CN" altLang="en-US" sz="2000" dirty="0" smtClean="0"/>
              <a:t>（幂集）</a:t>
            </a:r>
            <a:r>
              <a:rPr lang="en-US" i="1" dirty="0" smtClean="0"/>
              <a:t> </a:t>
            </a:r>
            <a:r>
              <a:rPr lang="en-US" dirty="0" smtClean="0"/>
              <a:t>of </a:t>
            </a:r>
            <a:r>
              <a:rPr lang="en-US" i="1" dirty="0" smtClean="0"/>
              <a:t>A</a:t>
            </a:r>
            <a:r>
              <a:rPr lang="en-US" dirty="0" smtClean="0"/>
              <a:t>.</a:t>
            </a:r>
          </a:p>
          <a:p>
            <a:pPr>
              <a:buNone/>
            </a:pPr>
            <a:r>
              <a:rPr lang="en-US" dirty="0" smtClean="0"/>
              <a:t>   </a:t>
            </a:r>
            <a:r>
              <a:rPr lang="en-US" b="1" dirty="0" smtClean="0"/>
              <a:t>Example</a:t>
            </a:r>
            <a:r>
              <a:rPr lang="en-US" dirty="0" smtClean="0"/>
              <a:t>: If </a:t>
            </a:r>
            <a:r>
              <a:rPr lang="en-US" i="1" dirty="0" smtClean="0"/>
              <a:t>A</a:t>
            </a:r>
            <a:r>
              <a:rPr lang="en-US" dirty="0" smtClean="0"/>
              <a:t> = {</a:t>
            </a:r>
            <a:r>
              <a:rPr lang="en-US" dirty="0" err="1" smtClean="0"/>
              <a:t>a,b</a:t>
            </a:r>
            <a:r>
              <a:rPr lang="en-US" dirty="0" smtClean="0"/>
              <a:t>} then </a:t>
            </a:r>
          </a:p>
          <a:p>
            <a:pPr>
              <a:buNone/>
            </a:pPr>
            <a:r>
              <a:rPr lang="en-US" dirty="0" smtClean="0"/>
              <a:t>              </a:t>
            </a:r>
            <a:r>
              <a:rPr lang="en-US" dirty="0" smtClean="0">
                <a:latin typeface="Brush Script MT" pitchFamily="66" charset="0"/>
              </a:rPr>
              <a:t>P</a:t>
            </a:r>
            <a:r>
              <a:rPr lang="en-US" dirty="0" smtClean="0"/>
              <a:t>(A) = {ø, {a},{b},{</a:t>
            </a:r>
            <a:r>
              <a:rPr lang="en-US" dirty="0" err="1" smtClean="0"/>
              <a:t>a,b</a:t>
            </a:r>
            <a:r>
              <a:rPr lang="en-US" dirty="0" smtClean="0"/>
              <a:t>}}</a:t>
            </a:r>
          </a:p>
          <a:p>
            <a:pPr>
              <a:buNone/>
            </a:pPr>
            <a:endParaRPr lang="en-US" dirty="0" smtClean="0"/>
          </a:p>
          <a:p>
            <a:r>
              <a:rPr lang="en-US" dirty="0" smtClean="0"/>
              <a:t>If a set has </a:t>
            </a:r>
            <a:r>
              <a:rPr lang="en-US" i="1" dirty="0" smtClean="0"/>
              <a:t>n</a:t>
            </a:r>
            <a:r>
              <a:rPr lang="en-US" dirty="0" smtClean="0"/>
              <a:t> elements, then the cardinality of the power set is </a:t>
            </a:r>
            <a:r>
              <a:rPr lang="en-US" dirty="0" smtClean="0">
                <a:latin typeface="Cambria Math" pitchFamily="18" charset="0"/>
                <a:ea typeface="Cambria Math" pitchFamily="18" charset="0"/>
              </a:rPr>
              <a:t>2</a:t>
            </a:r>
            <a:r>
              <a:rPr lang="en-US" i="1" dirty="0" smtClean="0"/>
              <a:t>ⁿ</a:t>
            </a:r>
            <a:r>
              <a:rPr lang="en-US" dirty="0" smtClean="0"/>
              <a:t>. (In Chapters 5 and 6, we will discuss different ways to show this.)</a:t>
            </a:r>
            <a:endParaRPr lang="en-US" dirty="0"/>
          </a:p>
        </p:txBody>
      </p:sp>
    </p:spTree>
    <p:extLst>
      <p:ext uri="{BB962C8B-B14F-4D97-AF65-F5344CB8AC3E}">
        <p14:creationId xmlns:p14="http://schemas.microsoft.com/office/powerpoint/2010/main" val="24801886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Tuples</a:t>
            </a:r>
            <a:endParaRPr lang="en-US" dirty="0"/>
          </a:p>
        </p:txBody>
      </p:sp>
      <p:sp>
        <p:nvSpPr>
          <p:cNvPr id="3" name="Content Placeholder 2"/>
          <p:cNvSpPr>
            <a:spLocks noGrp="1"/>
          </p:cNvSpPr>
          <p:nvPr>
            <p:ph idx="1"/>
          </p:nvPr>
        </p:nvSpPr>
        <p:spPr/>
        <p:txBody>
          <a:bodyPr/>
          <a:lstStyle/>
          <a:p>
            <a:r>
              <a:rPr lang="en-US" dirty="0" smtClean="0"/>
              <a:t>The </a:t>
            </a:r>
            <a:r>
              <a:rPr lang="en-US" i="1" dirty="0" smtClean="0"/>
              <a:t>ordered n-</a:t>
            </a:r>
            <a:r>
              <a:rPr lang="en-US" i="1" dirty="0" err="1" smtClean="0"/>
              <a:t>tuple</a:t>
            </a:r>
            <a:r>
              <a:rPr lang="en-US" i="1" dirty="0" smtClean="0"/>
              <a:t> </a:t>
            </a:r>
            <a:r>
              <a:rPr lang="en-US" dirty="0" smtClean="0"/>
              <a:t>  </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latin typeface="Cambria Math" pitchFamily="18" charset="0"/>
                <a:ea typeface="Cambria Math" pitchFamily="18" charset="0"/>
              </a:rPr>
              <a:t>)</a:t>
            </a:r>
            <a:r>
              <a:rPr lang="en-US" dirty="0" smtClean="0"/>
              <a:t>  is the ordered collection that has  </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t> as its first element and  </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t>  as its second element and so on until </a:t>
            </a:r>
            <a:r>
              <a:rPr lang="en-US"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t>  as its last element.</a:t>
            </a:r>
          </a:p>
          <a:p>
            <a:r>
              <a:rPr lang="en-US" dirty="0" smtClean="0"/>
              <a:t>Two n-</a:t>
            </a:r>
            <a:r>
              <a:rPr lang="en-US" dirty="0" err="1" smtClean="0"/>
              <a:t>tuples</a:t>
            </a:r>
            <a:r>
              <a:rPr lang="en-US" dirty="0" smtClean="0"/>
              <a:t> are equal if and only if their corresponding elements are equal.</a:t>
            </a:r>
          </a:p>
          <a:p>
            <a:r>
              <a:rPr lang="en-US" dirty="0" smtClean="0"/>
              <a:t>2-tuples are called </a:t>
            </a:r>
            <a:r>
              <a:rPr lang="en-US" i="1" dirty="0" smtClean="0"/>
              <a:t>ordered pairs</a:t>
            </a:r>
            <a:r>
              <a:rPr lang="zh-CN" altLang="en-US" sz="2000" dirty="0" smtClean="0"/>
              <a:t>（序偶）</a:t>
            </a:r>
            <a:r>
              <a:rPr lang="en-US" dirty="0" smtClean="0"/>
              <a:t>.</a:t>
            </a:r>
          </a:p>
          <a:p>
            <a:r>
              <a:rPr lang="en-US" dirty="0" smtClean="0"/>
              <a:t>The ordered pairs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t>) and (</a:t>
            </a:r>
            <a:r>
              <a:rPr lang="en-US" i="1" dirty="0" err="1" smtClean="0">
                <a:latin typeface="Cambria Math" pitchFamily="18" charset="0"/>
                <a:ea typeface="Cambria Math" pitchFamily="18" charset="0"/>
              </a:rPr>
              <a:t>c,d</a:t>
            </a:r>
            <a:r>
              <a:rPr lang="en-US" dirty="0" smtClean="0"/>
              <a:t>) are equal if and only if </a:t>
            </a:r>
            <a:r>
              <a:rPr lang="en-US" i="1" dirty="0" smtClean="0">
                <a:latin typeface="Cambria Math" pitchFamily="18" charset="0"/>
                <a:ea typeface="Cambria Math" pitchFamily="18" charset="0"/>
              </a:rPr>
              <a:t>a = c </a:t>
            </a:r>
            <a:r>
              <a:rPr lang="en-US" dirty="0" smtClean="0"/>
              <a:t>and </a:t>
            </a:r>
            <a:r>
              <a:rPr lang="en-US" i="1" dirty="0" smtClean="0">
                <a:latin typeface="Cambria Math" pitchFamily="18" charset="0"/>
                <a:ea typeface="Cambria Math" pitchFamily="18" charset="0"/>
              </a:rPr>
              <a:t>b = d</a:t>
            </a:r>
            <a:r>
              <a:rPr lang="en-US" dirty="0" smtClean="0"/>
              <a:t>.</a:t>
            </a:r>
          </a:p>
          <a:p>
            <a:endParaRPr lang="en-US" dirty="0"/>
          </a:p>
        </p:txBody>
      </p:sp>
    </p:spTree>
    <p:extLst>
      <p:ext uri="{BB962C8B-B14F-4D97-AF65-F5344CB8AC3E}">
        <p14:creationId xmlns:p14="http://schemas.microsoft.com/office/powerpoint/2010/main" val="23142015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a:t>
            </a:r>
            <a:endParaRPr lang="en-US" dirty="0"/>
          </a:p>
        </p:txBody>
      </p:sp>
      <p:sp>
        <p:nvSpPr>
          <p:cNvPr id="3" name="Content Placeholder 2"/>
          <p:cNvSpPr>
            <a:spLocks noGrp="1"/>
          </p:cNvSpPr>
          <p:nvPr>
            <p:ph idx="1"/>
          </p:nvPr>
        </p:nvSpPr>
        <p:spPr>
          <a:xfrm>
            <a:off x="457200" y="1905000"/>
            <a:ext cx="8229600" cy="4648200"/>
          </a:xfrm>
        </p:spPr>
        <p:txBody>
          <a:bodyPr>
            <a:normAutofit fontScale="55000" lnSpcReduction="20000"/>
          </a:bodyPr>
          <a:lstStyle/>
          <a:p>
            <a:pPr>
              <a:buNone/>
            </a:pPr>
            <a:r>
              <a:rPr lang="en-US" sz="4500" b="1" dirty="0" smtClean="0">
                <a:ea typeface="Cambria Math" pitchFamily="18" charset="0"/>
              </a:rPr>
              <a:t>   Definition</a:t>
            </a:r>
            <a:r>
              <a:rPr lang="en-US" sz="4500" dirty="0" smtClean="0">
                <a:ea typeface="Cambria Math" pitchFamily="18" charset="0"/>
              </a:rPr>
              <a:t>:  The </a:t>
            </a:r>
            <a:r>
              <a:rPr lang="en-US" sz="4500" i="1" dirty="0" smtClean="0">
                <a:ea typeface="Cambria Math" pitchFamily="18" charset="0"/>
              </a:rPr>
              <a:t>Cartesian Product </a:t>
            </a:r>
            <a:r>
              <a:rPr lang="en-US" sz="4500" dirty="0" smtClean="0">
                <a:ea typeface="Cambria Math" pitchFamily="18" charset="0"/>
              </a:rPr>
              <a:t>of two sets </a:t>
            </a:r>
            <a:r>
              <a:rPr lang="en-US" sz="4500" i="1" dirty="0" smtClean="0">
                <a:ea typeface="Cambria Math" pitchFamily="18" charset="0"/>
              </a:rPr>
              <a:t>A</a:t>
            </a:r>
            <a:r>
              <a:rPr lang="en-US" sz="4500" b="1" dirty="0" smtClean="0">
                <a:ea typeface="Cambria Math" pitchFamily="18" charset="0"/>
              </a:rPr>
              <a:t> </a:t>
            </a:r>
            <a:r>
              <a:rPr lang="en-US" sz="4500" dirty="0" smtClean="0">
                <a:ea typeface="Cambria Math" pitchFamily="18" charset="0"/>
              </a:rPr>
              <a:t>and </a:t>
            </a:r>
            <a:r>
              <a:rPr lang="en-US" sz="4500" i="1" dirty="0" smtClean="0">
                <a:ea typeface="Cambria Math" pitchFamily="18" charset="0"/>
              </a:rPr>
              <a:t>B</a:t>
            </a:r>
            <a:r>
              <a:rPr lang="en-US" sz="4500" dirty="0" smtClean="0">
                <a:ea typeface="Cambria Math" pitchFamily="18" charset="0"/>
              </a:rPr>
              <a:t>, denoted by   </a:t>
            </a:r>
            <a:r>
              <a:rPr lang="en-US" sz="4500" i="1" dirty="0" smtClean="0">
                <a:ea typeface="Cambria Math" pitchFamily="18" charset="0"/>
              </a:rPr>
              <a:t>A</a:t>
            </a:r>
            <a:r>
              <a:rPr lang="en-US" sz="4500" dirty="0" smtClean="0">
                <a:ea typeface="Cambria Math" pitchFamily="18" charset="0"/>
              </a:rPr>
              <a:t> × </a:t>
            </a:r>
            <a:r>
              <a:rPr lang="en-US" sz="4500" i="1" dirty="0" smtClean="0">
                <a:ea typeface="Cambria Math" pitchFamily="18" charset="0"/>
              </a:rPr>
              <a:t>B</a:t>
            </a:r>
            <a:r>
              <a:rPr lang="en-US" sz="4500" dirty="0" smtClean="0">
                <a:ea typeface="Cambria Math" pitchFamily="18" charset="0"/>
              </a:rPr>
              <a:t> is the set of ordered pairs (</a:t>
            </a:r>
            <a:r>
              <a:rPr lang="en-US" sz="4500" dirty="0" err="1" smtClean="0">
                <a:ea typeface="Cambria Math" pitchFamily="18" charset="0"/>
              </a:rPr>
              <a:t>a,b</a:t>
            </a:r>
            <a:r>
              <a:rPr lang="en-US" sz="4500" dirty="0" smtClean="0">
                <a:ea typeface="Cambria Math" pitchFamily="18" charset="0"/>
              </a:rPr>
              <a:t>) where    </a:t>
            </a:r>
            <a:r>
              <a:rPr lang="en-US" sz="4500" i="1" dirty="0" smtClean="0">
                <a:ea typeface="Cambria Math" pitchFamily="18" charset="0"/>
              </a:rPr>
              <a:t>a </a:t>
            </a:r>
            <a:r>
              <a:rPr lang="en-US" sz="4500"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and </a:t>
            </a:r>
            <a:r>
              <a:rPr lang="en-US" sz="4500" i="1" dirty="0" smtClean="0">
                <a:ea typeface="Cambria Math" pitchFamily="18" charset="0"/>
              </a:rPr>
              <a:t>b </a:t>
            </a:r>
            <a:r>
              <a:rPr lang="en-US" sz="4500" dirty="0" smtClean="0">
                <a:ea typeface="Cambria Math" pitchFamily="18" charset="0"/>
              </a:rPr>
              <a:t>∈ </a:t>
            </a:r>
            <a:r>
              <a:rPr lang="en-US" sz="4500" i="1" dirty="0" smtClean="0">
                <a:ea typeface="Cambria Math" pitchFamily="18" charset="0"/>
              </a:rPr>
              <a:t>B</a:t>
            </a:r>
            <a:r>
              <a:rPr lang="en-US" sz="4500" dirty="0" smtClean="0">
                <a:ea typeface="Cambria Math" pitchFamily="18" charset="0"/>
              </a:rPr>
              <a:t> .</a:t>
            </a:r>
          </a:p>
          <a:p>
            <a:pPr>
              <a:buNone/>
            </a:pPr>
            <a:endParaRPr lang="en-US" sz="4500" dirty="0" smtClean="0">
              <a:ea typeface="Cambria Math" pitchFamily="18" charset="0"/>
            </a:endParaRPr>
          </a:p>
          <a:p>
            <a:pPr>
              <a:buNone/>
            </a:pPr>
            <a:r>
              <a:rPr lang="en-US" sz="4500" b="1" dirty="0" smtClean="0">
                <a:ea typeface="Cambria Math" pitchFamily="18" charset="0"/>
              </a:rPr>
              <a:t>   Example</a:t>
            </a:r>
            <a:r>
              <a:rPr lang="en-US" sz="4500" dirty="0" smtClean="0">
                <a:ea typeface="Cambria Math" pitchFamily="18" charset="0"/>
              </a:rPr>
              <a:t>:</a:t>
            </a:r>
          </a:p>
          <a:p>
            <a:pPr>
              <a:buNone/>
            </a:pPr>
            <a:r>
              <a:rPr lang="en-US" sz="4500"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 {</a:t>
            </a:r>
            <a:r>
              <a:rPr lang="en-US" sz="4500" i="1" dirty="0" err="1" smtClean="0">
                <a:ea typeface="Cambria Math" pitchFamily="18" charset="0"/>
              </a:rPr>
              <a:t>a,b</a:t>
            </a:r>
            <a:r>
              <a:rPr lang="en-US" sz="4500" dirty="0" smtClean="0">
                <a:ea typeface="Cambria Math" pitchFamily="18" charset="0"/>
              </a:rPr>
              <a:t>}   </a:t>
            </a:r>
            <a:r>
              <a:rPr lang="en-US" sz="4500" i="1" dirty="0" smtClean="0">
                <a:ea typeface="Cambria Math" pitchFamily="18" charset="0"/>
              </a:rPr>
              <a:t>B</a:t>
            </a:r>
            <a:r>
              <a:rPr lang="en-US" sz="4500" dirty="0" smtClean="0">
                <a:ea typeface="Cambria Math" pitchFamily="18" charset="0"/>
              </a:rPr>
              <a:t> = {1,2,3}</a:t>
            </a:r>
          </a:p>
          <a:p>
            <a:pPr>
              <a:buNone/>
            </a:pPr>
            <a:r>
              <a:rPr lang="en-US" sz="4500"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 </a:t>
            </a:r>
            <a:r>
              <a:rPr lang="en-US" sz="4500" i="1" dirty="0" smtClean="0">
                <a:ea typeface="Cambria Math" pitchFamily="18" charset="0"/>
              </a:rPr>
              <a:t>B</a:t>
            </a:r>
            <a:r>
              <a:rPr lang="en-US" sz="4500" dirty="0" smtClean="0">
                <a:ea typeface="Cambria Math" pitchFamily="18" charset="0"/>
              </a:rPr>
              <a:t> = {(</a:t>
            </a:r>
            <a:r>
              <a:rPr lang="en-US" sz="4500" i="1" dirty="0" smtClean="0">
                <a:ea typeface="Cambria Math" pitchFamily="18" charset="0"/>
              </a:rPr>
              <a:t>a</a:t>
            </a:r>
            <a:r>
              <a:rPr lang="en-US" sz="4500" dirty="0" smtClean="0">
                <a:ea typeface="Cambria Math" pitchFamily="18" charset="0"/>
              </a:rPr>
              <a:t>,1),(</a:t>
            </a:r>
            <a:r>
              <a:rPr lang="en-US" sz="4500" i="1" dirty="0" smtClean="0">
                <a:ea typeface="Cambria Math" pitchFamily="18" charset="0"/>
              </a:rPr>
              <a:t>a</a:t>
            </a:r>
            <a:r>
              <a:rPr lang="en-US" sz="4500" dirty="0" smtClean="0">
                <a:ea typeface="Cambria Math" pitchFamily="18" charset="0"/>
              </a:rPr>
              <a:t>,2),(</a:t>
            </a:r>
            <a:r>
              <a:rPr lang="en-US" sz="4500" i="1" dirty="0" smtClean="0">
                <a:ea typeface="Cambria Math" pitchFamily="18" charset="0"/>
              </a:rPr>
              <a:t>a</a:t>
            </a:r>
            <a:r>
              <a:rPr lang="en-US" sz="4500" dirty="0" smtClean="0">
                <a:ea typeface="Cambria Math" pitchFamily="18" charset="0"/>
              </a:rPr>
              <a:t>,3), (</a:t>
            </a:r>
            <a:r>
              <a:rPr lang="en-US" sz="4500" i="1" dirty="0" smtClean="0">
                <a:ea typeface="Cambria Math" pitchFamily="18" charset="0"/>
              </a:rPr>
              <a:t>b</a:t>
            </a:r>
            <a:r>
              <a:rPr lang="en-US" sz="4500" dirty="0" smtClean="0">
                <a:ea typeface="Cambria Math" pitchFamily="18" charset="0"/>
              </a:rPr>
              <a:t>,1),(</a:t>
            </a:r>
            <a:r>
              <a:rPr lang="en-US" sz="4500" i="1" dirty="0" smtClean="0">
                <a:ea typeface="Cambria Math" pitchFamily="18" charset="0"/>
              </a:rPr>
              <a:t>b,</a:t>
            </a:r>
            <a:r>
              <a:rPr lang="en-US" sz="4500" dirty="0" smtClean="0">
                <a:ea typeface="Cambria Math" pitchFamily="18" charset="0"/>
              </a:rPr>
              <a:t>2),(</a:t>
            </a:r>
            <a:r>
              <a:rPr lang="en-US" sz="4500" i="1" dirty="0" smtClean="0">
                <a:ea typeface="Cambria Math" pitchFamily="18" charset="0"/>
              </a:rPr>
              <a:t>b,</a:t>
            </a:r>
            <a:r>
              <a:rPr lang="en-US" sz="4500" dirty="0" smtClean="0">
                <a:ea typeface="Cambria Math" pitchFamily="18" charset="0"/>
              </a:rPr>
              <a:t>3)}</a:t>
            </a:r>
          </a:p>
          <a:p>
            <a:pPr>
              <a:buNone/>
            </a:pPr>
            <a:endParaRPr lang="en-US" sz="4500" dirty="0" smtClean="0">
              <a:ea typeface="Cambria Math" pitchFamily="18" charset="0"/>
            </a:endParaRPr>
          </a:p>
          <a:p>
            <a:r>
              <a:rPr lang="en-US" sz="4500" b="1" dirty="0" smtClean="0">
                <a:ea typeface="Cambria Math" pitchFamily="18" charset="0"/>
              </a:rPr>
              <a:t>Definition</a:t>
            </a:r>
            <a:r>
              <a:rPr lang="en-US" sz="4500" dirty="0" smtClean="0">
                <a:ea typeface="Cambria Math" pitchFamily="18" charset="0"/>
              </a:rPr>
              <a:t>: A subset </a:t>
            </a:r>
            <a:r>
              <a:rPr lang="en-US" sz="4500" i="1" dirty="0" smtClean="0">
                <a:ea typeface="Cambria Math" pitchFamily="18" charset="0"/>
              </a:rPr>
              <a:t>R</a:t>
            </a:r>
            <a:r>
              <a:rPr lang="en-US" sz="4500" dirty="0" smtClean="0">
                <a:ea typeface="Cambria Math" pitchFamily="18" charset="0"/>
              </a:rPr>
              <a:t> of the Cartesian product</a:t>
            </a:r>
            <a:r>
              <a:rPr lang="en-US" sz="4500" b="1"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 </a:t>
            </a:r>
            <a:r>
              <a:rPr lang="en-US" sz="4500" i="1" dirty="0" smtClean="0">
                <a:ea typeface="Cambria Math" pitchFamily="18" charset="0"/>
              </a:rPr>
              <a:t>B</a:t>
            </a:r>
            <a:r>
              <a:rPr lang="en-US" sz="4500" dirty="0" smtClean="0">
                <a:ea typeface="Cambria Math" pitchFamily="18" charset="0"/>
              </a:rPr>
              <a:t> is called a </a:t>
            </a:r>
            <a:r>
              <a:rPr lang="en-US" sz="4500" i="1" dirty="0" smtClean="0">
                <a:ea typeface="Cambria Math" pitchFamily="18" charset="0"/>
              </a:rPr>
              <a:t>relation</a:t>
            </a:r>
            <a:r>
              <a:rPr lang="zh-CN" altLang="en-US" sz="3600" dirty="0" smtClean="0">
                <a:ea typeface="Cambria Math" pitchFamily="18" charset="0"/>
              </a:rPr>
              <a:t>（关系）</a:t>
            </a:r>
            <a:r>
              <a:rPr lang="en-US" sz="4500" i="1" dirty="0" smtClean="0">
                <a:ea typeface="Cambria Math" pitchFamily="18" charset="0"/>
              </a:rPr>
              <a:t> </a:t>
            </a:r>
            <a:r>
              <a:rPr lang="en-US" sz="4500" dirty="0" smtClean="0">
                <a:ea typeface="Cambria Math" pitchFamily="18" charset="0"/>
              </a:rPr>
              <a:t>from the set A to the set B. (Relations will be covered in depth in Chapter </a:t>
            </a:r>
            <a:r>
              <a:rPr lang="en-US" sz="4500" dirty="0" smtClean="0">
                <a:latin typeface="Cambria Math" pitchFamily="18" charset="0"/>
                <a:ea typeface="Cambria Math" pitchFamily="18" charset="0"/>
              </a:rPr>
              <a:t>9</a:t>
            </a:r>
            <a:r>
              <a:rPr lang="en-US" sz="4500" dirty="0" smtClean="0">
                <a:ea typeface="Cambria Math" pitchFamily="18" charset="0"/>
              </a:rPr>
              <a:t>. )</a:t>
            </a:r>
          </a:p>
          <a:p>
            <a:endParaRPr lang="en-US" dirty="0" smtClean="0"/>
          </a:p>
          <a:p>
            <a:pPr>
              <a:buNone/>
            </a:pPr>
            <a:r>
              <a:rPr lang="en-US" dirty="0" smtClean="0"/>
              <a:t>   </a:t>
            </a:r>
            <a:endParaRPr lang="en-US" i="1" dirty="0"/>
          </a:p>
        </p:txBody>
      </p:sp>
      <p:pic>
        <p:nvPicPr>
          <p:cNvPr id="8" name="Picture 7" descr="addin_tmp.png"/>
          <p:cNvPicPr>
            <a:picLocks noChangeAspect="1"/>
          </p:cNvPicPr>
          <p:nvPr>
            <p:custDataLst>
              <p:tags r:id="rId1"/>
            </p:custDataLst>
          </p:nvPr>
        </p:nvPicPr>
        <p:blipFill>
          <a:blip r:embed="rId3" cstate="print"/>
          <a:stretch>
            <a:fillRect/>
          </a:stretch>
        </p:blipFill>
        <p:spPr>
          <a:xfrm>
            <a:off x="3124200" y="2895600"/>
            <a:ext cx="5143500" cy="382905"/>
          </a:xfrm>
          <a:prstGeom prst="rect">
            <a:avLst/>
          </a:prstGeom>
        </p:spPr>
      </p:pic>
      <p:pic>
        <p:nvPicPr>
          <p:cNvPr id="5" name="Picture 4" descr="0206.jpg"/>
          <p:cNvPicPr>
            <a:picLocks noChangeAspect="1"/>
          </p:cNvPicPr>
          <p:nvPr/>
        </p:nvPicPr>
        <p:blipFill>
          <a:blip r:embed="rId4" cstate="print"/>
          <a:stretch>
            <a:fillRect/>
          </a:stretch>
        </p:blipFill>
        <p:spPr>
          <a:xfrm>
            <a:off x="5410200" y="381000"/>
            <a:ext cx="899160" cy="1042416"/>
          </a:xfrm>
          <a:prstGeom prst="rect">
            <a:avLst/>
          </a:prstGeom>
        </p:spPr>
      </p:pic>
      <p:sp>
        <p:nvSpPr>
          <p:cNvPr id="6" name="TextBox 5"/>
          <p:cNvSpPr txBox="1"/>
          <p:nvPr/>
        </p:nvSpPr>
        <p:spPr>
          <a:xfrm>
            <a:off x="6400800" y="533400"/>
            <a:ext cx="1752600" cy="646331"/>
          </a:xfrm>
          <a:prstGeom prst="rect">
            <a:avLst/>
          </a:prstGeom>
          <a:noFill/>
        </p:spPr>
        <p:txBody>
          <a:bodyPr wrap="square" rtlCol="0">
            <a:spAutoFit/>
          </a:bodyPr>
          <a:lstStyle/>
          <a:p>
            <a:r>
              <a:rPr lang="en-US" dirty="0" smtClean="0"/>
              <a:t>Ren</a:t>
            </a:r>
            <a:r>
              <a:rPr lang="en-US" dirty="0" smtClean="0">
                <a:latin typeface="Cambria Math"/>
                <a:ea typeface="Cambria Math"/>
              </a:rPr>
              <a:t>é Descartes (1596-1650)</a:t>
            </a:r>
          </a:p>
        </p:txBody>
      </p:sp>
    </p:spTree>
    <p:extLst>
      <p:ext uri="{BB962C8B-B14F-4D97-AF65-F5344CB8AC3E}">
        <p14:creationId xmlns:p14="http://schemas.microsoft.com/office/powerpoint/2010/main" val="1181346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 </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a:t>
            </a:r>
            <a:r>
              <a:rPr lang="en-US" b="1" dirty="0" smtClean="0"/>
              <a:t>Definition</a:t>
            </a:r>
            <a:r>
              <a:rPr lang="en-US" dirty="0" smtClean="0"/>
              <a:t>: The </a:t>
            </a:r>
            <a:r>
              <a:rPr lang="en-US" dirty="0" err="1" smtClean="0"/>
              <a:t>cartesian</a:t>
            </a:r>
            <a:r>
              <a:rPr lang="en-US" dirty="0" smtClean="0"/>
              <a:t> products of the sets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t>, denoted by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 </a:t>
            </a:r>
            <a:r>
              <a:rPr lang="en-US" dirty="0" smtClean="0">
                <a:latin typeface="Cambria Math" pitchFamily="18" charset="0"/>
                <a:ea typeface="Cambria Math" pitchFamily="18" charset="0"/>
              </a:rPr>
              <a:t>×</a:t>
            </a:r>
            <a:r>
              <a:rPr lang="en-US" b="1" baseline="-25000" dirty="0" smtClean="0">
                <a:latin typeface="Cambria Math" pitchFamily="18" charset="0"/>
                <a:ea typeface="Cambria Math" pitchFamily="18" charset="0"/>
              </a:rPr>
              <a:t> </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latin typeface="Cambria Math" pitchFamily="18" charset="0"/>
                <a:ea typeface="Cambria Math" pitchFamily="18" charset="0"/>
              </a:rPr>
              <a:t> , </a:t>
            </a:r>
            <a:r>
              <a:rPr lang="en-US" dirty="0" smtClean="0"/>
              <a:t>is the set of ordered           </a:t>
            </a:r>
            <a:r>
              <a:rPr lang="en-US" i="1" dirty="0" smtClean="0"/>
              <a:t>n</a:t>
            </a:r>
            <a:r>
              <a:rPr lang="en-US" dirty="0" smtClean="0"/>
              <a:t>-</a:t>
            </a:r>
            <a:r>
              <a:rPr lang="en-US" dirty="0" err="1" smtClean="0"/>
              <a:t>tuples</a:t>
            </a:r>
            <a:r>
              <a:rPr lang="en-US" dirty="0" smtClean="0"/>
              <a:t>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t>)  where   </a:t>
            </a:r>
            <a:r>
              <a:rPr lang="en-US" i="1" dirty="0" err="1" smtClean="0">
                <a:latin typeface="Cambria Math" pitchFamily="18" charset="0"/>
                <a:ea typeface="Cambria Math" pitchFamily="18" charset="0"/>
              </a:rPr>
              <a:t>a</a:t>
            </a:r>
            <a:r>
              <a:rPr lang="en-US" i="1" baseline="-25000" dirty="0" err="1" smtClean="0">
                <a:latin typeface="Cambria Math" pitchFamily="18" charset="0"/>
                <a:ea typeface="Cambria Math" pitchFamily="18" charset="0"/>
              </a:rPr>
              <a:t>i</a:t>
            </a:r>
            <a:r>
              <a:rPr lang="en-US" dirty="0" smtClean="0"/>
              <a:t>   belongs to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i</a:t>
            </a:r>
            <a:r>
              <a:rPr lang="en-US" dirty="0" smtClean="0"/>
              <a:t>                   for </a:t>
            </a:r>
            <a:r>
              <a:rPr lang="en-US" i="1" dirty="0" err="1" smtClean="0"/>
              <a:t>i</a:t>
            </a:r>
            <a:r>
              <a:rPr lang="en-US" dirty="0" smtClean="0"/>
              <a:t> = </a:t>
            </a:r>
            <a:r>
              <a:rPr lang="en-US" dirty="0" smtClean="0">
                <a:latin typeface="Cambria Math" pitchFamily="18" charset="0"/>
                <a:ea typeface="Cambria Math" pitchFamily="18" charset="0"/>
              </a:rPr>
              <a:t>1</a:t>
            </a:r>
            <a:r>
              <a:rPr lang="en-US" dirty="0" smtClean="0"/>
              <a:t>, … </a:t>
            </a:r>
            <a:r>
              <a:rPr lang="en-US" i="1" dirty="0" smtClean="0">
                <a:latin typeface="Cambria Math" pitchFamily="18" charset="0"/>
                <a:ea typeface="Cambria Math" pitchFamily="18" charset="0"/>
              </a:rPr>
              <a:t>n</a:t>
            </a:r>
            <a:r>
              <a:rPr lang="en-US" dirty="0" smtClean="0"/>
              <a:t>. </a:t>
            </a:r>
          </a:p>
          <a:p>
            <a:endParaRPr lang="en-US" dirty="0" smtClean="0"/>
          </a:p>
          <a:p>
            <a:endParaRPr lang="en-US" dirty="0" smtClean="0"/>
          </a:p>
          <a:p>
            <a:endParaRPr lang="en-US" dirty="0" smtClean="0"/>
          </a:p>
          <a:p>
            <a:pPr>
              <a:buNone/>
            </a:pPr>
            <a:r>
              <a:rPr lang="en-US" b="1" dirty="0" smtClean="0"/>
              <a:t>  Example</a:t>
            </a:r>
            <a:r>
              <a:rPr lang="en-US" dirty="0" smtClean="0"/>
              <a:t>: What is </a:t>
            </a:r>
            <a:r>
              <a:rPr lang="en-US" i="1" dirty="0" smtClean="0"/>
              <a:t>A</a:t>
            </a:r>
            <a:r>
              <a:rPr lang="en-US" dirty="0" smtClean="0">
                <a:latin typeface="Cambria Math" pitchFamily="18" charset="0"/>
                <a:ea typeface="Cambria Math" pitchFamily="18" charset="0"/>
              </a:rPr>
              <a:t> ×</a:t>
            </a:r>
            <a:r>
              <a:rPr lang="en-US" b="1" dirty="0" smtClean="0"/>
              <a:t> </a:t>
            </a:r>
            <a:r>
              <a:rPr lang="en-US" i="1" dirty="0" smtClean="0"/>
              <a:t>B</a:t>
            </a:r>
            <a:r>
              <a:rPr lang="en-US" b="1" dirty="0" smtClean="0"/>
              <a:t> </a:t>
            </a:r>
            <a:r>
              <a:rPr lang="en-US" dirty="0" smtClean="0">
                <a:latin typeface="Cambria Math" pitchFamily="18" charset="0"/>
                <a:ea typeface="Cambria Math" pitchFamily="18" charset="0"/>
              </a:rPr>
              <a:t>×</a:t>
            </a:r>
            <a:r>
              <a:rPr lang="en-US" b="1" dirty="0" smtClean="0"/>
              <a:t> </a:t>
            </a:r>
            <a:r>
              <a:rPr lang="en-US" dirty="0" smtClean="0"/>
              <a:t>C</a:t>
            </a:r>
            <a:r>
              <a:rPr lang="en-US" b="1" dirty="0" smtClean="0"/>
              <a:t> </a:t>
            </a:r>
            <a:r>
              <a:rPr lang="en-US" dirty="0" smtClean="0"/>
              <a:t>where </a:t>
            </a:r>
            <a:r>
              <a:rPr lang="en-US" i="1" dirty="0" smtClean="0"/>
              <a:t>A</a:t>
            </a:r>
            <a:r>
              <a:rPr lang="en-US" dirty="0" smtClean="0"/>
              <a:t> = {0,1}, </a:t>
            </a:r>
            <a:r>
              <a:rPr lang="en-US" i="1" dirty="0" smtClean="0"/>
              <a:t>B</a:t>
            </a:r>
            <a:r>
              <a:rPr lang="en-US" dirty="0" smtClean="0"/>
              <a:t> = {1,2} and    </a:t>
            </a:r>
            <a:r>
              <a:rPr lang="en-US" i="1" dirty="0" smtClean="0"/>
              <a:t>C</a:t>
            </a:r>
            <a:r>
              <a:rPr lang="en-US" dirty="0" smtClean="0"/>
              <a:t> = {0,1,2}</a:t>
            </a:r>
            <a:endParaRPr lang="en-US" b="1" dirty="0" smtClean="0"/>
          </a:p>
          <a:p>
            <a:pPr>
              <a:buNone/>
            </a:pPr>
            <a:r>
              <a:rPr lang="en-US" b="1" dirty="0" smtClean="0"/>
              <a:t>  Solution: </a:t>
            </a:r>
            <a:r>
              <a:rPr lang="en-US" i="1" dirty="0" smtClean="0"/>
              <a:t>A</a:t>
            </a:r>
            <a:r>
              <a:rPr lang="en-US" dirty="0" smtClean="0">
                <a:latin typeface="Cambria Math" pitchFamily="18" charset="0"/>
                <a:ea typeface="Cambria Math" pitchFamily="18" charset="0"/>
              </a:rPr>
              <a:t> ×</a:t>
            </a:r>
            <a:r>
              <a:rPr lang="en-US" b="1" dirty="0" smtClean="0"/>
              <a:t> </a:t>
            </a:r>
            <a:r>
              <a:rPr lang="en-US" i="1" dirty="0" smtClean="0"/>
              <a:t>B</a:t>
            </a:r>
            <a:r>
              <a:rPr lang="en-US" b="1" dirty="0" smtClean="0"/>
              <a:t> </a:t>
            </a:r>
            <a:r>
              <a:rPr lang="en-US" dirty="0" smtClean="0">
                <a:latin typeface="Cambria Math" pitchFamily="18" charset="0"/>
                <a:ea typeface="Cambria Math" pitchFamily="18" charset="0"/>
              </a:rPr>
              <a:t>×</a:t>
            </a:r>
            <a:r>
              <a:rPr lang="en-US" b="1" dirty="0" smtClean="0"/>
              <a:t> </a:t>
            </a:r>
            <a:r>
              <a:rPr lang="en-US" dirty="0" smtClean="0"/>
              <a:t>C</a:t>
            </a:r>
            <a:r>
              <a:rPr lang="en-US" b="1" dirty="0" smtClean="0"/>
              <a:t> = </a:t>
            </a:r>
            <a:r>
              <a:rPr lang="en-US" dirty="0" smtClean="0"/>
              <a:t>{(0,1,0), (0,1,1), (0,1,2),(0,2,0), (0,2,1), (0,2,2),(1,1,0), (1,1,1), (1,1,2), (1,2,0), (1,2,1), (1,1,2)}</a:t>
            </a:r>
            <a:endParaRPr lang="en-US" b="1"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pic>
        <p:nvPicPr>
          <p:cNvPr id="6" name="Picture 5" descr="addin_tmp.png"/>
          <p:cNvPicPr>
            <a:picLocks noChangeAspect="1"/>
          </p:cNvPicPr>
          <p:nvPr>
            <p:custDataLst>
              <p:tags r:id="rId1"/>
            </p:custDataLst>
          </p:nvPr>
        </p:nvPicPr>
        <p:blipFill>
          <a:blip r:embed="rId3" cstate="print"/>
          <a:stretch>
            <a:fillRect/>
          </a:stretch>
        </p:blipFill>
        <p:spPr>
          <a:xfrm>
            <a:off x="1447801" y="3429000"/>
            <a:ext cx="6386513" cy="688181"/>
          </a:xfrm>
          <a:prstGeom prst="rect">
            <a:avLst/>
          </a:prstGeom>
        </p:spPr>
      </p:pic>
    </p:spTree>
    <p:extLst>
      <p:ext uri="{BB962C8B-B14F-4D97-AF65-F5344CB8AC3E}">
        <p14:creationId xmlns:p14="http://schemas.microsoft.com/office/powerpoint/2010/main" val="205258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Truth Sets of Quantifiers</a:t>
            </a:r>
            <a:endParaRPr lang="en-US" dirty="0"/>
          </a:p>
        </p:txBody>
      </p:sp>
      <p:sp>
        <p:nvSpPr>
          <p:cNvPr id="3" name="Content Placeholder 2"/>
          <p:cNvSpPr>
            <a:spLocks noGrp="1"/>
          </p:cNvSpPr>
          <p:nvPr>
            <p:ph idx="1"/>
          </p:nvPr>
        </p:nvSpPr>
        <p:spPr/>
        <p:txBody>
          <a:bodyPr/>
          <a:lstStyle/>
          <a:p>
            <a:r>
              <a:rPr lang="en-US" dirty="0" smtClean="0"/>
              <a:t>Given a predicate </a:t>
            </a:r>
            <a:r>
              <a:rPr lang="en-US" i="1" dirty="0" smtClean="0"/>
              <a:t>P</a:t>
            </a:r>
            <a:r>
              <a:rPr lang="en-US" dirty="0" smtClean="0"/>
              <a:t> and a domain </a:t>
            </a:r>
            <a:r>
              <a:rPr lang="en-US" i="1" dirty="0" smtClean="0"/>
              <a:t>D</a:t>
            </a:r>
            <a:r>
              <a:rPr lang="en-US" dirty="0" smtClean="0"/>
              <a:t>, we define the </a:t>
            </a:r>
            <a:r>
              <a:rPr lang="en-US" i="1" dirty="0" smtClean="0"/>
              <a:t>truth set</a:t>
            </a:r>
            <a:r>
              <a:rPr lang="zh-CN" altLang="en-US" sz="2000" dirty="0" smtClean="0"/>
              <a:t>（真值集）</a:t>
            </a:r>
            <a:r>
              <a:rPr lang="en-US" sz="2000" dirty="0" smtClean="0"/>
              <a:t> </a:t>
            </a:r>
            <a:r>
              <a:rPr lang="en-US" dirty="0" smtClean="0"/>
              <a:t>of </a:t>
            </a:r>
            <a:r>
              <a:rPr lang="en-US" i="1" dirty="0" smtClean="0"/>
              <a:t>P</a:t>
            </a:r>
            <a:r>
              <a:rPr lang="en-US" dirty="0" smtClean="0"/>
              <a:t> to be the set of elements in </a:t>
            </a:r>
            <a:r>
              <a:rPr lang="en-US" i="1" dirty="0" smtClean="0"/>
              <a:t>D</a:t>
            </a:r>
            <a:r>
              <a:rPr lang="en-US" dirty="0" smtClean="0"/>
              <a:t> for which </a:t>
            </a:r>
            <a:r>
              <a:rPr lang="en-US" i="1" dirty="0" smtClean="0"/>
              <a:t>P</a:t>
            </a:r>
            <a:r>
              <a:rPr lang="en-US" dirty="0" smtClean="0"/>
              <a:t>(</a:t>
            </a:r>
            <a:r>
              <a:rPr lang="en-US" i="1" dirty="0" smtClean="0"/>
              <a:t>x</a:t>
            </a:r>
            <a:r>
              <a:rPr lang="en-US" dirty="0" smtClean="0"/>
              <a:t>) is true. The truth set of </a:t>
            </a:r>
            <a:r>
              <a:rPr lang="en-US" i="1" dirty="0" smtClean="0"/>
              <a:t>P</a:t>
            </a:r>
            <a:r>
              <a:rPr lang="en-US" dirty="0" smtClean="0"/>
              <a:t>(x) is denoted by </a:t>
            </a:r>
          </a:p>
          <a:p>
            <a:endParaRPr lang="en-US" dirty="0" smtClean="0"/>
          </a:p>
          <a:p>
            <a:endParaRPr lang="en-US" dirty="0" smtClean="0"/>
          </a:p>
          <a:p>
            <a:r>
              <a:rPr lang="en-US" b="1" dirty="0" smtClean="0"/>
              <a:t>Example</a:t>
            </a:r>
            <a:r>
              <a:rPr lang="en-US" dirty="0" smtClean="0"/>
              <a:t>: The truth set of </a:t>
            </a:r>
            <a:r>
              <a:rPr lang="en-US" i="1" dirty="0" smtClean="0"/>
              <a:t>P</a:t>
            </a:r>
            <a:r>
              <a:rPr lang="en-US" dirty="0" smtClean="0"/>
              <a:t>(</a:t>
            </a:r>
            <a:r>
              <a:rPr lang="en-US" i="1" dirty="0" smtClean="0"/>
              <a:t>x</a:t>
            </a:r>
            <a:r>
              <a:rPr lang="en-US" dirty="0" smtClean="0"/>
              <a:t>) where the domain is the integers and </a:t>
            </a:r>
            <a:r>
              <a:rPr lang="en-US" i="1" dirty="0" smtClean="0"/>
              <a:t>P</a:t>
            </a:r>
            <a:r>
              <a:rPr lang="en-US" dirty="0" smtClean="0"/>
              <a:t>(</a:t>
            </a:r>
            <a:r>
              <a:rPr lang="en-US" i="1" dirty="0" smtClean="0"/>
              <a:t>x</a:t>
            </a:r>
            <a:r>
              <a:rPr lang="en-US" dirty="0" smtClean="0"/>
              <a:t>) is “|</a:t>
            </a:r>
            <a:r>
              <a:rPr lang="en-US" i="1" dirty="0" smtClean="0"/>
              <a:t>x</a:t>
            </a:r>
            <a:r>
              <a:rPr lang="en-US" dirty="0" smtClean="0"/>
              <a:t>| = </a:t>
            </a:r>
            <a:r>
              <a:rPr lang="en-US" dirty="0" smtClean="0">
                <a:latin typeface="Cambria Math" pitchFamily="18" charset="0"/>
                <a:ea typeface="Cambria Math" pitchFamily="18" charset="0"/>
              </a:rPr>
              <a:t>1</a:t>
            </a:r>
            <a:r>
              <a:rPr lang="en-US" dirty="0" smtClean="0"/>
              <a:t>” is the set </a:t>
            </a:r>
            <a:r>
              <a:rPr lang="en-US" dirty="0" smtClean="0">
                <a:latin typeface="Cambria Math" pitchFamily="18" charset="0"/>
                <a:ea typeface="Cambria Math" pitchFamily="18" charset="0"/>
              </a:rPr>
              <a:t>{-1,1}</a:t>
            </a:r>
            <a:endParaRPr lang="en-US" dirty="0">
              <a:latin typeface="Cambria Math" pitchFamily="18" charset="0"/>
              <a:ea typeface="Cambria Math" pitchFamily="18" charset="0"/>
            </a:endParaRPr>
          </a:p>
        </p:txBody>
      </p:sp>
      <p:pic>
        <p:nvPicPr>
          <p:cNvPr id="4" name="Picture 3" descr="addin_tmp.png"/>
          <p:cNvPicPr>
            <a:picLocks noChangeAspect="1"/>
          </p:cNvPicPr>
          <p:nvPr>
            <p:custDataLst>
              <p:tags r:id="rId1"/>
            </p:custDataLst>
          </p:nvPr>
        </p:nvPicPr>
        <p:blipFill>
          <a:blip r:embed="rId3" cstate="print"/>
          <a:stretch>
            <a:fillRect/>
          </a:stretch>
        </p:blipFill>
        <p:spPr>
          <a:xfrm>
            <a:off x="2971800" y="3505200"/>
            <a:ext cx="2248853" cy="382905"/>
          </a:xfrm>
          <a:prstGeom prst="rect">
            <a:avLst/>
          </a:prstGeom>
        </p:spPr>
      </p:pic>
    </p:spTree>
    <p:extLst>
      <p:ext uri="{BB962C8B-B14F-4D97-AF65-F5344CB8AC3E}">
        <p14:creationId xmlns:p14="http://schemas.microsoft.com/office/powerpoint/2010/main" val="258691748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Homework</a:t>
            </a:r>
            <a:endParaRPr lang="zh-CN" altLang="en-US" dirty="0"/>
          </a:p>
        </p:txBody>
      </p:sp>
      <p:sp>
        <p:nvSpPr>
          <p:cNvPr id="3" name="内容占位符 2"/>
          <p:cNvSpPr>
            <a:spLocks noGrp="1"/>
          </p:cNvSpPr>
          <p:nvPr>
            <p:ph idx="1"/>
          </p:nvPr>
        </p:nvSpPr>
        <p:spPr/>
        <p:txBody>
          <a:bodyPr/>
          <a:lstStyle/>
          <a:p>
            <a:endParaRPr kumimoji="1" lang="en-US" altLang="zh-CN" dirty="0" smtClean="0">
              <a:ea typeface="黑体" pitchFamily="2" charset="-122"/>
            </a:endParaRPr>
          </a:p>
          <a:p>
            <a:pPr>
              <a:buNone/>
            </a:pPr>
            <a:r>
              <a:rPr kumimoji="1" lang="zh-CN" altLang="en-US" dirty="0" smtClean="0">
                <a:solidFill>
                  <a:srgbClr val="9900FF"/>
                </a:solidFill>
                <a:latin typeface="Times New Roman" pitchFamily="18" charset="0"/>
              </a:rPr>
              <a:t>第</a:t>
            </a:r>
            <a:r>
              <a:rPr kumimoji="1" lang="en-US" altLang="zh-CN" dirty="0" smtClean="0">
                <a:solidFill>
                  <a:srgbClr val="9900FF"/>
                </a:solidFill>
                <a:latin typeface="Times New Roman" pitchFamily="18" charset="0"/>
              </a:rPr>
              <a:t>8</a:t>
            </a:r>
            <a:r>
              <a:rPr kumimoji="1" lang="zh-CN" altLang="en-US" dirty="0" smtClean="0">
                <a:solidFill>
                  <a:srgbClr val="9900FF"/>
                </a:solidFill>
                <a:latin typeface="Times New Roman" pitchFamily="18" charset="0"/>
              </a:rPr>
              <a:t>版</a:t>
            </a:r>
            <a:r>
              <a:rPr kumimoji="1" lang="zh-CN" altLang="en-US" dirty="0">
                <a:solidFill>
                  <a:srgbClr val="9900FF"/>
                </a:solidFill>
                <a:latin typeface="Times New Roman" pitchFamily="18" charset="0"/>
              </a:rPr>
              <a:t>： </a:t>
            </a:r>
            <a:r>
              <a:rPr lang="en-US" altLang="zh-CN" dirty="0" smtClean="0">
                <a:solidFill>
                  <a:srgbClr val="9900FF"/>
                </a:solidFill>
                <a:latin typeface="Times New Roman" panose="02020603050405020304" pitchFamily="18" charset="0"/>
              </a:rPr>
              <a:t>Sec</a:t>
            </a:r>
            <a:r>
              <a:rPr lang="en-US" altLang="zh-CN" dirty="0">
                <a:solidFill>
                  <a:srgbClr val="9900FF"/>
                </a:solidFill>
                <a:latin typeface="Times New Roman" panose="02020603050405020304" pitchFamily="18" charset="0"/>
              </a:rPr>
              <a:t>. 2.1  </a:t>
            </a:r>
            <a:r>
              <a:rPr lang="en-US" altLang="zh-CN" dirty="0">
                <a:latin typeface="Times New Roman" panose="02020603050405020304" pitchFamily="18" charset="0"/>
              </a:rPr>
              <a:t>13, 20, 24, 26, 34(a),(c)</a:t>
            </a:r>
          </a:p>
          <a:p>
            <a:pPr>
              <a:buNone/>
            </a:pPr>
            <a:endParaRPr kumimoji="1" lang="en-US" altLang="zh-CN" dirty="0">
              <a:latin typeface="Times New Roman" pitchFamily="18" charset="0"/>
              <a:ea typeface="宋体" pitchFamily="2" charset="-122"/>
            </a:endParaRPr>
          </a:p>
          <a:p>
            <a:pPr>
              <a:buFontTx/>
              <a:buNone/>
            </a:pPr>
            <a:endParaRPr kumimoji="1" lang="en-US" altLang="zh-CN" dirty="0" smtClean="0">
              <a:ea typeface="黑体" pitchFamily="2" charset="-122"/>
            </a:endParaRPr>
          </a:p>
        </p:txBody>
      </p:sp>
    </p:spTree>
    <p:extLst>
      <p:ext uri="{BB962C8B-B14F-4D97-AF65-F5344CB8AC3E}">
        <p14:creationId xmlns:p14="http://schemas.microsoft.com/office/powerpoint/2010/main" val="323342937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Set Operations</a:t>
            </a:r>
            <a:endParaRPr lang="en-US" dirty="0"/>
          </a:p>
        </p:txBody>
      </p:sp>
      <p:sp>
        <p:nvSpPr>
          <p:cNvPr id="3" name="Subtitle 2"/>
          <p:cNvSpPr>
            <a:spLocks noGrp="1"/>
          </p:cNvSpPr>
          <p:nvPr>
            <p:ph type="subTitle" idx="1"/>
          </p:nvPr>
        </p:nvSpPr>
        <p:spPr/>
        <p:txBody>
          <a:bodyPr/>
          <a:lstStyle/>
          <a:p>
            <a:r>
              <a:rPr lang="en-US" dirty="0" smtClean="0"/>
              <a:t>Section 2.2</a:t>
            </a:r>
            <a:endParaRPr lang="en-US" dirty="0"/>
          </a:p>
        </p:txBody>
      </p:sp>
    </p:spTree>
    <p:extLst>
      <p:ext uri="{BB962C8B-B14F-4D97-AF65-F5344CB8AC3E}">
        <p14:creationId xmlns:p14="http://schemas.microsoft.com/office/powerpoint/2010/main" val="313109975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Set Operations</a:t>
            </a:r>
          </a:p>
          <a:p>
            <a:pPr lvl="1"/>
            <a:r>
              <a:rPr lang="en-US" dirty="0" smtClean="0"/>
              <a:t>Union</a:t>
            </a:r>
          </a:p>
          <a:p>
            <a:pPr lvl="1"/>
            <a:r>
              <a:rPr lang="en-US" dirty="0" smtClean="0"/>
              <a:t>Intersection</a:t>
            </a:r>
          </a:p>
          <a:p>
            <a:pPr lvl="1"/>
            <a:r>
              <a:rPr lang="en-US" dirty="0" smtClean="0"/>
              <a:t>Complementation</a:t>
            </a:r>
          </a:p>
          <a:p>
            <a:pPr lvl="1"/>
            <a:r>
              <a:rPr lang="en-US" dirty="0" smtClean="0"/>
              <a:t>Difference</a:t>
            </a:r>
          </a:p>
          <a:p>
            <a:r>
              <a:rPr lang="en-US" dirty="0" smtClean="0"/>
              <a:t>More on Set Cardinality</a:t>
            </a:r>
          </a:p>
          <a:p>
            <a:r>
              <a:rPr lang="en-US" dirty="0" smtClean="0"/>
              <a:t>Set Identities</a:t>
            </a:r>
          </a:p>
          <a:p>
            <a:r>
              <a:rPr lang="en-US" dirty="0" smtClean="0"/>
              <a:t>Proving Identities</a:t>
            </a:r>
          </a:p>
          <a:p>
            <a:r>
              <a:rPr lang="en-US" dirty="0" smtClean="0"/>
              <a:t>Membership Tables</a:t>
            </a:r>
          </a:p>
        </p:txBody>
      </p:sp>
    </p:spTree>
    <p:extLst>
      <p:ext uri="{BB962C8B-B14F-4D97-AF65-F5344CB8AC3E}">
        <p14:creationId xmlns:p14="http://schemas.microsoft.com/office/powerpoint/2010/main" val="417304708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Boolean Algebra</a:t>
            </a:r>
            <a:endParaRPr lang="en-US" dirty="0"/>
          </a:p>
        </p:txBody>
      </p:sp>
      <p:sp>
        <p:nvSpPr>
          <p:cNvPr id="3" name="Content Placeholder 2"/>
          <p:cNvSpPr>
            <a:spLocks noGrp="1"/>
          </p:cNvSpPr>
          <p:nvPr>
            <p:ph idx="1"/>
          </p:nvPr>
        </p:nvSpPr>
        <p:spPr/>
        <p:txBody>
          <a:bodyPr>
            <a:normAutofit/>
          </a:bodyPr>
          <a:lstStyle/>
          <a:p>
            <a:r>
              <a:rPr lang="en-US" dirty="0" smtClean="0"/>
              <a:t>Propositional calculus and set theory are both instances of an algebraic system called a </a:t>
            </a:r>
            <a:r>
              <a:rPr lang="en-US" i="1" dirty="0" smtClean="0"/>
              <a:t>Boolean Algebra</a:t>
            </a:r>
            <a:r>
              <a:rPr lang="en-US" dirty="0" smtClean="0"/>
              <a:t>. This is discussed in Chapter </a:t>
            </a:r>
            <a:r>
              <a:rPr lang="en-US" dirty="0" smtClean="0">
                <a:latin typeface="Cambria Math" pitchFamily="18" charset="0"/>
                <a:ea typeface="Cambria Math" pitchFamily="18" charset="0"/>
              </a:rPr>
              <a:t>12</a:t>
            </a:r>
            <a:r>
              <a:rPr lang="en-US" dirty="0" smtClean="0"/>
              <a:t>.</a:t>
            </a:r>
          </a:p>
          <a:p>
            <a:r>
              <a:rPr lang="en-US" dirty="0" smtClean="0"/>
              <a:t>The operators in set theory are analogous to the corresponding operator in propositional calculus.</a:t>
            </a:r>
          </a:p>
          <a:p>
            <a:r>
              <a:rPr lang="en-US" dirty="0" smtClean="0"/>
              <a:t>As always there must be a universal set  </a:t>
            </a:r>
            <a:r>
              <a:rPr lang="en-US" i="1" dirty="0" smtClean="0"/>
              <a:t>U</a:t>
            </a:r>
            <a:r>
              <a:rPr lang="en-US" dirty="0" smtClean="0"/>
              <a:t>. All sets are assumed to be subsets of </a:t>
            </a:r>
            <a:r>
              <a:rPr lang="en-US" i="1" dirty="0" smtClean="0"/>
              <a:t>U</a:t>
            </a:r>
            <a:r>
              <a:rPr lang="en-US" dirty="0" smtClean="0"/>
              <a:t>.</a:t>
            </a:r>
            <a:endParaRPr lang="en-US" dirty="0"/>
          </a:p>
        </p:txBody>
      </p:sp>
    </p:spTree>
    <p:extLst>
      <p:ext uri="{BB962C8B-B14F-4D97-AF65-F5344CB8AC3E}">
        <p14:creationId xmlns:p14="http://schemas.microsoft.com/office/powerpoint/2010/main" val="244193509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Union</a:t>
            </a:r>
            <a:endParaRPr lang="en-US" dirty="0"/>
          </a:p>
        </p:txBody>
      </p:sp>
      <p:sp>
        <p:nvSpPr>
          <p:cNvPr id="3" name="Content Placeholder 2"/>
          <p:cNvSpPr>
            <a:spLocks noGrp="1"/>
          </p:cNvSpPr>
          <p:nvPr>
            <p:ph idx="1"/>
          </p:nvPr>
        </p:nvSpPr>
        <p:spPr/>
        <p:txBody>
          <a:bodyPr>
            <a:normAutofit/>
          </a:bodyPr>
          <a:lstStyle/>
          <a:p>
            <a:r>
              <a:rPr lang="en-US" b="1" dirty="0" smtClean="0"/>
              <a:t>Definition</a:t>
            </a:r>
            <a:r>
              <a:rPr lang="en-US" dirty="0" smtClean="0"/>
              <a:t>: Let </a:t>
            </a:r>
            <a:r>
              <a:rPr lang="en-US" i="1" dirty="0" smtClean="0"/>
              <a:t>A</a:t>
            </a:r>
            <a:r>
              <a:rPr lang="en-US" dirty="0" smtClean="0"/>
              <a:t> and </a:t>
            </a:r>
            <a:r>
              <a:rPr lang="en-US" i="1" dirty="0" smtClean="0"/>
              <a:t>B</a:t>
            </a:r>
            <a:r>
              <a:rPr lang="en-US" dirty="0" smtClean="0"/>
              <a:t> be sets. The </a:t>
            </a:r>
            <a:r>
              <a:rPr lang="en-US" i="1" dirty="0" smtClean="0"/>
              <a:t>union</a:t>
            </a:r>
            <a:r>
              <a:rPr lang="en-US" dirty="0" smtClean="0"/>
              <a:t> of the sets </a:t>
            </a:r>
            <a:r>
              <a:rPr lang="en-US" i="1" dirty="0" smtClean="0"/>
              <a:t>A</a:t>
            </a:r>
            <a:r>
              <a:rPr lang="en-US" dirty="0" smtClean="0"/>
              <a:t> and </a:t>
            </a:r>
            <a:r>
              <a:rPr lang="en-US" i="1" dirty="0" smtClean="0"/>
              <a:t>B</a:t>
            </a:r>
            <a:r>
              <a:rPr lang="en-US" dirty="0" smtClean="0"/>
              <a:t>, denoted by </a:t>
            </a:r>
            <a:r>
              <a:rPr lang="en-US" i="1" dirty="0" smtClean="0">
                <a:ea typeface="Cambria Math" pitchFamily="18" charset="0"/>
              </a:rPr>
              <a:t>A</a:t>
            </a:r>
            <a:r>
              <a:rPr lang="en-US" b="1" dirty="0" smtClean="0">
                <a:latin typeface="Cambria Math" pitchFamily="18" charset="0"/>
                <a:ea typeface="Cambria Math" pitchFamily="18" charset="0"/>
              </a:rPr>
              <a:t> </a:t>
            </a:r>
            <a:r>
              <a:rPr lang="en-US" dirty="0" smtClean="0">
                <a:latin typeface="Cambria Math"/>
                <a:ea typeface="Cambria Math"/>
              </a:rPr>
              <a:t>∪ </a:t>
            </a:r>
            <a:r>
              <a:rPr lang="en-US" i="1" dirty="0" smtClean="0">
                <a:ea typeface="Cambria Math"/>
              </a:rPr>
              <a:t>B,</a:t>
            </a:r>
            <a:r>
              <a:rPr lang="en-US" i="1" dirty="0" smtClean="0"/>
              <a:t> </a:t>
            </a:r>
            <a:r>
              <a:rPr lang="en-US" dirty="0" smtClean="0"/>
              <a:t> is the set:</a:t>
            </a:r>
          </a:p>
          <a:p>
            <a:pPr>
              <a:buNone/>
            </a:pPr>
            <a:endParaRPr lang="en-US" dirty="0" smtClean="0"/>
          </a:p>
          <a:p>
            <a:pPr>
              <a:buNone/>
            </a:pPr>
            <a:endParaRPr lang="en-US" dirty="0" smtClean="0"/>
          </a:p>
          <a:p>
            <a:r>
              <a:rPr lang="en-US" b="1" dirty="0" smtClean="0"/>
              <a:t>Example</a:t>
            </a:r>
            <a:r>
              <a:rPr lang="en-US" dirty="0" smtClean="0"/>
              <a:t>: What is   {</a:t>
            </a:r>
            <a:r>
              <a:rPr lang="en-US" dirty="0" smtClean="0">
                <a:latin typeface="Cambria Math" pitchFamily="18" charset="0"/>
                <a:ea typeface="Cambria Math" pitchFamily="18" charset="0"/>
              </a:rPr>
              <a:t>1,2,3} </a:t>
            </a:r>
            <a:r>
              <a:rPr lang="en-US" dirty="0" smtClean="0"/>
              <a:t> </a:t>
            </a:r>
            <a:r>
              <a:rPr lang="en-US" dirty="0" smtClean="0">
                <a:latin typeface="Cambria Math"/>
                <a:ea typeface="Cambria Math"/>
              </a:rPr>
              <a:t>∪ {3, 4, 5}</a:t>
            </a:r>
            <a:r>
              <a:rPr lang="en-US" dirty="0" smtClean="0"/>
              <a:t>?</a:t>
            </a:r>
          </a:p>
          <a:p>
            <a:pPr>
              <a:buNone/>
            </a:pPr>
            <a:endParaRPr lang="en-US" dirty="0" smtClean="0"/>
          </a:p>
          <a:p>
            <a:pPr>
              <a:buNone/>
            </a:pPr>
            <a:r>
              <a:rPr lang="en-US" dirty="0" smtClean="0"/>
              <a:t>               </a:t>
            </a:r>
            <a:r>
              <a:rPr lang="en-US" b="1" dirty="0" smtClean="0"/>
              <a:t>Solution</a:t>
            </a:r>
            <a:r>
              <a:rPr lang="en-US" dirty="0" smtClean="0"/>
              <a:t>: {</a:t>
            </a:r>
            <a:r>
              <a:rPr lang="en-US" dirty="0" smtClean="0">
                <a:latin typeface="Cambria Math" pitchFamily="18" charset="0"/>
                <a:ea typeface="Cambria Math" pitchFamily="18" charset="0"/>
              </a:rPr>
              <a:t>1,2,3,4,5}</a:t>
            </a:r>
            <a:endParaRPr lang="en-US" dirty="0" smtClean="0"/>
          </a:p>
          <a:p>
            <a:pPr>
              <a:buNone/>
            </a:pPr>
            <a:r>
              <a:rPr lang="en-US" dirty="0" smtClean="0"/>
              <a:t>             </a:t>
            </a:r>
            <a:r>
              <a:rPr lang="en-US" sz="2400" dirty="0" smtClean="0"/>
              <a:t>                                   </a:t>
            </a:r>
            <a:endParaRPr lang="en-US" dirty="0" smtClean="0"/>
          </a:p>
          <a:p>
            <a:pPr>
              <a:buNone/>
            </a:pPr>
            <a:r>
              <a:rPr lang="en-US" dirty="0" smtClean="0"/>
              <a:t>   </a:t>
            </a:r>
            <a:endParaRPr lang="en-US" dirty="0"/>
          </a:p>
        </p:txBody>
      </p:sp>
      <p:pic>
        <p:nvPicPr>
          <p:cNvPr id="5" name="Picture 4" descr="addin_tmp.png"/>
          <p:cNvPicPr>
            <a:picLocks noChangeAspect="1"/>
          </p:cNvPicPr>
          <p:nvPr>
            <p:custDataLst>
              <p:tags r:id="rId1"/>
            </p:custDataLst>
          </p:nvPr>
        </p:nvPicPr>
        <p:blipFill>
          <a:blip r:embed="rId3" cstate="print"/>
          <a:stretch>
            <a:fillRect/>
          </a:stretch>
        </p:blipFill>
        <p:spPr>
          <a:xfrm>
            <a:off x="2362200" y="2971800"/>
            <a:ext cx="3026093" cy="382905"/>
          </a:xfrm>
          <a:prstGeom prst="rect">
            <a:avLst/>
          </a:prstGeom>
        </p:spPr>
      </p:pic>
      <p:grpSp>
        <p:nvGrpSpPr>
          <p:cNvPr id="21" name="Group 20"/>
          <p:cNvGrpSpPr/>
          <p:nvPr/>
        </p:nvGrpSpPr>
        <p:grpSpPr>
          <a:xfrm>
            <a:off x="5562600" y="4724400"/>
            <a:ext cx="3429000" cy="1447800"/>
            <a:chOff x="5562600" y="4724400"/>
            <a:chExt cx="3429000" cy="1447800"/>
          </a:xfrm>
        </p:grpSpPr>
        <p:sp>
          <p:nvSpPr>
            <p:cNvPr id="11" name="TextBox 10"/>
            <p:cNvSpPr txBox="1"/>
            <p:nvPr/>
          </p:nvSpPr>
          <p:spPr>
            <a:xfrm>
              <a:off x="8153400" y="4800600"/>
              <a:ext cx="838200" cy="369332"/>
            </a:xfrm>
            <a:prstGeom prst="rect">
              <a:avLst/>
            </a:prstGeom>
            <a:noFill/>
          </p:spPr>
          <p:txBody>
            <a:bodyPr wrap="square" rtlCol="0">
              <a:spAutoFit/>
            </a:bodyPr>
            <a:lstStyle/>
            <a:p>
              <a:r>
                <a:rPr lang="en-US" i="1" dirty="0" smtClean="0"/>
                <a:t>U</a:t>
              </a:r>
              <a:endParaRPr lang="en-US" i="1" dirty="0"/>
            </a:p>
          </p:txBody>
        </p:sp>
        <p:grpSp>
          <p:nvGrpSpPr>
            <p:cNvPr id="20" name="Group 19"/>
            <p:cNvGrpSpPr/>
            <p:nvPr/>
          </p:nvGrpSpPr>
          <p:grpSpPr>
            <a:xfrm>
              <a:off x="5562600" y="4724400"/>
              <a:ext cx="2971800" cy="1447800"/>
              <a:chOff x="5562600" y="4724400"/>
              <a:chExt cx="2971800" cy="1447800"/>
            </a:xfrm>
          </p:grpSpPr>
          <p:sp>
            <p:nvSpPr>
              <p:cNvPr id="10" name="Rectangle 9"/>
              <p:cNvSpPr/>
              <p:nvPr/>
            </p:nvSpPr>
            <p:spPr>
              <a:xfrm>
                <a:off x="5562600" y="4724400"/>
                <a:ext cx="29718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p:cNvGrpSpPr/>
              <p:nvPr/>
            </p:nvGrpSpPr>
            <p:grpSpPr>
              <a:xfrm>
                <a:off x="6096000" y="5029200"/>
                <a:ext cx="1905000" cy="990600"/>
                <a:chOff x="6096000" y="5029200"/>
                <a:chExt cx="1905000" cy="990600"/>
              </a:xfrm>
              <a:gradFill>
                <a:gsLst>
                  <a:gs pos="0">
                    <a:schemeClr val="accent1">
                      <a:tint val="66000"/>
                      <a:satMod val="160000"/>
                      <a:alpha val="0"/>
                    </a:schemeClr>
                  </a:gs>
                  <a:gs pos="50000">
                    <a:schemeClr val="accent1">
                      <a:tint val="44500"/>
                      <a:satMod val="160000"/>
                    </a:schemeClr>
                  </a:gs>
                  <a:gs pos="100000">
                    <a:schemeClr val="accent1">
                      <a:tint val="23500"/>
                      <a:satMod val="160000"/>
                    </a:schemeClr>
                  </a:gs>
                </a:gsLst>
                <a:lin ang="5400000" scaled="0"/>
              </a:gradFill>
            </p:grpSpPr>
            <p:sp>
              <p:nvSpPr>
                <p:cNvPr id="13" name="Oval 12"/>
                <p:cNvSpPr/>
                <p:nvPr/>
              </p:nvSpPr>
              <p:spPr>
                <a:xfrm>
                  <a:off x="6096000" y="5029200"/>
                  <a:ext cx="1219200" cy="9906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781800" y="5029200"/>
                  <a:ext cx="1219200" cy="990600"/>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7" name="TextBox 16"/>
            <p:cNvSpPr txBox="1"/>
            <p:nvPr/>
          </p:nvSpPr>
          <p:spPr>
            <a:xfrm>
              <a:off x="6248400" y="5181600"/>
              <a:ext cx="381000" cy="369332"/>
            </a:xfrm>
            <a:prstGeom prst="rect">
              <a:avLst/>
            </a:prstGeom>
            <a:noFill/>
          </p:spPr>
          <p:txBody>
            <a:bodyPr wrap="square" rtlCol="0">
              <a:spAutoFit/>
            </a:bodyPr>
            <a:lstStyle/>
            <a:p>
              <a:r>
                <a:rPr lang="en-US" i="1" dirty="0" smtClean="0"/>
                <a:t>A</a:t>
              </a:r>
              <a:endParaRPr lang="en-US" i="1" dirty="0"/>
            </a:p>
          </p:txBody>
        </p:sp>
        <p:sp>
          <p:nvSpPr>
            <p:cNvPr id="18" name="TextBox 17"/>
            <p:cNvSpPr txBox="1"/>
            <p:nvPr/>
          </p:nvSpPr>
          <p:spPr>
            <a:xfrm>
              <a:off x="7467600" y="5257800"/>
              <a:ext cx="381000" cy="369332"/>
            </a:xfrm>
            <a:prstGeom prst="rect">
              <a:avLst/>
            </a:prstGeom>
            <a:noFill/>
          </p:spPr>
          <p:txBody>
            <a:bodyPr wrap="square" rtlCol="0">
              <a:spAutoFit/>
            </a:bodyPr>
            <a:lstStyle/>
            <a:p>
              <a:r>
                <a:rPr lang="en-US" i="1" dirty="0" smtClean="0"/>
                <a:t>B</a:t>
              </a:r>
              <a:endParaRPr lang="en-US" i="1" dirty="0"/>
            </a:p>
          </p:txBody>
        </p:sp>
      </p:grpSp>
      <p:sp>
        <p:nvSpPr>
          <p:cNvPr id="15" name="TextBox 14"/>
          <p:cNvSpPr txBox="1"/>
          <p:nvPr/>
        </p:nvSpPr>
        <p:spPr>
          <a:xfrm>
            <a:off x="5715000" y="4267200"/>
            <a:ext cx="2743200" cy="369332"/>
          </a:xfrm>
          <a:prstGeom prst="rect">
            <a:avLst/>
          </a:prstGeom>
          <a:noFill/>
        </p:spPr>
        <p:txBody>
          <a:bodyPr wrap="square" rtlCol="0">
            <a:spAutoFit/>
          </a:bodyPr>
          <a:lstStyle/>
          <a:p>
            <a:r>
              <a:rPr lang="en-US" dirty="0" smtClean="0"/>
              <a:t>Venn Diagram for </a:t>
            </a:r>
            <a:r>
              <a:rPr lang="en-US" i="1" dirty="0" smtClean="0"/>
              <a:t>A</a:t>
            </a:r>
            <a:r>
              <a:rPr lang="en-US" dirty="0" smtClean="0">
                <a:latin typeface="Cambria Math"/>
                <a:ea typeface="Cambria Math"/>
              </a:rPr>
              <a:t> ∪ </a:t>
            </a:r>
            <a:r>
              <a:rPr lang="en-US" i="1" dirty="0" smtClean="0">
                <a:latin typeface="Cambria Math"/>
                <a:ea typeface="Cambria Math"/>
              </a:rPr>
              <a:t>B</a:t>
            </a:r>
            <a:r>
              <a:rPr lang="en-US" dirty="0" smtClean="0"/>
              <a:t>  </a:t>
            </a:r>
            <a:endParaRPr lang="en-US" dirty="0"/>
          </a:p>
        </p:txBody>
      </p:sp>
    </p:spTree>
    <p:extLst>
      <p:ext uri="{BB962C8B-B14F-4D97-AF65-F5344CB8AC3E}">
        <p14:creationId xmlns:p14="http://schemas.microsoft.com/office/powerpoint/2010/main" val="30637213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Intersection</a:t>
            </a:r>
            <a:endParaRPr lang="en-US" dirty="0"/>
          </a:p>
        </p:txBody>
      </p:sp>
      <p:sp>
        <p:nvSpPr>
          <p:cNvPr id="3" name="Content Placeholder 2"/>
          <p:cNvSpPr>
            <a:spLocks noGrp="1"/>
          </p:cNvSpPr>
          <p:nvPr>
            <p:ph idx="1"/>
          </p:nvPr>
        </p:nvSpPr>
        <p:spPr>
          <a:ln>
            <a:noFill/>
          </a:ln>
        </p:spPr>
        <p:txBody>
          <a:bodyPr>
            <a:normAutofit lnSpcReduction="10000"/>
          </a:bodyPr>
          <a:lstStyle/>
          <a:p>
            <a:r>
              <a:rPr lang="en-US" b="1" dirty="0" smtClean="0"/>
              <a:t>Definition</a:t>
            </a:r>
            <a:r>
              <a:rPr lang="en-US" dirty="0" smtClean="0"/>
              <a:t>:  The </a:t>
            </a:r>
            <a:r>
              <a:rPr lang="en-US" i="1" dirty="0" smtClean="0"/>
              <a:t>intersection</a:t>
            </a:r>
            <a:r>
              <a:rPr lang="en-US" dirty="0" smtClean="0"/>
              <a:t> of sets </a:t>
            </a:r>
            <a:r>
              <a:rPr lang="en-US" i="1" dirty="0" smtClean="0"/>
              <a:t>A</a:t>
            </a:r>
            <a:r>
              <a:rPr lang="en-US" dirty="0" smtClean="0"/>
              <a:t> and </a:t>
            </a:r>
            <a:r>
              <a:rPr lang="en-US" i="1" dirty="0" smtClean="0"/>
              <a:t>B</a:t>
            </a:r>
            <a:r>
              <a:rPr lang="en-US" dirty="0" smtClean="0"/>
              <a:t>, denoted by   </a:t>
            </a:r>
            <a:r>
              <a:rPr lang="en-US" i="1" dirty="0" smtClean="0">
                <a:ea typeface="Cambria Math" pitchFamily="18" charset="0"/>
              </a:rPr>
              <a:t>A </a:t>
            </a:r>
            <a:r>
              <a:rPr lang="en-US" dirty="0" smtClean="0">
                <a:latin typeface="Cambria Math"/>
                <a:ea typeface="Cambria Math"/>
              </a:rPr>
              <a:t>∩ </a:t>
            </a:r>
            <a:r>
              <a:rPr lang="en-US" i="1" dirty="0" smtClean="0">
                <a:ea typeface="Cambria Math"/>
              </a:rPr>
              <a:t>B,</a:t>
            </a:r>
            <a:r>
              <a:rPr lang="en-US" dirty="0" smtClean="0"/>
              <a:t>  is</a:t>
            </a:r>
          </a:p>
          <a:p>
            <a:endParaRPr lang="en-US" dirty="0" smtClean="0"/>
          </a:p>
          <a:p>
            <a:r>
              <a:rPr lang="en-US" dirty="0" smtClean="0"/>
              <a:t>Note if the intersection is empty, then </a:t>
            </a:r>
            <a:r>
              <a:rPr lang="en-US" i="1" dirty="0" smtClean="0"/>
              <a:t>A</a:t>
            </a:r>
            <a:r>
              <a:rPr lang="en-US" b="1" dirty="0" smtClean="0"/>
              <a:t> </a:t>
            </a:r>
            <a:r>
              <a:rPr lang="en-US" dirty="0" smtClean="0"/>
              <a:t>and </a:t>
            </a:r>
            <a:r>
              <a:rPr lang="en-US" i="1" dirty="0" smtClean="0"/>
              <a:t>B</a:t>
            </a:r>
            <a:r>
              <a:rPr lang="en-US" dirty="0" smtClean="0"/>
              <a:t> are said to be </a:t>
            </a:r>
            <a:r>
              <a:rPr lang="en-US" i="1" dirty="0" smtClean="0"/>
              <a:t>disjoint</a:t>
            </a:r>
            <a:r>
              <a:rPr lang="en-US" dirty="0" smtClean="0"/>
              <a:t>.</a:t>
            </a:r>
          </a:p>
          <a:p>
            <a:r>
              <a:rPr lang="en-US" b="1" dirty="0" smtClean="0"/>
              <a:t>Example</a:t>
            </a:r>
            <a:r>
              <a:rPr lang="en-US" dirty="0" smtClean="0"/>
              <a:t>: What is?  </a:t>
            </a:r>
            <a:r>
              <a:rPr lang="en-US" dirty="0" smtClean="0">
                <a:latin typeface="Cambria Math" pitchFamily="18" charset="0"/>
                <a:ea typeface="Cambria Math" pitchFamily="18" charset="0"/>
              </a:rPr>
              <a:t>{1,2,3} ∩ {3,4,5} ? </a:t>
            </a:r>
          </a:p>
          <a:p>
            <a:pPr>
              <a:buNone/>
            </a:pP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Solution</a:t>
            </a:r>
            <a:r>
              <a:rPr lang="en-US" dirty="0" smtClean="0">
                <a:latin typeface="Cambria Math" pitchFamily="18" charset="0"/>
                <a:ea typeface="Cambria Math" pitchFamily="18" charset="0"/>
              </a:rPr>
              <a:t>:   {3}</a:t>
            </a:r>
          </a:p>
          <a:p>
            <a:r>
              <a:rPr lang="en-US" b="1" dirty="0" err="1" smtClean="0"/>
              <a:t>Example:</a:t>
            </a:r>
            <a:r>
              <a:rPr lang="en-US" dirty="0" err="1" smtClean="0"/>
              <a:t>What</a:t>
            </a:r>
            <a:r>
              <a:rPr lang="en-US" dirty="0" smtClean="0"/>
              <a:t> is?  </a:t>
            </a:r>
          </a:p>
          <a:p>
            <a:pPr>
              <a:buNone/>
            </a:pPr>
            <a:r>
              <a:rPr lang="en-US" dirty="0" smtClean="0">
                <a:latin typeface="Cambria Math" pitchFamily="18" charset="0"/>
                <a:ea typeface="Cambria Math" pitchFamily="18" charset="0"/>
              </a:rPr>
              <a:t>                {1,2,3} ∩ {4,5,6} ?    </a:t>
            </a:r>
          </a:p>
          <a:p>
            <a:pPr>
              <a:buNone/>
            </a:pP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Solution</a:t>
            </a:r>
            <a:r>
              <a:rPr lang="en-US" dirty="0" smtClean="0">
                <a:latin typeface="Cambria Math" pitchFamily="18" charset="0"/>
                <a:ea typeface="Cambria Math" pitchFamily="18" charset="0"/>
              </a:rPr>
              <a:t>: </a:t>
            </a:r>
            <a:r>
              <a:rPr lang="en-US" dirty="0" smtClean="0">
                <a:latin typeface="Cambria Math"/>
                <a:ea typeface="Cambria Math"/>
              </a:rPr>
              <a:t>∅</a:t>
            </a:r>
          </a:p>
          <a:p>
            <a:pPr>
              <a:buNone/>
            </a:pPr>
            <a:endParaRPr lang="en-US" dirty="0" smtClean="0">
              <a:latin typeface="Cambria Math" pitchFamily="18" charset="0"/>
              <a:ea typeface="Cambria Math" pitchFamily="18" charset="0"/>
            </a:endParaRPr>
          </a:p>
          <a:p>
            <a:pPr>
              <a:buNone/>
            </a:pPr>
            <a:endParaRPr lang="en-US" dirty="0">
              <a:latin typeface="Cambria Math" pitchFamily="18" charset="0"/>
              <a:ea typeface="Cambria Math" pitchFamily="18" charset="0"/>
            </a:endParaRPr>
          </a:p>
        </p:txBody>
      </p:sp>
      <p:pic>
        <p:nvPicPr>
          <p:cNvPr id="5" name="Picture 4" descr="addin_tmp.png"/>
          <p:cNvPicPr>
            <a:picLocks noChangeAspect="1"/>
          </p:cNvPicPr>
          <p:nvPr>
            <p:custDataLst>
              <p:tags r:id="rId1"/>
            </p:custDataLst>
          </p:nvPr>
        </p:nvPicPr>
        <p:blipFill>
          <a:blip r:embed="rId3" cstate="print"/>
          <a:stretch>
            <a:fillRect/>
          </a:stretch>
        </p:blipFill>
        <p:spPr>
          <a:xfrm>
            <a:off x="2514600" y="2819400"/>
            <a:ext cx="3026093" cy="382905"/>
          </a:xfrm>
          <a:prstGeom prst="rect">
            <a:avLst/>
          </a:prstGeom>
        </p:spPr>
      </p:pic>
      <p:grpSp>
        <p:nvGrpSpPr>
          <p:cNvPr id="36" name="Group 35"/>
          <p:cNvGrpSpPr/>
          <p:nvPr/>
        </p:nvGrpSpPr>
        <p:grpSpPr>
          <a:xfrm>
            <a:off x="5715000" y="4724400"/>
            <a:ext cx="3429000" cy="1447800"/>
            <a:chOff x="5715000" y="4724400"/>
            <a:chExt cx="3429000" cy="1447800"/>
          </a:xfrm>
        </p:grpSpPr>
        <p:sp>
          <p:nvSpPr>
            <p:cNvPr id="23" name="Oval 22"/>
            <p:cNvSpPr/>
            <p:nvPr/>
          </p:nvSpPr>
          <p:spPr>
            <a:xfrm>
              <a:off x="6934200" y="5105400"/>
              <a:ext cx="533400" cy="8382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0"/>
            <p:cNvGrpSpPr/>
            <p:nvPr/>
          </p:nvGrpSpPr>
          <p:grpSpPr>
            <a:xfrm>
              <a:off x="5715000" y="4724400"/>
              <a:ext cx="2971800" cy="1447800"/>
              <a:chOff x="5715000" y="4724400"/>
              <a:chExt cx="2971800" cy="1447800"/>
            </a:xfrm>
          </p:grpSpPr>
          <p:sp>
            <p:nvSpPr>
              <p:cNvPr id="32" name="Rectangle 31"/>
              <p:cNvSpPr/>
              <p:nvPr/>
            </p:nvSpPr>
            <p:spPr>
              <a:xfrm>
                <a:off x="5715000" y="4724400"/>
                <a:ext cx="29718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19"/>
              <p:cNvGrpSpPr/>
              <p:nvPr/>
            </p:nvGrpSpPr>
            <p:grpSpPr>
              <a:xfrm>
                <a:off x="6248400" y="5029200"/>
                <a:ext cx="1905000" cy="990600"/>
                <a:chOff x="6248400" y="5029200"/>
                <a:chExt cx="1905000" cy="990600"/>
              </a:xfrm>
            </p:grpSpPr>
            <p:sp>
              <p:nvSpPr>
                <p:cNvPr id="34" name="Oval 33"/>
                <p:cNvSpPr/>
                <p:nvPr/>
              </p:nvSpPr>
              <p:spPr>
                <a:xfrm>
                  <a:off x="6248400" y="5029200"/>
                  <a:ext cx="12192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6934200" y="5029200"/>
                  <a:ext cx="12192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8" name="Group 21"/>
            <p:cNvGrpSpPr/>
            <p:nvPr/>
          </p:nvGrpSpPr>
          <p:grpSpPr>
            <a:xfrm>
              <a:off x="6400800" y="4800600"/>
              <a:ext cx="2743200" cy="826532"/>
              <a:chOff x="6400800" y="4800600"/>
              <a:chExt cx="2743200" cy="826532"/>
            </a:xfrm>
          </p:grpSpPr>
          <p:sp>
            <p:nvSpPr>
              <p:cNvPr id="29" name="TextBox 28"/>
              <p:cNvSpPr txBox="1"/>
              <p:nvPr/>
            </p:nvSpPr>
            <p:spPr>
              <a:xfrm>
                <a:off x="8305800" y="4800600"/>
                <a:ext cx="838200" cy="369332"/>
              </a:xfrm>
              <a:prstGeom prst="rect">
                <a:avLst/>
              </a:prstGeom>
              <a:noFill/>
            </p:spPr>
            <p:txBody>
              <a:bodyPr wrap="square" rtlCol="0">
                <a:spAutoFit/>
              </a:bodyPr>
              <a:lstStyle/>
              <a:p>
                <a:r>
                  <a:rPr lang="en-US" i="1" dirty="0" smtClean="0"/>
                  <a:t>U</a:t>
                </a:r>
                <a:endParaRPr lang="en-US" i="1" dirty="0"/>
              </a:p>
            </p:txBody>
          </p:sp>
          <p:sp>
            <p:nvSpPr>
              <p:cNvPr id="30" name="TextBox 29"/>
              <p:cNvSpPr txBox="1"/>
              <p:nvPr/>
            </p:nvSpPr>
            <p:spPr>
              <a:xfrm>
                <a:off x="6400800" y="5181600"/>
                <a:ext cx="381000" cy="369332"/>
              </a:xfrm>
              <a:prstGeom prst="rect">
                <a:avLst/>
              </a:prstGeom>
              <a:noFill/>
            </p:spPr>
            <p:txBody>
              <a:bodyPr wrap="square" rtlCol="0">
                <a:spAutoFit/>
              </a:bodyPr>
              <a:lstStyle/>
              <a:p>
                <a:r>
                  <a:rPr lang="en-US" i="1" dirty="0" smtClean="0"/>
                  <a:t>A</a:t>
                </a:r>
                <a:endParaRPr lang="en-US" i="1" dirty="0"/>
              </a:p>
            </p:txBody>
          </p:sp>
          <p:sp>
            <p:nvSpPr>
              <p:cNvPr id="31" name="TextBox 30"/>
              <p:cNvSpPr txBox="1"/>
              <p:nvPr/>
            </p:nvSpPr>
            <p:spPr>
              <a:xfrm>
                <a:off x="7620000" y="5257800"/>
                <a:ext cx="381000" cy="369332"/>
              </a:xfrm>
              <a:prstGeom prst="rect">
                <a:avLst/>
              </a:prstGeom>
              <a:noFill/>
            </p:spPr>
            <p:txBody>
              <a:bodyPr wrap="square" rtlCol="0">
                <a:spAutoFit/>
              </a:bodyPr>
              <a:lstStyle/>
              <a:p>
                <a:r>
                  <a:rPr lang="en-US" i="1" dirty="0" smtClean="0"/>
                  <a:t>B</a:t>
                </a:r>
                <a:endParaRPr lang="en-US" i="1" dirty="0"/>
              </a:p>
            </p:txBody>
          </p:sp>
        </p:grpSp>
      </p:grpSp>
      <p:sp>
        <p:nvSpPr>
          <p:cNvPr id="16" name="TextBox 15"/>
          <p:cNvSpPr txBox="1"/>
          <p:nvPr/>
        </p:nvSpPr>
        <p:spPr>
          <a:xfrm>
            <a:off x="6172200" y="4267200"/>
            <a:ext cx="2971800" cy="369332"/>
          </a:xfrm>
          <a:prstGeom prst="rect">
            <a:avLst/>
          </a:prstGeom>
          <a:noFill/>
        </p:spPr>
        <p:txBody>
          <a:bodyPr wrap="square" rtlCol="0">
            <a:spAutoFit/>
          </a:bodyPr>
          <a:lstStyle/>
          <a:p>
            <a:r>
              <a:rPr lang="en-US" dirty="0" smtClean="0"/>
              <a:t>Venn Diagram</a:t>
            </a:r>
            <a:r>
              <a:rPr lang="en-US" dirty="0" smtClean="0">
                <a:latin typeface="Cambria Math"/>
                <a:ea typeface="Cambria Math"/>
              </a:rPr>
              <a:t>  for </a:t>
            </a:r>
            <a:r>
              <a:rPr lang="en-US" i="1" dirty="0" smtClean="0">
                <a:ea typeface="Cambria Math"/>
              </a:rPr>
              <a:t>A</a:t>
            </a:r>
            <a:r>
              <a:rPr lang="en-US" i="1" dirty="0" smtClean="0">
                <a:latin typeface="Cambria Math"/>
                <a:ea typeface="Cambria Math"/>
              </a:rPr>
              <a:t> </a:t>
            </a:r>
            <a:r>
              <a:rPr lang="en-US" dirty="0" smtClean="0">
                <a:latin typeface="Cambria Math"/>
                <a:ea typeface="Cambria Math"/>
              </a:rPr>
              <a:t>∩</a:t>
            </a:r>
            <a:r>
              <a:rPr lang="en-US" i="1" dirty="0" smtClean="0">
                <a:ea typeface="Cambria Math"/>
              </a:rPr>
              <a:t>B</a:t>
            </a:r>
            <a:r>
              <a:rPr lang="en-US" dirty="0" smtClean="0"/>
              <a:t>    </a:t>
            </a:r>
            <a:endParaRPr lang="en-US" dirty="0"/>
          </a:p>
        </p:txBody>
      </p:sp>
    </p:spTree>
    <p:extLst>
      <p:ext uri="{BB962C8B-B14F-4D97-AF65-F5344CB8AC3E}">
        <p14:creationId xmlns:p14="http://schemas.microsoft.com/office/powerpoint/2010/main" val="2656252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Complement</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If </a:t>
            </a:r>
            <a:r>
              <a:rPr lang="en-US" i="1" dirty="0" smtClean="0"/>
              <a:t>A</a:t>
            </a:r>
            <a:r>
              <a:rPr lang="en-US" dirty="0" smtClean="0"/>
              <a:t> is a set, then the complement of the </a:t>
            </a:r>
            <a:r>
              <a:rPr lang="en-US" i="1" dirty="0" smtClean="0"/>
              <a:t>A</a:t>
            </a:r>
            <a:r>
              <a:rPr lang="en-US" b="1" dirty="0" smtClean="0"/>
              <a:t> </a:t>
            </a:r>
            <a:r>
              <a:rPr lang="en-US" dirty="0" smtClean="0"/>
              <a:t>(with respect to </a:t>
            </a:r>
            <a:r>
              <a:rPr lang="en-US" i="1" dirty="0" smtClean="0">
                <a:ea typeface="Cambria Math" pitchFamily="18" charset="0"/>
              </a:rPr>
              <a:t>U</a:t>
            </a:r>
            <a:r>
              <a:rPr lang="en-US" dirty="0" smtClean="0"/>
              <a:t>), denoted by </a:t>
            </a:r>
            <a:r>
              <a:rPr lang="en-US" i="1" dirty="0" smtClean="0"/>
              <a:t>Ā</a:t>
            </a:r>
            <a:r>
              <a:rPr lang="en-US" dirty="0" smtClean="0"/>
              <a:t> is the set  </a:t>
            </a:r>
            <a:r>
              <a:rPr lang="en-US" i="1" dirty="0" smtClean="0">
                <a:ea typeface="Cambria Math" pitchFamily="18" charset="0"/>
              </a:rPr>
              <a:t>U</a:t>
            </a:r>
            <a:r>
              <a:rPr lang="en-US" dirty="0" smtClean="0">
                <a:latin typeface="Cambria Math" pitchFamily="18" charset="0"/>
                <a:ea typeface="Cambria Math" pitchFamily="18" charset="0"/>
              </a:rPr>
              <a:t> - </a:t>
            </a:r>
            <a:r>
              <a:rPr lang="en-US" i="1" dirty="0" smtClean="0">
                <a:ea typeface="Cambria Math" pitchFamily="18" charset="0"/>
              </a:rPr>
              <a:t>A</a:t>
            </a:r>
          </a:p>
          <a:p>
            <a:pPr>
              <a:buNone/>
            </a:pPr>
            <a:r>
              <a:rPr lang="en-US" dirty="0" smtClean="0"/>
              <a:t>                       </a:t>
            </a:r>
            <a:r>
              <a:rPr lang="en-US" i="1" dirty="0" smtClean="0">
                <a:ea typeface="Cambria Math" pitchFamily="18" charset="0"/>
              </a:rPr>
              <a:t>Ā </a:t>
            </a:r>
            <a:r>
              <a:rPr lang="en-US" dirty="0" smtClean="0">
                <a:latin typeface="Cambria Math" pitchFamily="18" charset="0"/>
                <a:ea typeface="Cambria Math" pitchFamily="18" charset="0"/>
              </a:rPr>
              <a:t>= {</a:t>
            </a:r>
            <a:r>
              <a:rPr lang="en-US" i="1" dirty="0" smtClean="0">
                <a:ea typeface="Cambria Math" pitchFamily="18" charset="0"/>
              </a:rPr>
              <a:t>x</a:t>
            </a:r>
            <a:r>
              <a:rPr lang="en-US" dirty="0" smtClean="0">
                <a:latin typeface="Cambria Math" pitchFamily="18" charset="0"/>
                <a:ea typeface="Cambria Math" pitchFamily="18" charset="0"/>
              </a:rPr>
              <a:t> </a:t>
            </a:r>
            <a:r>
              <a:rPr lang="en-US" dirty="0" smtClean="0">
                <a:latin typeface="Cambria Math"/>
                <a:ea typeface="Cambria Math"/>
              </a:rPr>
              <a:t>∈ </a:t>
            </a:r>
            <a:r>
              <a:rPr lang="en-US" i="1" dirty="0" smtClean="0">
                <a:ea typeface="Cambria Math"/>
              </a:rPr>
              <a:t>U</a:t>
            </a:r>
            <a:r>
              <a:rPr lang="en-US" dirty="0" smtClean="0">
                <a:latin typeface="Cambria Math"/>
                <a:ea typeface="Cambria Math"/>
              </a:rPr>
              <a:t> | </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a:t>
            </a:r>
            <a:r>
              <a:rPr lang="en-US" i="1" dirty="0" smtClean="0">
                <a:ea typeface="Cambria Math"/>
              </a:rPr>
              <a:t>A</a:t>
            </a:r>
            <a:r>
              <a:rPr lang="en-US" dirty="0" smtClean="0">
                <a:latin typeface="Cambria Math"/>
                <a:ea typeface="Cambria Math"/>
              </a:rPr>
              <a:t>}</a:t>
            </a:r>
            <a:endParaRPr lang="en-US" dirty="0" smtClean="0">
              <a:latin typeface="Cambria Math" pitchFamily="18" charset="0"/>
              <a:ea typeface="Cambria Math" pitchFamily="18" charset="0"/>
            </a:endParaRPr>
          </a:p>
          <a:p>
            <a:pPr>
              <a:buNone/>
            </a:pPr>
            <a:r>
              <a:rPr lang="en-US" dirty="0" smtClean="0"/>
              <a:t>  (The complement of A is sometimes denoted by </a:t>
            </a:r>
            <a:r>
              <a:rPr lang="en-US" i="1" dirty="0" smtClean="0"/>
              <a:t>A</a:t>
            </a:r>
            <a:r>
              <a:rPr lang="en-US" i="1" baseline="30000" dirty="0" smtClean="0"/>
              <a:t>c </a:t>
            </a:r>
            <a:r>
              <a:rPr lang="en-US" i="1" dirty="0" smtClean="0"/>
              <a:t>.</a:t>
            </a:r>
            <a:r>
              <a:rPr lang="en-US" dirty="0" smtClean="0"/>
              <a:t>)</a:t>
            </a:r>
          </a:p>
          <a:p>
            <a:pPr>
              <a:buNone/>
            </a:pPr>
            <a:r>
              <a:rPr lang="en-US" b="1" dirty="0" smtClean="0"/>
              <a:t>  Example</a:t>
            </a:r>
            <a:r>
              <a:rPr lang="en-US" dirty="0" smtClean="0"/>
              <a:t>: If </a:t>
            </a:r>
            <a:r>
              <a:rPr lang="en-US" i="1" dirty="0" smtClean="0"/>
              <a:t>U</a:t>
            </a:r>
            <a:r>
              <a:rPr lang="en-US" dirty="0" smtClean="0"/>
              <a:t> is the positive integers less than 100, what is the complement of </a:t>
            </a:r>
            <a:r>
              <a:rPr lang="en-US" dirty="0" smtClean="0">
                <a:latin typeface="Cambria Math" pitchFamily="18" charset="0"/>
                <a:ea typeface="Cambria Math" pitchFamily="18" charset="0"/>
              </a:rPr>
              <a:t>{</a:t>
            </a:r>
            <a:r>
              <a:rPr lang="en-US" i="1" dirty="0" smtClean="0">
                <a:ea typeface="Cambria Math" pitchFamily="18" charset="0"/>
              </a:rPr>
              <a:t>x</a:t>
            </a:r>
            <a:r>
              <a:rPr lang="en-US" dirty="0" smtClean="0">
                <a:latin typeface="Cambria Math"/>
                <a:ea typeface="Cambria Math"/>
              </a:rPr>
              <a:t> | </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&gt; 70} </a:t>
            </a:r>
          </a:p>
          <a:p>
            <a:pPr>
              <a:buNone/>
            </a:pPr>
            <a:r>
              <a:rPr lang="en-US" dirty="0" smtClean="0">
                <a:latin typeface="Cambria Math"/>
                <a:ea typeface="Cambria Math"/>
              </a:rPr>
              <a:t>            Solution: </a:t>
            </a:r>
            <a:r>
              <a:rPr lang="en-US" dirty="0" smtClean="0">
                <a:latin typeface="Cambria Math" pitchFamily="18" charset="0"/>
                <a:ea typeface="Cambria Math" pitchFamily="18" charset="0"/>
              </a:rPr>
              <a:t>{</a:t>
            </a:r>
            <a:r>
              <a:rPr lang="en-US" i="1" dirty="0" smtClean="0">
                <a:ea typeface="Cambria Math" pitchFamily="18" charset="0"/>
              </a:rPr>
              <a:t>x</a:t>
            </a:r>
            <a:r>
              <a:rPr lang="en-US" dirty="0" smtClean="0">
                <a:ea typeface="Cambria Math"/>
              </a:rPr>
              <a:t> </a:t>
            </a:r>
            <a:r>
              <a:rPr lang="en-US" dirty="0" smtClean="0">
                <a:latin typeface="Cambria Math"/>
                <a:ea typeface="Cambria Math"/>
              </a:rPr>
              <a:t>| </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70} </a:t>
            </a:r>
          </a:p>
        </p:txBody>
      </p:sp>
      <p:grpSp>
        <p:nvGrpSpPr>
          <p:cNvPr id="25" name="Group 24"/>
          <p:cNvGrpSpPr/>
          <p:nvPr/>
        </p:nvGrpSpPr>
        <p:grpSpPr>
          <a:xfrm>
            <a:off x="5562600" y="5029200"/>
            <a:ext cx="3733800" cy="1676400"/>
            <a:chOff x="5562600" y="4495800"/>
            <a:chExt cx="3733800" cy="1676400"/>
          </a:xfrm>
        </p:grpSpPr>
        <p:grpSp>
          <p:nvGrpSpPr>
            <p:cNvPr id="27" name="Group 19"/>
            <p:cNvGrpSpPr/>
            <p:nvPr/>
          </p:nvGrpSpPr>
          <p:grpSpPr>
            <a:xfrm>
              <a:off x="5562600" y="4724400"/>
              <a:ext cx="2971800" cy="1447800"/>
              <a:chOff x="5562600" y="4724400"/>
              <a:chExt cx="2971800" cy="1447800"/>
            </a:xfrm>
          </p:grpSpPr>
          <p:sp>
            <p:nvSpPr>
              <p:cNvPr id="30" name="Rectangle 29"/>
              <p:cNvSpPr/>
              <p:nvPr/>
            </p:nvSpPr>
            <p:spPr>
              <a:xfrm>
                <a:off x="5562600" y="4724400"/>
                <a:ext cx="2971800" cy="14478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6096000" y="5029200"/>
                <a:ext cx="1219200" cy="990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p:cNvSpPr txBox="1"/>
            <p:nvPr/>
          </p:nvSpPr>
          <p:spPr>
            <a:xfrm>
              <a:off x="6248400" y="5181600"/>
              <a:ext cx="381000" cy="369332"/>
            </a:xfrm>
            <a:prstGeom prst="rect">
              <a:avLst/>
            </a:prstGeom>
            <a:noFill/>
          </p:spPr>
          <p:txBody>
            <a:bodyPr wrap="square" rtlCol="0">
              <a:spAutoFit/>
            </a:bodyPr>
            <a:lstStyle/>
            <a:p>
              <a:r>
                <a:rPr lang="en-US" i="1" dirty="0" smtClean="0"/>
                <a:t>A</a:t>
              </a:r>
              <a:endParaRPr lang="en-US" i="1" dirty="0"/>
            </a:p>
          </p:txBody>
        </p:sp>
        <p:sp>
          <p:nvSpPr>
            <p:cNvPr id="26" name="TextBox 25"/>
            <p:cNvSpPr txBox="1"/>
            <p:nvPr/>
          </p:nvSpPr>
          <p:spPr>
            <a:xfrm>
              <a:off x="8458200" y="4495800"/>
              <a:ext cx="838200" cy="369332"/>
            </a:xfrm>
            <a:prstGeom prst="rect">
              <a:avLst/>
            </a:prstGeom>
            <a:noFill/>
          </p:spPr>
          <p:txBody>
            <a:bodyPr wrap="square" rtlCol="0">
              <a:spAutoFit/>
            </a:bodyPr>
            <a:lstStyle/>
            <a:p>
              <a:r>
                <a:rPr lang="en-US" i="1" dirty="0" smtClean="0"/>
                <a:t>U</a:t>
              </a:r>
              <a:endParaRPr lang="en-US" i="1" dirty="0"/>
            </a:p>
          </p:txBody>
        </p:sp>
      </p:grpSp>
      <p:sp>
        <p:nvSpPr>
          <p:cNvPr id="10" name="TextBox 9"/>
          <p:cNvSpPr txBox="1"/>
          <p:nvPr/>
        </p:nvSpPr>
        <p:spPr>
          <a:xfrm>
            <a:off x="5257800" y="4724400"/>
            <a:ext cx="3581400" cy="369332"/>
          </a:xfrm>
          <a:prstGeom prst="rect">
            <a:avLst/>
          </a:prstGeom>
          <a:noFill/>
        </p:spPr>
        <p:txBody>
          <a:bodyPr wrap="square" rtlCol="0">
            <a:spAutoFit/>
          </a:bodyPr>
          <a:lstStyle/>
          <a:p>
            <a:r>
              <a:rPr lang="en-US" dirty="0" smtClean="0"/>
              <a:t>Venn Diagram for Complement</a:t>
            </a:r>
            <a:endParaRPr lang="en-US" dirty="0"/>
          </a:p>
        </p:txBody>
      </p:sp>
      <p:sp>
        <p:nvSpPr>
          <p:cNvPr id="11" name="Rectangle 10"/>
          <p:cNvSpPr/>
          <p:nvPr/>
        </p:nvSpPr>
        <p:spPr>
          <a:xfrm>
            <a:off x="5638800" y="5410200"/>
            <a:ext cx="336952" cy="369332"/>
          </a:xfrm>
          <a:prstGeom prst="rect">
            <a:avLst/>
          </a:prstGeom>
        </p:spPr>
        <p:txBody>
          <a:bodyPr wrap="none">
            <a:spAutoFit/>
          </a:bodyPr>
          <a:lstStyle/>
          <a:p>
            <a:r>
              <a:rPr lang="en-US" i="1" dirty="0" smtClean="0">
                <a:ea typeface="Cambria Math" pitchFamily="18" charset="0"/>
              </a:rPr>
              <a:t>Ā</a:t>
            </a:r>
            <a:endParaRPr lang="en-US" dirty="0"/>
          </a:p>
        </p:txBody>
      </p:sp>
    </p:spTree>
    <p:extLst>
      <p:ext uri="{BB962C8B-B14F-4D97-AF65-F5344CB8AC3E}">
        <p14:creationId xmlns:p14="http://schemas.microsoft.com/office/powerpoint/2010/main" val="640406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a:t>
            </a:r>
            <a:endParaRPr lang="en-US" dirty="0"/>
          </a:p>
        </p:txBody>
      </p:sp>
      <p:sp>
        <p:nvSpPr>
          <p:cNvPr id="3" name="Content Placeholder 2"/>
          <p:cNvSpPr>
            <a:spLocks noGrp="1"/>
          </p:cNvSpPr>
          <p:nvPr>
            <p:ph idx="1"/>
          </p:nvPr>
        </p:nvSpPr>
        <p:spPr>
          <a:xfrm>
            <a:off x="487017" y="2044810"/>
            <a:ext cx="8229600" cy="4389120"/>
          </a:xfrm>
        </p:spPr>
        <p:txBody>
          <a:bodyPr/>
          <a:lstStyle/>
          <a:p>
            <a:r>
              <a:rPr lang="en-US" b="1" dirty="0" smtClean="0"/>
              <a:t>Definition</a:t>
            </a:r>
            <a:r>
              <a:rPr lang="en-US" dirty="0" smtClean="0"/>
              <a:t>: Let  </a:t>
            </a:r>
            <a:r>
              <a:rPr lang="en-US" i="1" dirty="0" smtClean="0"/>
              <a:t>A </a:t>
            </a:r>
            <a:r>
              <a:rPr lang="en-US" dirty="0" smtClean="0"/>
              <a:t>and </a:t>
            </a:r>
            <a:r>
              <a:rPr lang="en-US" i="1" dirty="0" smtClean="0"/>
              <a:t>B</a:t>
            </a:r>
            <a:r>
              <a:rPr lang="en-US" dirty="0" smtClean="0"/>
              <a:t> be sets. The </a:t>
            </a:r>
            <a:r>
              <a:rPr lang="en-US" i="1" dirty="0" smtClean="0"/>
              <a:t>difference</a:t>
            </a:r>
            <a:r>
              <a:rPr lang="en-US" dirty="0" smtClean="0"/>
              <a:t> of </a:t>
            </a:r>
            <a:r>
              <a:rPr lang="en-US" i="1" dirty="0" smtClean="0"/>
              <a:t>A</a:t>
            </a:r>
            <a:r>
              <a:rPr lang="en-US" dirty="0" smtClean="0"/>
              <a:t> and </a:t>
            </a:r>
            <a:r>
              <a:rPr lang="en-US" i="1" dirty="0" smtClean="0"/>
              <a:t>B</a:t>
            </a:r>
            <a:r>
              <a:rPr lang="en-US" dirty="0" smtClean="0"/>
              <a:t>, denoted by </a:t>
            </a:r>
            <a:r>
              <a:rPr lang="en-US" i="1" dirty="0" smtClean="0"/>
              <a:t>A</a:t>
            </a:r>
            <a:r>
              <a:rPr lang="en-US" dirty="0" smtClean="0"/>
              <a:t> – </a:t>
            </a:r>
            <a:r>
              <a:rPr lang="en-US" i="1" dirty="0" smtClean="0"/>
              <a:t>B</a:t>
            </a:r>
            <a:r>
              <a:rPr lang="en-US" dirty="0" smtClean="0"/>
              <a:t>, is the set containing the elements of </a:t>
            </a:r>
            <a:r>
              <a:rPr lang="en-US" i="1" dirty="0" smtClean="0"/>
              <a:t>A</a:t>
            </a:r>
            <a:r>
              <a:rPr lang="en-US" dirty="0" smtClean="0"/>
              <a:t> that are not in </a:t>
            </a:r>
            <a:r>
              <a:rPr lang="en-US" i="1" dirty="0" smtClean="0"/>
              <a:t>B</a:t>
            </a:r>
            <a:r>
              <a:rPr lang="en-US" dirty="0" smtClean="0"/>
              <a:t>. The difference of </a:t>
            </a:r>
            <a:r>
              <a:rPr lang="en-US" i="1" dirty="0" smtClean="0"/>
              <a:t>A</a:t>
            </a:r>
            <a:r>
              <a:rPr lang="en-US" dirty="0" smtClean="0"/>
              <a:t> and </a:t>
            </a:r>
            <a:r>
              <a:rPr lang="en-US" i="1" dirty="0" smtClean="0"/>
              <a:t>B</a:t>
            </a:r>
            <a:r>
              <a:rPr lang="en-US" dirty="0" smtClean="0"/>
              <a:t> is also called the complement of </a:t>
            </a:r>
            <a:r>
              <a:rPr lang="en-US" i="1" dirty="0" smtClean="0"/>
              <a:t>B</a:t>
            </a:r>
            <a:r>
              <a:rPr lang="en-US" dirty="0" smtClean="0"/>
              <a:t> with respect to </a:t>
            </a:r>
            <a:r>
              <a:rPr lang="en-US" i="1" dirty="0" smtClean="0"/>
              <a:t>A</a:t>
            </a:r>
            <a:r>
              <a:rPr lang="en-US" dirty="0" smtClean="0"/>
              <a:t>.</a:t>
            </a:r>
          </a:p>
          <a:p>
            <a:pPr>
              <a:buNone/>
            </a:pPr>
            <a:r>
              <a:rPr lang="en-US" dirty="0" smtClean="0"/>
              <a:t>               </a:t>
            </a:r>
            <a:r>
              <a:rPr lang="en-US" i="1" dirty="0" smtClean="0"/>
              <a:t>A</a:t>
            </a:r>
            <a:r>
              <a:rPr lang="en-US" dirty="0" smtClean="0"/>
              <a:t> – </a:t>
            </a:r>
            <a:r>
              <a:rPr lang="en-US" i="1" dirty="0" smtClean="0"/>
              <a:t>B</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a:t>
            </a:r>
            <a:r>
              <a:rPr lang="en-US" dirty="0" smtClean="0">
                <a:latin typeface="Cambria Math"/>
                <a:ea typeface="Cambria Math"/>
              </a:rPr>
              <a:t>| </a:t>
            </a:r>
            <a:r>
              <a:rPr lang="en-US" i="1" dirty="0" smtClean="0">
                <a:ea typeface="Cambria Math"/>
              </a:rPr>
              <a:t>x</a:t>
            </a:r>
            <a:r>
              <a:rPr lang="en-US" dirty="0" smtClean="0">
                <a:latin typeface="Cambria Math"/>
                <a:ea typeface="Cambria Math"/>
              </a:rPr>
              <a:t> ∈ A </a:t>
            </a:r>
            <a:r>
              <a:rPr lang="en-US" dirty="0" smtClean="0">
                <a:latin typeface="Cambria Math"/>
                <a:ea typeface="Cambria Math"/>
                <a:sym typeface="Symbol"/>
              </a:rPr>
              <a:t></a:t>
            </a:r>
            <a:r>
              <a:rPr lang="en-US" dirty="0" smtClean="0">
                <a:latin typeface="Cambria Math"/>
                <a:ea typeface="Cambria Math"/>
              </a:rPr>
              <a:t> </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a:t>
            </a:r>
            <a:r>
              <a:rPr lang="en-US" i="1" dirty="0" smtClean="0">
                <a:ea typeface="Cambria Math"/>
              </a:rPr>
              <a:t>B</a:t>
            </a:r>
            <a:r>
              <a:rPr lang="en-US" dirty="0" smtClean="0">
                <a:latin typeface="Cambria Math"/>
                <a:ea typeface="Cambria Math"/>
              </a:rPr>
              <a:t>}  =   </a:t>
            </a:r>
            <a:r>
              <a:rPr lang="en-US" i="1" dirty="0" smtClean="0">
                <a:ea typeface="Cambria Math" pitchFamily="18" charset="0"/>
              </a:rPr>
              <a:t>A</a:t>
            </a: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sym typeface="Symbol"/>
              </a:rPr>
              <a:t></a:t>
            </a:r>
            <a:r>
              <a:rPr lang="en-US" i="1" dirty="0" smtClean="0">
                <a:ea typeface="Cambria Math" pitchFamily="18" charset="0"/>
                <a:sym typeface="Symbol"/>
              </a:rPr>
              <a:t>B</a:t>
            </a:r>
            <a:endParaRPr lang="en-US" i="1" dirty="0" smtClean="0">
              <a:ea typeface="Cambria Math" pitchFamily="18" charset="0"/>
            </a:endParaRPr>
          </a:p>
        </p:txBody>
      </p:sp>
      <p:grpSp>
        <p:nvGrpSpPr>
          <p:cNvPr id="38" name="Group 37"/>
          <p:cNvGrpSpPr/>
          <p:nvPr/>
        </p:nvGrpSpPr>
        <p:grpSpPr>
          <a:xfrm>
            <a:off x="1905000" y="4953000"/>
            <a:ext cx="3429000" cy="1447800"/>
            <a:chOff x="5410200" y="4876800"/>
            <a:chExt cx="3429000" cy="1447800"/>
          </a:xfrm>
        </p:grpSpPr>
        <p:sp>
          <p:nvSpPr>
            <p:cNvPr id="29" name="Rectangle 28"/>
            <p:cNvSpPr/>
            <p:nvPr/>
          </p:nvSpPr>
          <p:spPr>
            <a:xfrm>
              <a:off x="5410200" y="4876800"/>
              <a:ext cx="29718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5943600" y="5181600"/>
              <a:ext cx="1219200" cy="9906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6629400" y="5181600"/>
              <a:ext cx="12192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8001000" y="4953000"/>
              <a:ext cx="838200" cy="369332"/>
            </a:xfrm>
            <a:prstGeom prst="rect">
              <a:avLst/>
            </a:prstGeom>
            <a:noFill/>
          </p:spPr>
          <p:txBody>
            <a:bodyPr wrap="square" rtlCol="0">
              <a:spAutoFit/>
            </a:bodyPr>
            <a:lstStyle/>
            <a:p>
              <a:r>
                <a:rPr lang="en-US" dirty="0" smtClean="0"/>
                <a:t>U</a:t>
              </a:r>
              <a:endParaRPr lang="en-US" dirty="0"/>
            </a:p>
          </p:txBody>
        </p:sp>
        <p:sp>
          <p:nvSpPr>
            <p:cNvPr id="35" name="TextBox 34"/>
            <p:cNvSpPr txBox="1"/>
            <p:nvPr/>
          </p:nvSpPr>
          <p:spPr>
            <a:xfrm>
              <a:off x="5715000" y="5181600"/>
              <a:ext cx="381000" cy="369332"/>
            </a:xfrm>
            <a:prstGeom prst="rect">
              <a:avLst/>
            </a:prstGeom>
            <a:noFill/>
          </p:spPr>
          <p:txBody>
            <a:bodyPr wrap="square" rtlCol="0">
              <a:spAutoFit/>
            </a:bodyPr>
            <a:lstStyle/>
            <a:p>
              <a:r>
                <a:rPr lang="en-US" dirty="0" smtClean="0"/>
                <a:t>A</a:t>
              </a:r>
              <a:endParaRPr lang="en-US" dirty="0"/>
            </a:p>
          </p:txBody>
        </p:sp>
        <p:sp>
          <p:nvSpPr>
            <p:cNvPr id="36" name="TextBox 35"/>
            <p:cNvSpPr txBox="1"/>
            <p:nvPr/>
          </p:nvSpPr>
          <p:spPr>
            <a:xfrm>
              <a:off x="7315200" y="5410200"/>
              <a:ext cx="381000" cy="369332"/>
            </a:xfrm>
            <a:prstGeom prst="rect">
              <a:avLst/>
            </a:prstGeom>
            <a:noFill/>
          </p:spPr>
          <p:txBody>
            <a:bodyPr wrap="square" rtlCol="0">
              <a:spAutoFit/>
            </a:bodyPr>
            <a:lstStyle/>
            <a:p>
              <a:r>
                <a:rPr lang="en-US" dirty="0" smtClean="0"/>
                <a:t>B</a:t>
              </a:r>
              <a:endParaRPr lang="en-US" dirty="0"/>
            </a:p>
          </p:txBody>
        </p:sp>
        <p:sp>
          <p:nvSpPr>
            <p:cNvPr id="37" name="Oval 36"/>
            <p:cNvSpPr/>
            <p:nvPr/>
          </p:nvSpPr>
          <p:spPr>
            <a:xfrm>
              <a:off x="6629400" y="5257800"/>
              <a:ext cx="533400" cy="8382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5181600" y="4953000"/>
            <a:ext cx="3505200" cy="369332"/>
          </a:xfrm>
          <a:prstGeom prst="rect">
            <a:avLst/>
          </a:prstGeom>
          <a:noFill/>
        </p:spPr>
        <p:txBody>
          <a:bodyPr wrap="square" rtlCol="0">
            <a:spAutoFit/>
          </a:bodyPr>
          <a:lstStyle/>
          <a:p>
            <a:r>
              <a:rPr lang="en-US" dirty="0" smtClean="0"/>
              <a:t>Venn Diagram</a:t>
            </a:r>
            <a:r>
              <a:rPr lang="en-US" dirty="0" smtClean="0">
                <a:latin typeface="Cambria Math"/>
                <a:ea typeface="Cambria Math"/>
              </a:rPr>
              <a:t>  for </a:t>
            </a:r>
            <a:r>
              <a:rPr lang="en-US" i="1" dirty="0" smtClean="0">
                <a:latin typeface="Cambria Math"/>
                <a:ea typeface="Cambria Math"/>
              </a:rPr>
              <a:t>A</a:t>
            </a:r>
            <a:r>
              <a:rPr lang="en-US" dirty="0" smtClean="0">
                <a:latin typeface="Cambria Math"/>
                <a:ea typeface="Cambria Math"/>
              </a:rPr>
              <a:t> − </a:t>
            </a:r>
            <a:r>
              <a:rPr lang="en-US" i="1" dirty="0" smtClean="0">
                <a:latin typeface="Cambria Math"/>
                <a:ea typeface="Cambria Math"/>
              </a:rPr>
              <a:t>B</a:t>
            </a:r>
            <a:r>
              <a:rPr lang="en-US" dirty="0" smtClean="0"/>
              <a:t>    </a:t>
            </a:r>
            <a:endParaRPr lang="en-US" dirty="0"/>
          </a:p>
        </p:txBody>
      </p:sp>
    </p:spTree>
    <p:extLst>
      <p:ext uri="{BB962C8B-B14F-4D97-AF65-F5344CB8AC3E}">
        <p14:creationId xmlns:p14="http://schemas.microsoft.com/office/powerpoint/2010/main" val="363229921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The Cardinality of the Union of Two Sets</a:t>
            </a:r>
            <a:endParaRPr lang="en-US" sz="4000" dirty="0"/>
          </a:p>
        </p:txBody>
      </p:sp>
      <p:sp>
        <p:nvSpPr>
          <p:cNvPr id="13" name="Content Placeholder 2"/>
          <p:cNvSpPr txBox="1">
            <a:spLocks/>
          </p:cNvSpPr>
          <p:nvPr/>
        </p:nvSpPr>
        <p:spPr>
          <a:xfrm>
            <a:off x="685800" y="1905000"/>
            <a:ext cx="8229600" cy="4389120"/>
          </a:xfrm>
          <a:prstGeom prst="rect">
            <a:avLst/>
          </a:prstGeom>
        </p:spPr>
        <p:txBody>
          <a:bodyPr vert="horz">
            <a:normAutofit fontScale="700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Inclusion-Exclusion</a:t>
            </a: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（容斥原理）</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a:t>
            </a:r>
            <a:r>
              <a:rPr kumimoji="0" lang="en-US" sz="2600" i="1" u="none" strike="noStrike" kern="1200" cap="none" spc="0" normalizeH="0" baseline="0" noProof="0" dirty="0" smtClean="0">
                <a:ln>
                  <a:noFill/>
                </a:ln>
                <a:solidFill>
                  <a:schemeClr val="tx1"/>
                </a:solidFill>
                <a:effectLst/>
                <a:uLnTx/>
                <a:uFillTx/>
                <a:ea typeface="Cambria Math" pitchFamily="18" charset="0"/>
              </a:rPr>
              <a:t>A</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 </a:t>
            </a:r>
            <a:r>
              <a:rPr kumimoji="0" lang="en-US" sz="2600" i="1" u="none" strike="noStrike" kern="1200" cap="none" spc="0" normalizeH="0" baseline="0" noProof="0" dirty="0" smtClean="0">
                <a:ln>
                  <a:noFill/>
                </a:ln>
                <a:solidFill>
                  <a:schemeClr val="tx1"/>
                </a:solidFill>
                <a:effectLst/>
                <a:uLnTx/>
                <a:uFillTx/>
                <a:ea typeface="Cambria Math" pitchFamily="18" charset="0"/>
              </a:rPr>
              <a:t>B</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 |</a:t>
            </a:r>
            <a:r>
              <a:rPr kumimoji="0" lang="en-US" sz="2600" i="1" u="none" strike="noStrike" kern="1200" cap="none" spc="0" normalizeH="0" baseline="0" noProof="0" dirty="0" smtClean="0">
                <a:ln>
                  <a:noFill/>
                </a:ln>
                <a:solidFill>
                  <a:schemeClr val="tx1"/>
                </a:solidFill>
                <a:effectLst/>
                <a:uLnTx/>
                <a:uFillTx/>
                <a:ea typeface="Cambria Math" pitchFamily="18" charset="0"/>
              </a:rPr>
              <a:t>A</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 | </a:t>
            </a:r>
            <a:r>
              <a:rPr kumimoji="0" lang="en-US" sz="2600" i="1" u="none" strike="noStrike" kern="1200" cap="none" spc="0" normalizeH="0" baseline="0" noProof="0" dirty="0" smtClean="0">
                <a:ln>
                  <a:noFill/>
                </a:ln>
                <a:solidFill>
                  <a:schemeClr val="tx1"/>
                </a:solidFill>
                <a:effectLst/>
                <a:uLnTx/>
                <a:uFillTx/>
                <a:ea typeface="Cambria Math" pitchFamily="18" charset="0"/>
              </a:rPr>
              <a:t>B</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a:t>
            </a:r>
            <a:r>
              <a:rPr kumimoji="0" lang="en-US" altLang="zh-CN"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a:t>
            </a:r>
            <a:r>
              <a:rPr kumimoji="0" lang="en-US" sz="2600" i="1" u="none" strike="noStrike" kern="1200" cap="none" spc="0" normalizeH="0" baseline="0" noProof="0" dirty="0" smtClean="0">
                <a:ln>
                  <a:noFill/>
                </a:ln>
                <a:solidFill>
                  <a:schemeClr val="tx1"/>
                </a:solidFill>
                <a:effectLst/>
                <a:uLnTx/>
                <a:uFillTx/>
                <a:ea typeface="Cambria Math" pitchFamily="18" charset="0"/>
              </a:rPr>
              <a:t>A</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 </a:t>
            </a:r>
            <a:r>
              <a:rPr kumimoji="0" lang="en-US" sz="2600" i="1" u="none" strike="noStrike" kern="1200" cap="none" spc="0" normalizeH="0" baseline="0" noProof="0" dirty="0" smtClean="0">
                <a:ln>
                  <a:noFill/>
                </a:ln>
                <a:solidFill>
                  <a:schemeClr val="tx1"/>
                </a:solidFill>
                <a:effectLst/>
                <a:uLnTx/>
                <a:uFillTx/>
                <a:ea typeface="Cambria Math" pitchFamily="18" charset="0"/>
              </a:rPr>
              <a:t>B</a:t>
            </a:r>
            <a:r>
              <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a:t>
            </a:r>
            <a:endParaRPr lang="en-US" sz="2600" dirty="0" smtClean="0">
              <a:latin typeface="Cambria Math" pitchFamily="18" charset="0"/>
              <a:ea typeface="Cambria Math"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endParaRPr lang="en-US" sz="2600" dirty="0" smtClean="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lang="en-US" sz="2600" b="1" dirty="0" smtClean="0"/>
              <a:t>Example</a:t>
            </a:r>
            <a:r>
              <a:rPr lang="en-US" sz="2600" dirty="0" smtClean="0"/>
              <a:t>: Let </a:t>
            </a:r>
            <a:r>
              <a:rPr lang="en-US" sz="2600" i="1" dirty="0" smtClean="0"/>
              <a:t>A</a:t>
            </a:r>
            <a:r>
              <a:rPr lang="en-US" sz="2600" dirty="0" smtClean="0"/>
              <a:t> be the math majors in your class and </a:t>
            </a:r>
            <a:r>
              <a:rPr lang="en-US" sz="2600" i="1" dirty="0" smtClean="0"/>
              <a:t>B</a:t>
            </a:r>
            <a:r>
              <a:rPr lang="en-US" sz="2600" dirty="0" smtClean="0"/>
              <a:t> be the CS majors. To count the number of students who are either math majors or CS majors, add the number of math majors and the number of CS majors, and subtract the number of joint CS/math majors.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lang="en-US" sz="2600" dirty="0" smtClean="0"/>
              <a:t>We will return to this principle in Chapter 6 and Chapter 8 where we will derive a formula for the cardinality of the union of </a:t>
            </a:r>
            <a:r>
              <a:rPr lang="en-US" sz="2600" i="1" dirty="0" smtClean="0"/>
              <a:t>n</a:t>
            </a:r>
            <a:r>
              <a:rPr lang="en-US" sz="2600" dirty="0" smtClean="0"/>
              <a:t> sets, where </a:t>
            </a:r>
            <a:r>
              <a:rPr lang="en-US" sz="2600" i="1" dirty="0" smtClean="0"/>
              <a:t>n</a:t>
            </a:r>
            <a:r>
              <a:rPr lang="en-US" sz="2600" dirty="0" smtClean="0"/>
              <a:t> is a positive integer.</a:t>
            </a:r>
          </a:p>
          <a:p>
            <a:pPr marL="274320" lvl="0" indent="-274320">
              <a:spcBef>
                <a:spcPct val="20000"/>
              </a:spcBef>
              <a:buClr>
                <a:schemeClr val="accent3"/>
              </a:buClr>
              <a:buSzPct val="95000"/>
            </a:pPr>
            <a:r>
              <a:rPr lang="en-US" sz="2600" dirty="0" smtClean="0"/>
              <a:t> </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grpSp>
        <p:nvGrpSpPr>
          <p:cNvPr id="3" name="Group 22"/>
          <p:cNvGrpSpPr/>
          <p:nvPr/>
        </p:nvGrpSpPr>
        <p:grpSpPr>
          <a:xfrm>
            <a:off x="5257800" y="1905000"/>
            <a:ext cx="3429000" cy="1447800"/>
            <a:chOff x="5715000" y="4724400"/>
            <a:chExt cx="3429000" cy="1447800"/>
          </a:xfrm>
        </p:grpSpPr>
        <p:sp>
          <p:nvSpPr>
            <p:cNvPr id="24" name="Oval 23"/>
            <p:cNvSpPr/>
            <p:nvPr/>
          </p:nvSpPr>
          <p:spPr>
            <a:xfrm>
              <a:off x="6934200" y="5105400"/>
              <a:ext cx="533400" cy="8382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20"/>
            <p:cNvGrpSpPr/>
            <p:nvPr/>
          </p:nvGrpSpPr>
          <p:grpSpPr>
            <a:xfrm>
              <a:off x="5715000" y="4724400"/>
              <a:ext cx="2971800" cy="1447800"/>
              <a:chOff x="5715000" y="4724400"/>
              <a:chExt cx="2971800" cy="1447800"/>
            </a:xfrm>
          </p:grpSpPr>
          <p:sp>
            <p:nvSpPr>
              <p:cNvPr id="30" name="Rectangle 29"/>
              <p:cNvSpPr/>
              <p:nvPr/>
            </p:nvSpPr>
            <p:spPr>
              <a:xfrm>
                <a:off x="5715000" y="4724400"/>
                <a:ext cx="29718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19"/>
              <p:cNvGrpSpPr/>
              <p:nvPr/>
            </p:nvGrpSpPr>
            <p:grpSpPr>
              <a:xfrm>
                <a:off x="6248400" y="5029200"/>
                <a:ext cx="1905000" cy="990600"/>
                <a:chOff x="6248400" y="5029200"/>
                <a:chExt cx="1905000" cy="990600"/>
              </a:xfrm>
            </p:grpSpPr>
            <p:sp>
              <p:nvSpPr>
                <p:cNvPr id="32" name="Oval 31"/>
                <p:cNvSpPr/>
                <p:nvPr/>
              </p:nvSpPr>
              <p:spPr>
                <a:xfrm>
                  <a:off x="6248400" y="5029200"/>
                  <a:ext cx="12192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6934200" y="5029200"/>
                  <a:ext cx="1219200" cy="99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 name="Group 21"/>
            <p:cNvGrpSpPr/>
            <p:nvPr/>
          </p:nvGrpSpPr>
          <p:grpSpPr>
            <a:xfrm>
              <a:off x="6400800" y="4800600"/>
              <a:ext cx="2743200" cy="826532"/>
              <a:chOff x="6400800" y="4800600"/>
              <a:chExt cx="2743200" cy="826532"/>
            </a:xfrm>
          </p:grpSpPr>
          <p:sp>
            <p:nvSpPr>
              <p:cNvPr id="27" name="TextBox 26"/>
              <p:cNvSpPr txBox="1"/>
              <p:nvPr/>
            </p:nvSpPr>
            <p:spPr>
              <a:xfrm>
                <a:off x="8305800" y="4800600"/>
                <a:ext cx="838200" cy="369332"/>
              </a:xfrm>
              <a:prstGeom prst="rect">
                <a:avLst/>
              </a:prstGeom>
              <a:noFill/>
            </p:spPr>
            <p:txBody>
              <a:bodyPr wrap="square" rtlCol="0">
                <a:spAutoFit/>
              </a:bodyPr>
              <a:lstStyle/>
              <a:p>
                <a:r>
                  <a:rPr lang="en-US" i="1" dirty="0" smtClean="0"/>
                  <a:t>U</a:t>
                </a:r>
                <a:endParaRPr lang="en-US" i="1" dirty="0"/>
              </a:p>
            </p:txBody>
          </p:sp>
          <p:sp>
            <p:nvSpPr>
              <p:cNvPr id="28" name="TextBox 27"/>
              <p:cNvSpPr txBox="1"/>
              <p:nvPr/>
            </p:nvSpPr>
            <p:spPr>
              <a:xfrm>
                <a:off x="6400800" y="5181600"/>
                <a:ext cx="381000" cy="369332"/>
              </a:xfrm>
              <a:prstGeom prst="rect">
                <a:avLst/>
              </a:prstGeom>
              <a:noFill/>
            </p:spPr>
            <p:txBody>
              <a:bodyPr wrap="square" rtlCol="0">
                <a:spAutoFit/>
              </a:bodyPr>
              <a:lstStyle/>
              <a:p>
                <a:r>
                  <a:rPr lang="en-US" i="1" dirty="0" smtClean="0"/>
                  <a:t>A</a:t>
                </a:r>
                <a:endParaRPr lang="en-US" i="1" dirty="0"/>
              </a:p>
            </p:txBody>
          </p:sp>
          <p:sp>
            <p:nvSpPr>
              <p:cNvPr id="29" name="TextBox 28"/>
              <p:cNvSpPr txBox="1"/>
              <p:nvPr/>
            </p:nvSpPr>
            <p:spPr>
              <a:xfrm>
                <a:off x="7620000" y="5257800"/>
                <a:ext cx="381000" cy="369332"/>
              </a:xfrm>
              <a:prstGeom prst="rect">
                <a:avLst/>
              </a:prstGeom>
              <a:noFill/>
            </p:spPr>
            <p:txBody>
              <a:bodyPr wrap="square" rtlCol="0">
                <a:spAutoFit/>
              </a:bodyPr>
              <a:lstStyle/>
              <a:p>
                <a:r>
                  <a:rPr lang="en-US" i="1" dirty="0" smtClean="0"/>
                  <a:t>B</a:t>
                </a:r>
                <a:endParaRPr lang="en-US" i="1" dirty="0"/>
              </a:p>
            </p:txBody>
          </p:sp>
        </p:grpSp>
      </p:grpSp>
      <p:sp>
        <p:nvSpPr>
          <p:cNvPr id="15" name="TextBox 14"/>
          <p:cNvSpPr txBox="1"/>
          <p:nvPr/>
        </p:nvSpPr>
        <p:spPr>
          <a:xfrm>
            <a:off x="5105400" y="3505200"/>
            <a:ext cx="3962400" cy="369332"/>
          </a:xfrm>
          <a:prstGeom prst="rect">
            <a:avLst/>
          </a:prstGeom>
          <a:noFill/>
        </p:spPr>
        <p:txBody>
          <a:bodyPr wrap="square" rtlCol="0">
            <a:spAutoFit/>
          </a:bodyPr>
          <a:lstStyle/>
          <a:p>
            <a:r>
              <a:rPr lang="en-US" dirty="0" smtClean="0"/>
              <a:t>Venn Diagram</a:t>
            </a:r>
            <a:r>
              <a:rPr lang="en-US" dirty="0" smtClean="0">
                <a:latin typeface="Cambria Math"/>
                <a:ea typeface="Cambria Math"/>
              </a:rPr>
              <a:t>  for </a:t>
            </a:r>
            <a:r>
              <a:rPr lang="en-US" i="1" dirty="0" smtClean="0">
                <a:latin typeface="Cambria Math"/>
                <a:ea typeface="Cambria Math"/>
              </a:rPr>
              <a:t>A</a:t>
            </a:r>
            <a:r>
              <a:rPr lang="en-US" dirty="0" smtClean="0">
                <a:latin typeface="Cambria Math"/>
                <a:ea typeface="Cambria Math"/>
              </a:rPr>
              <a:t>, </a:t>
            </a:r>
            <a:r>
              <a:rPr lang="en-US" i="1" dirty="0" smtClean="0">
                <a:latin typeface="Cambria Math"/>
                <a:ea typeface="Cambria Math"/>
              </a:rPr>
              <a:t>B</a:t>
            </a:r>
            <a:r>
              <a:rPr lang="en-US" dirty="0" smtClean="0">
                <a:latin typeface="Cambria Math"/>
                <a:ea typeface="Cambria Math"/>
              </a:rPr>
              <a:t>,</a:t>
            </a:r>
            <a:r>
              <a:rPr lang="en-US" i="1" dirty="0" smtClean="0">
                <a:ea typeface="Cambria Math" pitchFamily="18" charset="0"/>
              </a:rPr>
              <a:t> A</a:t>
            </a:r>
            <a:r>
              <a:rPr lang="en-US" dirty="0" smtClean="0">
                <a:latin typeface="Cambria Math" pitchFamily="18" charset="0"/>
                <a:ea typeface="Cambria Math" pitchFamily="18" charset="0"/>
              </a:rPr>
              <a:t> ∩ </a:t>
            </a:r>
            <a:r>
              <a:rPr lang="en-US" i="1" dirty="0" smtClean="0">
                <a:ea typeface="Cambria Math" pitchFamily="18" charset="0"/>
              </a:rPr>
              <a:t>B, A</a:t>
            </a:r>
            <a:r>
              <a:rPr lang="en-US" dirty="0" smtClean="0">
                <a:latin typeface="Cambria Math" pitchFamily="18" charset="0"/>
                <a:ea typeface="Cambria Math" pitchFamily="18" charset="0"/>
              </a:rPr>
              <a:t> ∪ </a:t>
            </a:r>
            <a:r>
              <a:rPr lang="en-US" i="1" dirty="0" smtClean="0">
                <a:ea typeface="Cambria Math" pitchFamily="18" charset="0"/>
              </a:rPr>
              <a:t>B </a:t>
            </a:r>
            <a:r>
              <a:rPr lang="en-US" dirty="0" smtClean="0">
                <a:latin typeface="Cambria Math"/>
                <a:ea typeface="Cambria Math"/>
              </a:rPr>
              <a:t> </a:t>
            </a:r>
            <a:r>
              <a:rPr lang="en-US" dirty="0" smtClean="0"/>
              <a:t>    </a:t>
            </a:r>
            <a:endParaRPr lang="en-US" dirty="0"/>
          </a:p>
        </p:txBody>
      </p:sp>
    </p:spTree>
    <p:extLst>
      <p:ext uri="{BB962C8B-B14F-4D97-AF65-F5344CB8AC3E}">
        <p14:creationId xmlns:p14="http://schemas.microsoft.com/office/powerpoint/2010/main" val="401869795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Questions</a:t>
            </a:r>
            <a:endParaRPr lang="en-US" dirty="0"/>
          </a:p>
        </p:txBody>
      </p:sp>
      <p:sp>
        <p:nvSpPr>
          <p:cNvPr id="3" name="Content Placeholder 2"/>
          <p:cNvSpPr>
            <a:spLocks noGrp="1"/>
          </p:cNvSpPr>
          <p:nvPr>
            <p:ph idx="1"/>
          </p:nvPr>
        </p:nvSpPr>
        <p:spPr/>
        <p:txBody>
          <a:bodyPr>
            <a:normAutofit/>
          </a:bodyPr>
          <a:lstStyle/>
          <a:p>
            <a:pPr>
              <a:buNone/>
            </a:pPr>
            <a:r>
              <a:rPr lang="en-US" sz="2000" b="1" dirty="0" smtClean="0"/>
              <a:t>Example</a:t>
            </a:r>
            <a:r>
              <a:rPr lang="en-US" sz="2000" dirty="0" smtClean="0"/>
              <a:t>: </a:t>
            </a:r>
            <a:r>
              <a:rPr lang="en-US" sz="2000" i="1" dirty="0" smtClean="0"/>
              <a:t>U</a:t>
            </a:r>
            <a:r>
              <a:rPr lang="en-US" sz="2000" dirty="0" smtClean="0"/>
              <a:t> = {</a:t>
            </a:r>
            <a:r>
              <a:rPr lang="en-US" sz="2000" dirty="0" smtClean="0">
                <a:latin typeface="Cambria Math" pitchFamily="18" charset="0"/>
                <a:ea typeface="Cambria Math" pitchFamily="18" charset="0"/>
              </a:rPr>
              <a:t>0,1,2,3,4,5</a:t>
            </a:r>
            <a:r>
              <a:rPr lang="en-US" sz="2000" dirty="0" smtClean="0"/>
              <a:t>,</a:t>
            </a:r>
            <a:r>
              <a:rPr lang="en-US" sz="2000" dirty="0" smtClean="0">
                <a:latin typeface="Cambria Math" pitchFamily="18" charset="0"/>
                <a:ea typeface="Cambria Math" pitchFamily="18" charset="0"/>
              </a:rPr>
              <a:t>6,7,8,9,10</a:t>
            </a:r>
            <a:r>
              <a:rPr lang="en-US" sz="2000" dirty="0" smtClean="0"/>
              <a:t>}  </a:t>
            </a:r>
            <a:r>
              <a:rPr lang="en-US" sz="2000" i="1" dirty="0" smtClean="0"/>
              <a:t>A</a:t>
            </a:r>
            <a:r>
              <a:rPr lang="en-US" sz="2000" dirty="0" smtClean="0"/>
              <a:t> = {</a:t>
            </a:r>
            <a:r>
              <a:rPr lang="en-US" sz="2000" dirty="0" smtClean="0">
                <a:latin typeface="Cambria Math" pitchFamily="18" charset="0"/>
                <a:ea typeface="Cambria Math" pitchFamily="18" charset="0"/>
              </a:rPr>
              <a:t>1,2,3,4,5</a:t>
            </a:r>
            <a:r>
              <a:rPr lang="en-US" sz="2000" dirty="0" smtClean="0"/>
              <a:t>},    </a:t>
            </a:r>
            <a:r>
              <a:rPr lang="en-US" sz="2000" i="1" dirty="0" smtClean="0"/>
              <a:t>B</a:t>
            </a:r>
            <a:r>
              <a:rPr lang="en-US" sz="2000" dirty="0" smtClean="0"/>
              <a:t> ={</a:t>
            </a:r>
            <a:r>
              <a:rPr lang="en-US" sz="2000" dirty="0" smtClean="0">
                <a:latin typeface="Cambria Math" pitchFamily="18" charset="0"/>
                <a:ea typeface="Cambria Math" pitchFamily="18" charset="0"/>
              </a:rPr>
              <a:t>4,5,6,7,8</a:t>
            </a:r>
            <a:r>
              <a:rPr lang="en-US" sz="2000" dirty="0" smtClean="0"/>
              <a:t>}</a:t>
            </a:r>
          </a:p>
          <a:p>
            <a:pPr marL="736092" lvl="1" indent="-342900">
              <a:buFont typeface="+mj-lt"/>
              <a:buAutoNum type="arabicPeriod"/>
            </a:pPr>
            <a:r>
              <a:rPr lang="en-US" sz="1600" i="1" dirty="0" smtClean="0">
                <a:ea typeface="Cambria Math" pitchFamily="18" charset="0"/>
              </a:rPr>
              <a:t>A</a:t>
            </a:r>
            <a:r>
              <a:rPr lang="en-US" sz="1600" b="1" dirty="0" smtClean="0">
                <a:latin typeface="Cambria Math" pitchFamily="18" charset="0"/>
                <a:ea typeface="Cambria Math" pitchFamily="18" charset="0"/>
              </a:rPr>
              <a:t> </a:t>
            </a:r>
            <a:r>
              <a:rPr lang="en-US" sz="1600" dirty="0" smtClean="0">
                <a:latin typeface="Cambria Math"/>
                <a:ea typeface="Cambria Math"/>
              </a:rPr>
              <a:t>∪ </a:t>
            </a:r>
            <a:r>
              <a:rPr lang="en-US" sz="1600" i="1" dirty="0" smtClean="0">
                <a:ea typeface="Cambria Math"/>
              </a:rPr>
              <a:t>B</a:t>
            </a:r>
            <a:r>
              <a:rPr lang="en-US" sz="1600" b="1" dirty="0" smtClean="0">
                <a:latin typeface="Cambria Math"/>
                <a:ea typeface="Cambria Math"/>
              </a:rPr>
              <a:t>             </a:t>
            </a:r>
          </a:p>
          <a:p>
            <a:pPr marL="1010412" lvl="2" indent="-342900">
              <a:buNone/>
            </a:pPr>
            <a:r>
              <a:rPr lang="en-US" sz="1600" b="1" dirty="0" smtClean="0">
                <a:latin typeface="Cambria Math"/>
                <a:ea typeface="Cambria Math"/>
              </a:rPr>
              <a:t> </a:t>
            </a:r>
            <a:r>
              <a:rPr lang="en-US" sz="1600" b="1" dirty="0" smtClean="0">
                <a:ea typeface="Cambria Math"/>
              </a:rPr>
              <a:t>Solution:</a:t>
            </a:r>
            <a:r>
              <a:rPr lang="en-US" sz="1600" b="1" dirty="0" smtClean="0">
                <a:latin typeface="Cambria Math"/>
                <a:ea typeface="Cambria Math"/>
              </a:rPr>
              <a:t> </a:t>
            </a:r>
            <a:r>
              <a:rPr lang="en-US" sz="1600" dirty="0" smtClean="0"/>
              <a:t>{</a:t>
            </a:r>
            <a:r>
              <a:rPr lang="en-US" sz="1600" dirty="0" smtClean="0">
                <a:latin typeface="Cambria Math" pitchFamily="18" charset="0"/>
                <a:ea typeface="Cambria Math" pitchFamily="18" charset="0"/>
              </a:rPr>
              <a:t>1,2,3,4,5</a:t>
            </a:r>
            <a:r>
              <a:rPr lang="en-US" sz="1600" dirty="0" smtClean="0"/>
              <a:t>,</a:t>
            </a:r>
            <a:r>
              <a:rPr lang="en-US" sz="1600" dirty="0" smtClean="0">
                <a:latin typeface="Cambria Math" pitchFamily="18" charset="0"/>
                <a:ea typeface="Cambria Math" pitchFamily="18" charset="0"/>
              </a:rPr>
              <a:t>6,7,8</a:t>
            </a:r>
            <a:r>
              <a:rPr lang="en-US" sz="1600" dirty="0" smtClean="0"/>
              <a:t>}</a:t>
            </a:r>
            <a:r>
              <a:rPr lang="en-US" sz="1600" b="1" dirty="0" smtClean="0">
                <a:latin typeface="Cambria Math"/>
                <a:ea typeface="Cambria Math"/>
              </a:rPr>
              <a:t>     </a:t>
            </a:r>
          </a:p>
          <a:p>
            <a:pPr marL="736092" lvl="1" indent="-342900">
              <a:buFont typeface="+mj-lt"/>
              <a:buAutoNum type="arabicPeriod"/>
            </a:pPr>
            <a:r>
              <a:rPr lang="en-US" sz="1600" i="1" dirty="0" smtClean="0">
                <a:ea typeface="Cambria Math" pitchFamily="18" charset="0"/>
              </a:rPr>
              <a:t>A</a:t>
            </a:r>
            <a:r>
              <a:rPr lang="en-US" sz="1600" b="1" dirty="0" smtClean="0">
                <a:latin typeface="Cambria Math" pitchFamily="18" charset="0"/>
                <a:ea typeface="Cambria Math" pitchFamily="18" charset="0"/>
              </a:rPr>
              <a:t> </a:t>
            </a:r>
            <a:r>
              <a:rPr lang="en-US" sz="1600" dirty="0" smtClean="0">
                <a:latin typeface="Cambria Math"/>
                <a:ea typeface="Cambria Math"/>
              </a:rPr>
              <a:t>∩ </a:t>
            </a:r>
            <a:r>
              <a:rPr lang="en-US" sz="1600" i="1" dirty="0" smtClean="0">
                <a:ea typeface="Cambria Math"/>
              </a:rPr>
              <a:t>B</a:t>
            </a:r>
            <a:r>
              <a:rPr lang="en-US" sz="1600" b="1" dirty="0" smtClean="0">
                <a:ea typeface="Cambria Math"/>
              </a:rPr>
              <a:t>            </a:t>
            </a:r>
          </a:p>
          <a:p>
            <a:pPr marL="1010412" lvl="2" indent="-342900">
              <a:buNone/>
            </a:pPr>
            <a:r>
              <a:rPr lang="en-US" sz="1600" b="1" dirty="0" smtClean="0">
                <a:ea typeface="Cambria Math"/>
              </a:rPr>
              <a:t> Solution:</a:t>
            </a:r>
            <a:r>
              <a:rPr lang="en-US" sz="1600" b="1" dirty="0" smtClean="0">
                <a:latin typeface="Cambria Math"/>
                <a:ea typeface="Cambria Math"/>
              </a:rPr>
              <a:t> </a:t>
            </a:r>
            <a:r>
              <a:rPr lang="en-US" sz="1600" dirty="0" smtClean="0"/>
              <a:t>{</a:t>
            </a:r>
            <a:r>
              <a:rPr lang="en-US" sz="1600" dirty="0" smtClean="0">
                <a:latin typeface="Cambria Math" pitchFamily="18" charset="0"/>
                <a:ea typeface="Cambria Math" pitchFamily="18" charset="0"/>
              </a:rPr>
              <a:t>4,5</a:t>
            </a:r>
            <a:r>
              <a:rPr lang="en-US" sz="1600" dirty="0" smtClean="0"/>
              <a:t>}</a:t>
            </a:r>
            <a:r>
              <a:rPr lang="en-US" sz="1600" b="1" dirty="0" smtClean="0">
                <a:latin typeface="Cambria Math"/>
                <a:ea typeface="Cambria Math"/>
              </a:rPr>
              <a:t> </a:t>
            </a:r>
          </a:p>
          <a:p>
            <a:pPr marL="736092" lvl="1" indent="-342900">
              <a:buFont typeface="+mj-lt"/>
              <a:buAutoNum type="arabicPeriod"/>
            </a:pPr>
            <a:r>
              <a:rPr lang="en-US" sz="1600" i="1" dirty="0" smtClean="0">
                <a:ea typeface="Cambria Math" pitchFamily="18" charset="0"/>
              </a:rPr>
              <a:t>Ā</a:t>
            </a:r>
            <a:r>
              <a:rPr lang="en-US" sz="1600" b="1" dirty="0" smtClean="0">
                <a:ea typeface="Cambria Math"/>
              </a:rPr>
              <a:t>                  </a:t>
            </a:r>
          </a:p>
          <a:p>
            <a:pPr marL="1010412" lvl="2" indent="-342900">
              <a:buNone/>
            </a:pPr>
            <a:r>
              <a:rPr lang="en-US" sz="1600" b="1" dirty="0" smtClean="0">
                <a:ea typeface="Cambria Math"/>
              </a:rPr>
              <a:t>  Solution:</a:t>
            </a:r>
            <a:r>
              <a:rPr lang="en-US" sz="1600" b="1" dirty="0" smtClean="0">
                <a:latin typeface="Cambria Math"/>
                <a:ea typeface="Cambria Math"/>
              </a:rPr>
              <a:t> </a:t>
            </a:r>
            <a:r>
              <a:rPr lang="en-US" sz="1600" dirty="0" smtClean="0"/>
              <a:t>{</a:t>
            </a:r>
            <a:r>
              <a:rPr lang="en-US" sz="1600" dirty="0" smtClean="0">
                <a:latin typeface="Cambria Math" pitchFamily="18" charset="0"/>
                <a:ea typeface="Cambria Math" pitchFamily="18" charset="0"/>
              </a:rPr>
              <a:t>0,6,7,8,9,10</a:t>
            </a:r>
            <a:r>
              <a:rPr lang="en-US" sz="1600" dirty="0" smtClean="0"/>
              <a:t>}</a:t>
            </a:r>
            <a:endParaRPr lang="en-US" sz="1600" b="1" dirty="0" smtClean="0">
              <a:latin typeface="Cambria Math" pitchFamily="18" charset="0"/>
              <a:ea typeface="Cambria Math" pitchFamily="18" charset="0"/>
            </a:endParaRPr>
          </a:p>
          <a:p>
            <a:pPr marL="736092" lvl="1" indent="-342900">
              <a:buFont typeface="+mj-lt"/>
              <a:buAutoNum type="arabicPeriod"/>
            </a:pPr>
            <a:r>
              <a:rPr lang="en-US" sz="1600" dirty="0" smtClean="0">
                <a:latin typeface="Cambria Math" pitchFamily="18" charset="0"/>
                <a:ea typeface="Cambria Math" pitchFamily="18" charset="0"/>
                <a:sym typeface="Symbol"/>
              </a:rPr>
              <a:t>                        </a:t>
            </a:r>
          </a:p>
          <a:p>
            <a:pPr marL="1010412" lvl="2" indent="-342900">
              <a:buNone/>
            </a:pPr>
            <a:r>
              <a:rPr lang="en-US" sz="1600" dirty="0" smtClean="0">
                <a:latin typeface="Cambria Math" pitchFamily="18" charset="0"/>
                <a:ea typeface="Cambria Math" pitchFamily="18" charset="0"/>
                <a:sym typeface="Symbol"/>
              </a:rPr>
              <a:t> </a:t>
            </a:r>
            <a:r>
              <a:rPr lang="en-US" sz="1600" b="1" dirty="0" smtClean="0">
                <a:ea typeface="Cambria Math"/>
              </a:rPr>
              <a:t>Solution:</a:t>
            </a:r>
            <a:r>
              <a:rPr lang="en-US" sz="1600" dirty="0" smtClean="0"/>
              <a:t> {</a:t>
            </a:r>
            <a:r>
              <a:rPr lang="en-US" sz="1600" dirty="0" smtClean="0">
                <a:latin typeface="Cambria Math" pitchFamily="18" charset="0"/>
                <a:ea typeface="Cambria Math" pitchFamily="18" charset="0"/>
              </a:rPr>
              <a:t>0,1,2,3,9,10</a:t>
            </a:r>
            <a:r>
              <a:rPr lang="en-US" sz="1600" dirty="0" smtClean="0"/>
              <a:t>}</a:t>
            </a:r>
            <a:endParaRPr lang="en-US" sz="1600" dirty="0" smtClean="0">
              <a:latin typeface="Cambria Math" pitchFamily="18" charset="0"/>
              <a:ea typeface="Cambria Math" pitchFamily="18" charset="0"/>
              <a:sym typeface="Symbol"/>
            </a:endParaRPr>
          </a:p>
          <a:p>
            <a:pPr marL="736092" lvl="1" indent="-342900">
              <a:buFont typeface="+mj-lt"/>
              <a:buAutoNum type="arabicPeriod"/>
            </a:pPr>
            <a:r>
              <a:rPr lang="en-US" sz="1600" i="1" dirty="0" smtClean="0">
                <a:ea typeface="Cambria Math" pitchFamily="18" charset="0"/>
              </a:rPr>
              <a:t>A</a:t>
            </a:r>
            <a:r>
              <a:rPr lang="en-US" sz="1600" b="1" dirty="0" smtClean="0">
                <a:latin typeface="Cambria Math" pitchFamily="18" charset="0"/>
                <a:ea typeface="Cambria Math" pitchFamily="18" charset="0"/>
              </a:rPr>
              <a:t> – </a:t>
            </a:r>
            <a:r>
              <a:rPr lang="en-US" sz="1600" i="1" dirty="0" smtClean="0">
                <a:ea typeface="Cambria Math" pitchFamily="18" charset="0"/>
              </a:rPr>
              <a:t>B</a:t>
            </a:r>
            <a:r>
              <a:rPr lang="en-US" sz="1600" b="1" dirty="0" smtClean="0">
                <a:ea typeface="Cambria Math"/>
              </a:rPr>
              <a:t>            </a:t>
            </a:r>
          </a:p>
          <a:p>
            <a:pPr marL="1010412" lvl="2" indent="-342900">
              <a:buNone/>
            </a:pPr>
            <a:r>
              <a:rPr lang="en-US" sz="1600" b="1" dirty="0" smtClean="0">
                <a:ea typeface="Cambria Math"/>
              </a:rPr>
              <a:t>  Solution:</a:t>
            </a:r>
            <a:r>
              <a:rPr lang="en-US" sz="1600" b="1" dirty="0" smtClean="0">
                <a:latin typeface="Cambria Math"/>
                <a:ea typeface="Cambria Math"/>
              </a:rPr>
              <a:t> </a:t>
            </a:r>
            <a:r>
              <a:rPr lang="en-US" sz="1600" dirty="0" smtClean="0"/>
              <a:t>{</a:t>
            </a:r>
            <a:r>
              <a:rPr lang="en-US" sz="1600" dirty="0" smtClean="0">
                <a:latin typeface="Cambria Math" pitchFamily="18" charset="0"/>
                <a:ea typeface="Cambria Math" pitchFamily="18" charset="0"/>
              </a:rPr>
              <a:t>1,2,3</a:t>
            </a:r>
            <a:r>
              <a:rPr lang="en-US" sz="1600" dirty="0" smtClean="0"/>
              <a:t>} </a:t>
            </a:r>
            <a:endParaRPr lang="en-US" sz="1600" b="1" dirty="0" smtClean="0">
              <a:latin typeface="Cambria Math" pitchFamily="18" charset="0"/>
              <a:ea typeface="Cambria Math" pitchFamily="18" charset="0"/>
            </a:endParaRPr>
          </a:p>
          <a:p>
            <a:pPr marL="736092" lvl="1" indent="-342900">
              <a:buFont typeface="+mj-lt"/>
              <a:buAutoNum type="arabicPeriod"/>
            </a:pPr>
            <a:r>
              <a:rPr lang="en-US" sz="1600" i="1" dirty="0" smtClean="0">
                <a:ea typeface="Cambria Math" pitchFamily="18" charset="0"/>
              </a:rPr>
              <a:t>B</a:t>
            </a:r>
            <a:r>
              <a:rPr lang="en-US" sz="1600" b="1" dirty="0" smtClean="0">
                <a:latin typeface="Cambria Math" pitchFamily="18" charset="0"/>
                <a:ea typeface="Cambria Math" pitchFamily="18" charset="0"/>
              </a:rPr>
              <a:t> – </a:t>
            </a:r>
            <a:r>
              <a:rPr lang="en-US" sz="1600" i="1" dirty="0" smtClean="0">
                <a:ea typeface="Cambria Math" pitchFamily="18" charset="0"/>
              </a:rPr>
              <a:t>A</a:t>
            </a:r>
            <a:r>
              <a:rPr lang="en-US" sz="1600" b="1" dirty="0" smtClean="0">
                <a:latin typeface="Cambria Math" pitchFamily="18" charset="0"/>
                <a:ea typeface="Cambria Math" pitchFamily="18" charset="0"/>
              </a:rPr>
              <a:t>               </a:t>
            </a:r>
          </a:p>
          <a:p>
            <a:pPr marL="1010412" lvl="2" indent="-342900">
              <a:buNone/>
            </a:pPr>
            <a:r>
              <a:rPr lang="en-US" sz="1600" b="1" dirty="0" smtClean="0">
                <a:ea typeface="Cambria Math"/>
              </a:rPr>
              <a:t>Solution:</a:t>
            </a:r>
            <a:r>
              <a:rPr lang="en-US" sz="1600" b="1" dirty="0" smtClean="0">
                <a:latin typeface="Cambria Math" pitchFamily="18" charset="0"/>
                <a:ea typeface="Cambria Math" pitchFamily="18" charset="0"/>
              </a:rPr>
              <a:t> </a:t>
            </a:r>
            <a:r>
              <a:rPr lang="en-US" sz="1600" dirty="0" smtClean="0"/>
              <a:t>{</a:t>
            </a:r>
            <a:r>
              <a:rPr lang="en-US" sz="1600" dirty="0" smtClean="0">
                <a:latin typeface="Cambria Math" pitchFamily="18" charset="0"/>
                <a:ea typeface="Cambria Math" pitchFamily="18" charset="0"/>
              </a:rPr>
              <a:t>6,7,8</a:t>
            </a:r>
            <a:r>
              <a:rPr lang="en-US" sz="1600" dirty="0" smtClean="0"/>
              <a:t>} </a:t>
            </a:r>
            <a:r>
              <a:rPr lang="en-US" sz="1600" b="1" dirty="0" smtClean="0">
                <a:latin typeface="Cambria Math" pitchFamily="18" charset="0"/>
                <a:ea typeface="Cambria Math" pitchFamily="18" charset="0"/>
              </a:rPr>
              <a:t>			</a:t>
            </a:r>
          </a:p>
          <a:p>
            <a:pPr lvl="1"/>
            <a:endParaRPr lang="en-US" b="1" dirty="0" smtClean="0">
              <a:latin typeface="Cambria Math" pitchFamily="18" charset="0"/>
              <a:ea typeface="Cambria Math" pitchFamily="18" charset="0"/>
            </a:endParaRPr>
          </a:p>
          <a:p>
            <a:pPr lvl="1"/>
            <a:endParaRPr lang="en-US" b="1" dirty="0" smtClean="0">
              <a:latin typeface="Cambria Math"/>
              <a:ea typeface="Cambria Math"/>
            </a:endParaRPr>
          </a:p>
          <a:p>
            <a:pPr lvl="1"/>
            <a:endParaRPr lang="en-US" b="1" dirty="0" smtClean="0">
              <a:latin typeface="Cambria Math"/>
              <a:ea typeface="Cambria Math"/>
            </a:endParaRPr>
          </a:p>
          <a:p>
            <a:pPr lvl="1"/>
            <a:endParaRPr lang="en-US" dirty="0" smtClean="0"/>
          </a:p>
          <a:p>
            <a:pPr lvl="1">
              <a:buNone/>
            </a:pPr>
            <a:endParaRPr lang="en-US" dirty="0"/>
          </a:p>
        </p:txBody>
      </p:sp>
      <p:pic>
        <p:nvPicPr>
          <p:cNvPr id="7" name="Picture 6" descr="addin_tmp.png"/>
          <p:cNvPicPr>
            <a:picLocks noChangeAspect="1"/>
          </p:cNvPicPr>
          <p:nvPr>
            <p:custDataLst>
              <p:tags r:id="rId1"/>
            </p:custDataLst>
          </p:nvPr>
        </p:nvPicPr>
        <p:blipFill>
          <a:blip r:embed="rId3" cstate="print"/>
          <a:stretch>
            <a:fillRect/>
          </a:stretch>
        </p:blipFill>
        <p:spPr>
          <a:xfrm>
            <a:off x="1295400" y="4114800"/>
            <a:ext cx="128016" cy="150686"/>
          </a:xfrm>
          <a:prstGeom prst="rect">
            <a:avLst/>
          </a:prstGeom>
        </p:spPr>
      </p:pic>
    </p:spTree>
    <p:extLst>
      <p:ext uri="{BB962C8B-B14F-4D97-AF65-F5344CB8AC3E}">
        <p14:creationId xmlns:p14="http://schemas.microsoft.com/office/powerpoint/2010/main" val="3056996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Symmetric Difference (</a:t>
            </a:r>
            <a:r>
              <a:rPr lang="en-US" i="1" dirty="0" smtClean="0"/>
              <a:t>optional</a:t>
            </a:r>
            <a:r>
              <a:rPr lang="en-US" dirty="0" smtClean="0"/>
              <a:t>)</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The </a:t>
            </a:r>
            <a:r>
              <a:rPr lang="en-US" i="1" dirty="0" smtClean="0"/>
              <a:t>symmetric difference</a:t>
            </a:r>
            <a:r>
              <a:rPr lang="zh-CN" altLang="en-US" sz="2400" dirty="0" smtClean="0"/>
              <a:t>（对称差）</a:t>
            </a:r>
            <a:r>
              <a:rPr lang="en-US" sz="2400" dirty="0" smtClean="0"/>
              <a:t> </a:t>
            </a:r>
            <a:r>
              <a:rPr lang="en-US" dirty="0" smtClean="0"/>
              <a:t>of </a:t>
            </a:r>
            <a:r>
              <a:rPr lang="en-US" b="1" dirty="0" smtClean="0"/>
              <a:t>A</a:t>
            </a:r>
            <a:r>
              <a:rPr lang="en-US" dirty="0" smtClean="0"/>
              <a:t> and </a:t>
            </a:r>
            <a:r>
              <a:rPr lang="en-US" b="1" dirty="0" smtClean="0"/>
              <a:t>B</a:t>
            </a:r>
            <a:r>
              <a:rPr lang="en-US" dirty="0" smtClean="0"/>
              <a:t>, denoted by                   is the set</a:t>
            </a:r>
          </a:p>
          <a:p>
            <a:endParaRPr lang="en-US" dirty="0" smtClean="0"/>
          </a:p>
          <a:p>
            <a:pPr>
              <a:buNone/>
            </a:pPr>
            <a:r>
              <a:rPr lang="en-US" b="1" dirty="0" smtClean="0"/>
              <a:t> Example</a:t>
            </a:r>
            <a:r>
              <a:rPr lang="en-US" dirty="0" smtClean="0"/>
              <a:t>:</a:t>
            </a:r>
          </a:p>
          <a:p>
            <a:pPr lvl="1">
              <a:buNone/>
            </a:pPr>
            <a:r>
              <a:rPr lang="en-US" i="1" dirty="0" smtClean="0">
                <a:ea typeface="Cambria Math" pitchFamily="18" charset="0"/>
              </a:rPr>
              <a:t>U</a:t>
            </a:r>
            <a:r>
              <a:rPr lang="en-US" dirty="0" smtClean="0">
                <a:latin typeface="Cambria Math" pitchFamily="18" charset="0"/>
                <a:ea typeface="Cambria Math" pitchFamily="18" charset="0"/>
              </a:rPr>
              <a:t> = {0,1,2,3,4,5,6,7,8,9,10}  </a:t>
            </a:r>
          </a:p>
          <a:p>
            <a:pPr lvl="1">
              <a:buNone/>
            </a:pPr>
            <a:r>
              <a:rPr lang="en-US" i="1" dirty="0" smtClean="0">
                <a:ea typeface="Cambria Math" pitchFamily="18" charset="0"/>
              </a:rPr>
              <a:t>A</a:t>
            </a:r>
            <a:r>
              <a:rPr lang="en-US" dirty="0" smtClean="0">
                <a:ea typeface="Cambria Math" pitchFamily="18" charset="0"/>
              </a:rPr>
              <a:t> </a:t>
            </a:r>
            <a:r>
              <a:rPr lang="en-US" dirty="0" smtClean="0">
                <a:latin typeface="Cambria Math" pitchFamily="18" charset="0"/>
                <a:ea typeface="Cambria Math" pitchFamily="18" charset="0"/>
              </a:rPr>
              <a:t>= {1,2,3,4,5}   </a:t>
            </a:r>
            <a:r>
              <a:rPr lang="en-US" i="1" dirty="0" smtClean="0">
                <a:ea typeface="Cambria Math" pitchFamily="18" charset="0"/>
              </a:rPr>
              <a:t>B</a:t>
            </a:r>
            <a:r>
              <a:rPr lang="en-US" dirty="0" smtClean="0">
                <a:latin typeface="Cambria Math" pitchFamily="18" charset="0"/>
                <a:ea typeface="Cambria Math" pitchFamily="18" charset="0"/>
              </a:rPr>
              <a:t> ={4,5,6,7,8}</a:t>
            </a:r>
          </a:p>
          <a:p>
            <a:pPr lvl="1">
              <a:buNone/>
            </a:pPr>
            <a:r>
              <a:rPr lang="en-US" dirty="0" smtClean="0"/>
              <a:t>What is:</a:t>
            </a: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 </a:t>
            </a:r>
          </a:p>
          <a:p>
            <a:pPr lvl="1"/>
            <a:r>
              <a:rPr lang="en-US" b="1" dirty="0" smtClean="0">
                <a:ea typeface="Cambria Math" pitchFamily="18" charset="0"/>
              </a:rPr>
              <a:t>Solution</a:t>
            </a:r>
            <a:r>
              <a:rPr lang="en-US" dirty="0" smtClean="0">
                <a:latin typeface="Cambria Math" pitchFamily="18" charset="0"/>
                <a:ea typeface="Cambria Math" pitchFamily="18" charset="0"/>
              </a:rPr>
              <a:t>: {1,2,3,6,7,8}</a:t>
            </a:r>
            <a:endParaRPr lang="en-US" dirty="0" smtClean="0"/>
          </a:p>
          <a:p>
            <a:pPr lvl="1">
              <a:buNone/>
            </a:pPr>
            <a:endParaRPr lang="en-US" dirty="0" smtClean="0"/>
          </a:p>
          <a:p>
            <a:pPr>
              <a:buNone/>
            </a:pPr>
            <a:endParaRPr lang="en-US" dirty="0"/>
          </a:p>
        </p:txBody>
      </p:sp>
      <p:pic>
        <p:nvPicPr>
          <p:cNvPr id="5" name="Picture 4" descr="addin_tmp.png"/>
          <p:cNvPicPr>
            <a:picLocks noChangeAspect="1"/>
          </p:cNvPicPr>
          <p:nvPr>
            <p:custDataLst>
              <p:tags r:id="rId1"/>
            </p:custDataLst>
          </p:nvPr>
        </p:nvPicPr>
        <p:blipFill>
          <a:blip r:embed="rId5" cstate="print"/>
          <a:stretch>
            <a:fillRect/>
          </a:stretch>
        </p:blipFill>
        <p:spPr>
          <a:xfrm>
            <a:off x="2286000" y="3048000"/>
            <a:ext cx="3051810" cy="382905"/>
          </a:xfrm>
          <a:prstGeom prst="rect">
            <a:avLst/>
          </a:prstGeom>
        </p:spPr>
      </p:pic>
      <p:pic>
        <p:nvPicPr>
          <p:cNvPr id="7" name="Picture 6" descr="addin_tmp.png"/>
          <p:cNvPicPr>
            <a:picLocks noChangeAspect="1"/>
          </p:cNvPicPr>
          <p:nvPr>
            <p:custDataLst>
              <p:tags r:id="rId2"/>
            </p:custDataLst>
          </p:nvPr>
        </p:nvPicPr>
        <p:blipFill>
          <a:blip r:embed="rId6" cstate="print"/>
          <a:stretch>
            <a:fillRect/>
          </a:stretch>
        </p:blipFill>
        <p:spPr>
          <a:xfrm>
            <a:off x="3616643" y="2438400"/>
            <a:ext cx="1025843" cy="308610"/>
          </a:xfrm>
          <a:prstGeom prst="rect">
            <a:avLst/>
          </a:prstGeom>
        </p:spPr>
      </p:pic>
      <p:pic>
        <p:nvPicPr>
          <p:cNvPr id="9" name="Picture 8" descr="addin_tmp.png"/>
          <p:cNvPicPr>
            <a:picLocks noChangeAspect="1"/>
          </p:cNvPicPr>
          <p:nvPr>
            <p:custDataLst>
              <p:tags r:id="rId3"/>
            </p:custDataLst>
          </p:nvPr>
        </p:nvPicPr>
        <p:blipFill>
          <a:blip r:embed="rId6" cstate="print"/>
          <a:stretch>
            <a:fillRect/>
          </a:stretch>
        </p:blipFill>
        <p:spPr>
          <a:xfrm>
            <a:off x="6172200" y="3657600"/>
            <a:ext cx="854869" cy="257175"/>
          </a:xfrm>
          <a:prstGeom prst="rect">
            <a:avLst/>
          </a:prstGeom>
        </p:spPr>
      </p:pic>
      <p:grpSp>
        <p:nvGrpSpPr>
          <p:cNvPr id="35" name="Group 34"/>
          <p:cNvGrpSpPr/>
          <p:nvPr/>
        </p:nvGrpSpPr>
        <p:grpSpPr>
          <a:xfrm>
            <a:off x="4953000" y="3581400"/>
            <a:ext cx="3493476" cy="2057400"/>
            <a:chOff x="4953000" y="3581400"/>
            <a:chExt cx="3493476" cy="2057400"/>
          </a:xfrm>
        </p:grpSpPr>
        <p:sp>
          <p:nvSpPr>
            <p:cNvPr id="10" name="Rectangle 9"/>
            <p:cNvSpPr/>
            <p:nvPr/>
          </p:nvSpPr>
          <p:spPr>
            <a:xfrm>
              <a:off x="4953000" y="3581400"/>
              <a:ext cx="3352800" cy="2057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486399" y="4191001"/>
              <a:ext cx="1312985" cy="1303421"/>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172199" y="4191001"/>
              <a:ext cx="1312985" cy="1303421"/>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7543799" y="4210725"/>
              <a:ext cx="902677" cy="369332"/>
            </a:xfrm>
            <a:prstGeom prst="rect">
              <a:avLst/>
            </a:prstGeom>
            <a:noFill/>
          </p:spPr>
          <p:txBody>
            <a:bodyPr wrap="square" rtlCol="0">
              <a:spAutoFit/>
            </a:bodyPr>
            <a:lstStyle/>
            <a:p>
              <a:r>
                <a:rPr lang="en-US" dirty="0" smtClean="0"/>
                <a:t>U</a:t>
              </a:r>
              <a:endParaRPr lang="en-US" dirty="0"/>
            </a:p>
          </p:txBody>
        </p:sp>
        <p:sp>
          <p:nvSpPr>
            <p:cNvPr id="14" name="TextBox 13"/>
            <p:cNvSpPr txBox="1"/>
            <p:nvPr/>
          </p:nvSpPr>
          <p:spPr>
            <a:xfrm>
              <a:off x="5562600" y="4643862"/>
              <a:ext cx="410308" cy="369332"/>
            </a:xfrm>
            <a:prstGeom prst="rect">
              <a:avLst/>
            </a:prstGeom>
            <a:noFill/>
          </p:spPr>
          <p:txBody>
            <a:bodyPr wrap="square" rtlCol="0">
              <a:spAutoFit/>
            </a:bodyPr>
            <a:lstStyle/>
            <a:p>
              <a:r>
                <a:rPr lang="en-US" dirty="0" smtClean="0"/>
                <a:t>A</a:t>
              </a:r>
              <a:endParaRPr lang="en-US" dirty="0"/>
            </a:p>
          </p:txBody>
        </p:sp>
        <p:sp>
          <p:nvSpPr>
            <p:cNvPr id="15" name="TextBox 14"/>
            <p:cNvSpPr txBox="1"/>
            <p:nvPr/>
          </p:nvSpPr>
          <p:spPr>
            <a:xfrm>
              <a:off x="6858000" y="4643862"/>
              <a:ext cx="410308" cy="369332"/>
            </a:xfrm>
            <a:prstGeom prst="rect">
              <a:avLst/>
            </a:prstGeom>
            <a:noFill/>
          </p:spPr>
          <p:txBody>
            <a:bodyPr wrap="square" rtlCol="0">
              <a:spAutoFit/>
            </a:bodyPr>
            <a:lstStyle/>
            <a:p>
              <a:r>
                <a:rPr lang="en-US" dirty="0" smtClean="0"/>
                <a:t>B</a:t>
              </a:r>
              <a:endParaRPr lang="en-US" dirty="0"/>
            </a:p>
          </p:txBody>
        </p:sp>
        <p:sp>
          <p:nvSpPr>
            <p:cNvPr id="16" name="Oval 15"/>
            <p:cNvSpPr/>
            <p:nvPr/>
          </p:nvSpPr>
          <p:spPr>
            <a:xfrm>
              <a:off x="6172199" y="4319336"/>
              <a:ext cx="574431" cy="110289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p:cNvSpPr txBox="1"/>
          <p:nvPr/>
        </p:nvSpPr>
        <p:spPr>
          <a:xfrm>
            <a:off x="5638800" y="5943600"/>
            <a:ext cx="2438400" cy="369332"/>
          </a:xfrm>
          <a:prstGeom prst="rect">
            <a:avLst/>
          </a:prstGeom>
          <a:noFill/>
        </p:spPr>
        <p:txBody>
          <a:bodyPr wrap="square" rtlCol="0">
            <a:spAutoFit/>
          </a:bodyPr>
          <a:lstStyle/>
          <a:p>
            <a:r>
              <a:rPr lang="en-US" dirty="0" smtClean="0"/>
              <a:t>Venn Diagram</a:t>
            </a:r>
            <a:endParaRPr lang="en-US" dirty="0"/>
          </a:p>
        </p:txBody>
      </p:sp>
      <p:cxnSp>
        <p:nvCxnSpPr>
          <p:cNvPr id="32" name="Straight Arrow Connector 31"/>
          <p:cNvCxnSpPr>
            <a:stCxn id="9" idx="2"/>
          </p:cNvCxnSpPr>
          <p:nvPr/>
        </p:nvCxnSpPr>
        <p:spPr>
          <a:xfrm rot="16200000" flipH="1">
            <a:off x="6590705" y="3923704"/>
            <a:ext cx="276225" cy="2583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9" idx="2"/>
          </p:cNvCxnSpPr>
          <p:nvPr/>
        </p:nvCxnSpPr>
        <p:spPr>
          <a:xfrm rot="5400000">
            <a:off x="6285906" y="3877270"/>
            <a:ext cx="276225" cy="3512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078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Identities</a:t>
            </a:r>
            <a:endParaRPr lang="en-US" dirty="0"/>
          </a:p>
        </p:txBody>
      </p:sp>
      <p:sp>
        <p:nvSpPr>
          <p:cNvPr id="3" name="Content Placeholder 2"/>
          <p:cNvSpPr>
            <a:spLocks noGrp="1"/>
          </p:cNvSpPr>
          <p:nvPr>
            <p:ph idx="1"/>
          </p:nvPr>
        </p:nvSpPr>
        <p:spPr/>
        <p:txBody>
          <a:bodyPr/>
          <a:lstStyle/>
          <a:p>
            <a:r>
              <a:rPr lang="en-US" dirty="0" smtClean="0"/>
              <a:t>Identity laws</a:t>
            </a:r>
            <a:r>
              <a:rPr lang="zh-CN" altLang="en-US" sz="2400" dirty="0" smtClean="0"/>
              <a:t>（恒等律）</a:t>
            </a:r>
            <a:endParaRPr lang="en-US" sz="2400" dirty="0" smtClean="0"/>
          </a:p>
          <a:p>
            <a:pPr>
              <a:buNone/>
            </a:pPr>
            <a:r>
              <a:rPr lang="en-US" dirty="0" smtClean="0"/>
              <a:t>                                           </a:t>
            </a:r>
          </a:p>
          <a:p>
            <a:r>
              <a:rPr lang="en-US" dirty="0" smtClean="0"/>
              <a:t>Domination laws</a:t>
            </a:r>
            <a:r>
              <a:rPr lang="zh-CN" altLang="en-US" sz="2400" dirty="0" smtClean="0"/>
              <a:t>（支配律）</a:t>
            </a:r>
            <a:endParaRPr lang="en-US" sz="2400" dirty="0" smtClean="0"/>
          </a:p>
          <a:p>
            <a:pPr>
              <a:buNone/>
            </a:pPr>
            <a:r>
              <a:rPr lang="en-US" dirty="0" smtClean="0"/>
              <a:t>                                            </a:t>
            </a:r>
          </a:p>
          <a:p>
            <a:r>
              <a:rPr lang="en-US" dirty="0" smtClean="0"/>
              <a:t>Idempotent laws</a:t>
            </a:r>
            <a:r>
              <a:rPr lang="zh-CN" altLang="en-US" sz="2400" dirty="0" smtClean="0"/>
              <a:t>（幂等律）</a:t>
            </a:r>
            <a:endParaRPr lang="en-US" sz="2400" dirty="0" smtClean="0"/>
          </a:p>
          <a:p>
            <a:pPr>
              <a:buNone/>
            </a:pPr>
            <a:r>
              <a:rPr lang="en-US" dirty="0" smtClean="0"/>
              <a:t>                                           </a:t>
            </a:r>
          </a:p>
          <a:p>
            <a:r>
              <a:rPr lang="en-US" dirty="0" smtClean="0"/>
              <a:t>Complementation law</a:t>
            </a:r>
            <a:r>
              <a:rPr lang="zh-CN" altLang="en-US" sz="2400" dirty="0" smtClean="0"/>
              <a:t>（补律）</a:t>
            </a:r>
            <a:endParaRPr lang="en-US" altLang="zh-CN" sz="2800" dirty="0"/>
          </a:p>
        </p:txBody>
      </p:sp>
      <p:pic>
        <p:nvPicPr>
          <p:cNvPr id="4" name="Content Placeholder 3" descr="addin_tmp.png"/>
          <p:cNvPicPr>
            <a:picLocks noChangeAspect="1"/>
          </p:cNvPicPr>
          <p:nvPr>
            <p:custDataLst>
              <p:tags r:id="rId1"/>
            </p:custDataLst>
          </p:nvPr>
        </p:nvPicPr>
        <p:blipFill>
          <a:blip r:embed="rId10" cstate="print"/>
          <a:stretch>
            <a:fillRect/>
          </a:stretch>
        </p:blipFill>
        <p:spPr>
          <a:xfrm>
            <a:off x="1828800" y="2514600"/>
            <a:ext cx="1665923" cy="320040"/>
          </a:xfrm>
          <a:prstGeom prst="rect">
            <a:avLst/>
          </a:prstGeom>
        </p:spPr>
      </p:pic>
      <p:pic>
        <p:nvPicPr>
          <p:cNvPr id="5" name="Picture 4" descr="addin_tmp.png"/>
          <p:cNvPicPr>
            <a:picLocks noChangeAspect="1"/>
          </p:cNvPicPr>
          <p:nvPr>
            <p:custDataLst>
              <p:tags r:id="rId2"/>
            </p:custDataLst>
          </p:nvPr>
        </p:nvPicPr>
        <p:blipFill>
          <a:blip r:embed="rId11" cstate="print"/>
          <a:stretch>
            <a:fillRect/>
          </a:stretch>
        </p:blipFill>
        <p:spPr>
          <a:xfrm>
            <a:off x="4191000" y="2514600"/>
            <a:ext cx="1777365" cy="274320"/>
          </a:xfrm>
          <a:prstGeom prst="rect">
            <a:avLst/>
          </a:prstGeom>
        </p:spPr>
      </p:pic>
      <p:pic>
        <p:nvPicPr>
          <p:cNvPr id="6" name="Picture 5" descr="addin_tmp.png"/>
          <p:cNvPicPr>
            <a:picLocks noChangeAspect="1"/>
          </p:cNvPicPr>
          <p:nvPr>
            <p:custDataLst>
              <p:tags r:id="rId3"/>
            </p:custDataLst>
          </p:nvPr>
        </p:nvPicPr>
        <p:blipFill>
          <a:blip r:embed="rId12" cstate="print"/>
          <a:stretch>
            <a:fillRect/>
          </a:stretch>
        </p:blipFill>
        <p:spPr>
          <a:xfrm>
            <a:off x="1828800" y="3505200"/>
            <a:ext cx="1791653" cy="274320"/>
          </a:xfrm>
          <a:prstGeom prst="rect">
            <a:avLst/>
          </a:prstGeom>
        </p:spPr>
      </p:pic>
      <p:pic>
        <p:nvPicPr>
          <p:cNvPr id="7" name="Picture 6" descr="addin_tmp.png"/>
          <p:cNvPicPr>
            <a:picLocks noChangeAspect="1"/>
          </p:cNvPicPr>
          <p:nvPr>
            <p:custDataLst>
              <p:tags r:id="rId4"/>
            </p:custDataLst>
          </p:nvPr>
        </p:nvPicPr>
        <p:blipFill>
          <a:blip r:embed="rId13" cstate="print"/>
          <a:stretch>
            <a:fillRect/>
          </a:stretch>
        </p:blipFill>
        <p:spPr>
          <a:xfrm>
            <a:off x="4191000" y="3429000"/>
            <a:ext cx="1563053" cy="320040"/>
          </a:xfrm>
          <a:prstGeom prst="rect">
            <a:avLst/>
          </a:prstGeom>
        </p:spPr>
      </p:pic>
      <p:pic>
        <p:nvPicPr>
          <p:cNvPr id="8" name="Content Placeholder 3" descr="addin_tmp.png"/>
          <p:cNvPicPr>
            <a:picLocks noChangeAspect="1"/>
          </p:cNvPicPr>
          <p:nvPr>
            <p:custDataLst>
              <p:tags r:id="rId5"/>
            </p:custDataLst>
          </p:nvPr>
        </p:nvPicPr>
        <p:blipFill>
          <a:blip r:embed="rId14" cstate="print"/>
          <a:stretch>
            <a:fillRect/>
          </a:stretch>
        </p:blipFill>
        <p:spPr>
          <a:xfrm>
            <a:off x="1828800" y="4495800"/>
            <a:ext cx="1760220" cy="274320"/>
          </a:xfrm>
          <a:prstGeom prst="rect">
            <a:avLst/>
          </a:prstGeom>
        </p:spPr>
      </p:pic>
      <p:pic>
        <p:nvPicPr>
          <p:cNvPr id="9" name="Picture 8" descr="addin_tmp.png"/>
          <p:cNvPicPr>
            <a:picLocks noChangeAspect="1"/>
          </p:cNvPicPr>
          <p:nvPr>
            <p:custDataLst>
              <p:tags r:id="rId6"/>
            </p:custDataLst>
          </p:nvPr>
        </p:nvPicPr>
        <p:blipFill>
          <a:blip r:embed="rId15" cstate="print"/>
          <a:stretch>
            <a:fillRect/>
          </a:stretch>
        </p:blipFill>
        <p:spPr>
          <a:xfrm>
            <a:off x="4267200" y="4495800"/>
            <a:ext cx="1760220" cy="274320"/>
          </a:xfrm>
          <a:prstGeom prst="rect">
            <a:avLst/>
          </a:prstGeom>
        </p:spPr>
      </p:pic>
      <p:pic>
        <p:nvPicPr>
          <p:cNvPr id="10" name="Picture 9" descr="addin_tmp.png"/>
          <p:cNvPicPr>
            <a:picLocks noChangeAspect="1"/>
          </p:cNvPicPr>
          <p:nvPr>
            <p:custDataLst>
              <p:tags r:id="rId7"/>
            </p:custDataLst>
          </p:nvPr>
        </p:nvPicPr>
        <p:blipFill>
          <a:blip r:embed="rId16" cstate="print"/>
          <a:stretch>
            <a:fillRect/>
          </a:stretch>
        </p:blipFill>
        <p:spPr>
          <a:xfrm>
            <a:off x="2895600" y="5562600"/>
            <a:ext cx="1360170" cy="494348"/>
          </a:xfrm>
          <a:prstGeom prst="rect">
            <a:avLst/>
          </a:prstGeom>
        </p:spPr>
      </p:pic>
      <p:sp>
        <p:nvSpPr>
          <p:cNvPr id="11" name="TextBox 10"/>
          <p:cNvSpPr txBox="1"/>
          <p:nvPr/>
        </p:nvSpPr>
        <p:spPr>
          <a:xfrm>
            <a:off x="4267200" y="61722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extLst>
      <p:ext uri="{BB962C8B-B14F-4D97-AF65-F5344CB8AC3E}">
        <p14:creationId xmlns:p14="http://schemas.microsoft.com/office/powerpoint/2010/main" val="186408771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Identities</a:t>
            </a:r>
            <a:endParaRPr lang="en-US" dirty="0"/>
          </a:p>
        </p:txBody>
      </p:sp>
      <p:sp>
        <p:nvSpPr>
          <p:cNvPr id="3" name="Content Placeholder 2"/>
          <p:cNvSpPr>
            <a:spLocks noGrp="1"/>
          </p:cNvSpPr>
          <p:nvPr>
            <p:ph idx="1"/>
          </p:nvPr>
        </p:nvSpPr>
        <p:spPr/>
        <p:txBody>
          <a:bodyPr/>
          <a:lstStyle/>
          <a:p>
            <a:r>
              <a:rPr lang="en-US" dirty="0" smtClean="0"/>
              <a:t>Commutative laws</a:t>
            </a:r>
            <a:r>
              <a:rPr lang="zh-CN" altLang="en-US" sz="2400" dirty="0" smtClean="0"/>
              <a:t>（交换律）</a:t>
            </a:r>
            <a:endParaRPr lang="en-US" sz="2400" dirty="0" smtClean="0"/>
          </a:p>
          <a:p>
            <a:pPr>
              <a:buNone/>
            </a:pPr>
            <a:r>
              <a:rPr lang="en-US" dirty="0" smtClean="0"/>
              <a:t>                                           </a:t>
            </a:r>
          </a:p>
          <a:p>
            <a:r>
              <a:rPr lang="en-US" dirty="0" smtClean="0"/>
              <a:t>Associative laws</a:t>
            </a:r>
            <a:r>
              <a:rPr lang="zh-CN" altLang="en-US" sz="2400" dirty="0" smtClean="0"/>
              <a:t>（结合律）</a:t>
            </a:r>
            <a:endParaRPr lang="en-US" sz="2400" dirty="0" smtClean="0"/>
          </a:p>
          <a:p>
            <a:pPr>
              <a:buNone/>
            </a:pPr>
            <a:r>
              <a:rPr lang="en-US" dirty="0" smtClean="0"/>
              <a:t>    </a:t>
            </a:r>
          </a:p>
          <a:p>
            <a:pPr>
              <a:buNone/>
            </a:pPr>
            <a:r>
              <a:rPr lang="en-US" dirty="0" smtClean="0"/>
              <a:t>                                                                         </a:t>
            </a:r>
          </a:p>
          <a:p>
            <a:r>
              <a:rPr lang="en-US" dirty="0" smtClean="0"/>
              <a:t>Distributive laws</a:t>
            </a:r>
            <a:r>
              <a:rPr lang="zh-CN" altLang="en-US" sz="2400" dirty="0" smtClean="0"/>
              <a:t>（分配律）</a:t>
            </a:r>
            <a:endParaRPr lang="en-US" sz="2400" dirty="0" smtClean="0"/>
          </a:p>
          <a:p>
            <a:pPr>
              <a:buNone/>
            </a:pPr>
            <a:endParaRPr lang="en-US" dirty="0" smtClean="0"/>
          </a:p>
          <a:p>
            <a:pPr>
              <a:buNone/>
            </a:pPr>
            <a:endParaRPr lang="en-US" dirty="0" smtClean="0"/>
          </a:p>
        </p:txBody>
      </p:sp>
      <p:pic>
        <p:nvPicPr>
          <p:cNvPr id="11" name="Content Placeholder 3" descr="addin_tmp.png"/>
          <p:cNvPicPr>
            <a:picLocks noChangeAspect="1"/>
          </p:cNvPicPr>
          <p:nvPr>
            <p:custDataLst>
              <p:tags r:id="rId1"/>
            </p:custDataLst>
          </p:nvPr>
        </p:nvPicPr>
        <p:blipFill>
          <a:blip r:embed="rId9" cstate="print"/>
          <a:stretch>
            <a:fillRect/>
          </a:stretch>
        </p:blipFill>
        <p:spPr>
          <a:xfrm>
            <a:off x="1828800" y="2590800"/>
            <a:ext cx="2511743" cy="274320"/>
          </a:xfrm>
          <a:prstGeom prst="rect">
            <a:avLst/>
          </a:prstGeom>
        </p:spPr>
      </p:pic>
      <p:pic>
        <p:nvPicPr>
          <p:cNvPr id="12" name="Picture 11" descr="addin_tmp.png"/>
          <p:cNvPicPr>
            <a:picLocks noChangeAspect="1"/>
          </p:cNvPicPr>
          <p:nvPr>
            <p:custDataLst>
              <p:tags r:id="rId2"/>
            </p:custDataLst>
          </p:nvPr>
        </p:nvPicPr>
        <p:blipFill>
          <a:blip r:embed="rId10" cstate="print"/>
          <a:stretch>
            <a:fillRect/>
          </a:stretch>
        </p:blipFill>
        <p:spPr>
          <a:xfrm>
            <a:off x="5181600" y="2590800"/>
            <a:ext cx="2511743" cy="274320"/>
          </a:xfrm>
          <a:prstGeom prst="rect">
            <a:avLst/>
          </a:prstGeom>
        </p:spPr>
      </p:pic>
      <p:pic>
        <p:nvPicPr>
          <p:cNvPr id="13" name="Picture 12" descr="addin_tmp.png"/>
          <p:cNvPicPr>
            <a:picLocks noChangeAspect="1"/>
          </p:cNvPicPr>
          <p:nvPr>
            <p:custDataLst>
              <p:tags r:id="rId3"/>
            </p:custDataLst>
          </p:nvPr>
        </p:nvPicPr>
        <p:blipFill>
          <a:blip r:embed="rId11" cstate="print"/>
          <a:stretch>
            <a:fillRect/>
          </a:stretch>
        </p:blipFill>
        <p:spPr>
          <a:xfrm>
            <a:off x="914400" y="3429000"/>
            <a:ext cx="4543425" cy="382905"/>
          </a:xfrm>
          <a:prstGeom prst="rect">
            <a:avLst/>
          </a:prstGeom>
        </p:spPr>
      </p:pic>
      <p:pic>
        <p:nvPicPr>
          <p:cNvPr id="14" name="Content Placeholder 3" descr="addin_tmp.png"/>
          <p:cNvPicPr>
            <a:picLocks noChangeAspect="1"/>
          </p:cNvPicPr>
          <p:nvPr>
            <p:custDataLst>
              <p:tags r:id="rId4"/>
            </p:custDataLst>
          </p:nvPr>
        </p:nvPicPr>
        <p:blipFill>
          <a:blip r:embed="rId12" cstate="print"/>
          <a:stretch>
            <a:fillRect/>
          </a:stretch>
        </p:blipFill>
        <p:spPr>
          <a:xfrm>
            <a:off x="914400" y="3886200"/>
            <a:ext cx="4543425" cy="382905"/>
          </a:xfrm>
          <a:prstGeom prst="rect">
            <a:avLst/>
          </a:prstGeom>
        </p:spPr>
      </p:pic>
      <p:pic>
        <p:nvPicPr>
          <p:cNvPr id="15" name="Content Placeholder 3" descr="addin_tmp.png"/>
          <p:cNvPicPr>
            <a:picLocks noChangeAspect="1"/>
          </p:cNvPicPr>
          <p:nvPr>
            <p:custDataLst>
              <p:tags r:id="rId5"/>
            </p:custDataLst>
          </p:nvPr>
        </p:nvPicPr>
        <p:blipFill>
          <a:blip r:embed="rId13" cstate="print"/>
          <a:stretch>
            <a:fillRect/>
          </a:stretch>
        </p:blipFill>
        <p:spPr>
          <a:xfrm>
            <a:off x="838200" y="4953000"/>
            <a:ext cx="5520690" cy="382905"/>
          </a:xfrm>
          <a:prstGeom prst="rect">
            <a:avLst/>
          </a:prstGeom>
        </p:spPr>
      </p:pic>
      <p:pic>
        <p:nvPicPr>
          <p:cNvPr id="16" name="Picture 15" descr="addin_tmp.png"/>
          <p:cNvPicPr>
            <a:picLocks noChangeAspect="1"/>
          </p:cNvPicPr>
          <p:nvPr>
            <p:custDataLst>
              <p:tags r:id="rId6"/>
            </p:custDataLst>
          </p:nvPr>
        </p:nvPicPr>
        <p:blipFill>
          <a:blip r:embed="rId14" cstate="print"/>
          <a:stretch>
            <a:fillRect/>
          </a:stretch>
        </p:blipFill>
        <p:spPr>
          <a:xfrm>
            <a:off x="914400" y="5562600"/>
            <a:ext cx="5520690" cy="382905"/>
          </a:xfrm>
          <a:prstGeom prst="rect">
            <a:avLst/>
          </a:prstGeom>
        </p:spPr>
      </p:pic>
      <p:sp>
        <p:nvSpPr>
          <p:cNvPr id="10" name="TextBox 9"/>
          <p:cNvSpPr txBox="1"/>
          <p:nvPr/>
        </p:nvSpPr>
        <p:spPr>
          <a:xfrm>
            <a:off x="4648200" y="61722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extLst>
      <p:ext uri="{BB962C8B-B14F-4D97-AF65-F5344CB8AC3E}">
        <p14:creationId xmlns:p14="http://schemas.microsoft.com/office/powerpoint/2010/main" val="425704251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Identities</a:t>
            </a:r>
            <a:endParaRPr lang="en-US" dirty="0"/>
          </a:p>
        </p:txBody>
      </p:sp>
      <p:sp>
        <p:nvSpPr>
          <p:cNvPr id="3" name="Content Placeholder 2"/>
          <p:cNvSpPr>
            <a:spLocks noGrp="1"/>
          </p:cNvSpPr>
          <p:nvPr>
            <p:ph idx="1"/>
          </p:nvPr>
        </p:nvSpPr>
        <p:spPr/>
        <p:txBody>
          <a:bodyPr/>
          <a:lstStyle/>
          <a:p>
            <a:r>
              <a:rPr lang="en-US" dirty="0" smtClean="0"/>
              <a:t>De Morgan’s laws</a:t>
            </a:r>
            <a:r>
              <a:rPr lang="zh-CN" altLang="en-US" sz="2400" dirty="0" smtClean="0"/>
              <a:t>（德摩根律）</a:t>
            </a:r>
            <a:endParaRPr lang="en-US" sz="2400" dirty="0" smtClean="0"/>
          </a:p>
          <a:p>
            <a:endParaRPr lang="en-US" dirty="0" smtClean="0"/>
          </a:p>
          <a:p>
            <a:pPr>
              <a:buNone/>
            </a:pPr>
            <a:r>
              <a:rPr lang="en-US" dirty="0" smtClean="0"/>
              <a:t>                                 </a:t>
            </a:r>
          </a:p>
          <a:p>
            <a:r>
              <a:rPr lang="en-US" dirty="0" smtClean="0"/>
              <a:t>Absorption laws</a:t>
            </a:r>
            <a:r>
              <a:rPr lang="zh-CN" altLang="en-US" sz="2400" dirty="0" smtClean="0"/>
              <a:t>（吸收律）</a:t>
            </a:r>
            <a:endParaRPr lang="en-US" sz="2400" dirty="0" smtClean="0"/>
          </a:p>
          <a:p>
            <a:pPr>
              <a:buNone/>
            </a:pPr>
            <a:r>
              <a:rPr lang="en-US" dirty="0" smtClean="0"/>
              <a:t>    </a:t>
            </a:r>
          </a:p>
          <a:p>
            <a:pPr>
              <a:buNone/>
            </a:pPr>
            <a:r>
              <a:rPr lang="en-US" dirty="0" smtClean="0"/>
              <a:t>                                                                         </a:t>
            </a:r>
          </a:p>
          <a:p>
            <a:r>
              <a:rPr lang="en-US" dirty="0" smtClean="0"/>
              <a:t>Complement laws</a:t>
            </a:r>
            <a:r>
              <a:rPr lang="zh-CN" altLang="en-US" sz="2400" dirty="0" smtClean="0"/>
              <a:t>（互补律）</a:t>
            </a:r>
            <a:endParaRPr lang="en-US" sz="2400" dirty="0" smtClean="0"/>
          </a:p>
          <a:p>
            <a:pPr>
              <a:buNone/>
            </a:pPr>
            <a:endParaRPr lang="en-US" dirty="0" smtClean="0"/>
          </a:p>
          <a:p>
            <a:pPr>
              <a:buNone/>
            </a:pPr>
            <a:endParaRPr lang="en-US" dirty="0" smtClean="0"/>
          </a:p>
        </p:txBody>
      </p:sp>
      <p:pic>
        <p:nvPicPr>
          <p:cNvPr id="10" name="Content Placeholder 3" descr="addin_tmp.png"/>
          <p:cNvPicPr>
            <a:picLocks noChangeAspect="1"/>
          </p:cNvPicPr>
          <p:nvPr>
            <p:custDataLst>
              <p:tags r:id="rId1"/>
            </p:custDataLst>
          </p:nvPr>
        </p:nvPicPr>
        <p:blipFill>
          <a:blip r:embed="rId9" cstate="print"/>
          <a:stretch>
            <a:fillRect/>
          </a:stretch>
        </p:blipFill>
        <p:spPr>
          <a:xfrm>
            <a:off x="1295400" y="2514600"/>
            <a:ext cx="2534603" cy="328613"/>
          </a:xfrm>
          <a:prstGeom prst="rect">
            <a:avLst/>
          </a:prstGeom>
        </p:spPr>
      </p:pic>
      <p:pic>
        <p:nvPicPr>
          <p:cNvPr id="17" name="Picture 16" descr="addin_tmp.png"/>
          <p:cNvPicPr>
            <a:picLocks noChangeAspect="1"/>
          </p:cNvPicPr>
          <p:nvPr>
            <p:custDataLst>
              <p:tags r:id="rId2"/>
            </p:custDataLst>
          </p:nvPr>
        </p:nvPicPr>
        <p:blipFill>
          <a:blip r:embed="rId10" cstate="print"/>
          <a:stretch>
            <a:fillRect/>
          </a:stretch>
        </p:blipFill>
        <p:spPr>
          <a:xfrm>
            <a:off x="4572000" y="2514600"/>
            <a:ext cx="2534603" cy="328613"/>
          </a:xfrm>
          <a:prstGeom prst="rect">
            <a:avLst/>
          </a:prstGeom>
        </p:spPr>
      </p:pic>
      <p:pic>
        <p:nvPicPr>
          <p:cNvPr id="18" name="Content Placeholder 3" descr="addin_tmp.png"/>
          <p:cNvPicPr>
            <a:picLocks noChangeAspect="1"/>
          </p:cNvPicPr>
          <p:nvPr>
            <p:custDataLst>
              <p:tags r:id="rId3"/>
            </p:custDataLst>
          </p:nvPr>
        </p:nvPicPr>
        <p:blipFill>
          <a:blip r:embed="rId11" cstate="print"/>
          <a:stretch>
            <a:fillRect/>
          </a:stretch>
        </p:blipFill>
        <p:spPr>
          <a:xfrm>
            <a:off x="990600" y="4038600"/>
            <a:ext cx="2786063" cy="382905"/>
          </a:xfrm>
          <a:prstGeom prst="rect">
            <a:avLst/>
          </a:prstGeom>
        </p:spPr>
      </p:pic>
      <p:pic>
        <p:nvPicPr>
          <p:cNvPr id="19" name="Picture 18" descr="addin_tmp.png"/>
          <p:cNvPicPr>
            <a:picLocks noChangeAspect="1"/>
          </p:cNvPicPr>
          <p:nvPr>
            <p:custDataLst>
              <p:tags r:id="rId4"/>
            </p:custDataLst>
          </p:nvPr>
        </p:nvPicPr>
        <p:blipFill>
          <a:blip r:embed="rId12" cstate="print"/>
          <a:stretch>
            <a:fillRect/>
          </a:stretch>
        </p:blipFill>
        <p:spPr>
          <a:xfrm>
            <a:off x="4267200" y="4038600"/>
            <a:ext cx="2786063" cy="382905"/>
          </a:xfrm>
          <a:prstGeom prst="rect">
            <a:avLst/>
          </a:prstGeom>
        </p:spPr>
      </p:pic>
      <p:pic>
        <p:nvPicPr>
          <p:cNvPr id="20" name="Picture 19" descr="addin_tmp.png"/>
          <p:cNvPicPr>
            <a:picLocks noChangeAspect="1"/>
          </p:cNvPicPr>
          <p:nvPr>
            <p:custDataLst>
              <p:tags r:id="rId5"/>
            </p:custDataLst>
          </p:nvPr>
        </p:nvPicPr>
        <p:blipFill>
          <a:blip r:embed="rId13" cstate="print"/>
          <a:stretch>
            <a:fillRect/>
          </a:stretch>
        </p:blipFill>
        <p:spPr>
          <a:xfrm>
            <a:off x="1295400" y="5562600"/>
            <a:ext cx="1774508" cy="328613"/>
          </a:xfrm>
          <a:prstGeom prst="rect">
            <a:avLst/>
          </a:prstGeom>
        </p:spPr>
      </p:pic>
      <p:pic>
        <p:nvPicPr>
          <p:cNvPr id="21" name="Picture 20" descr="addin_tmp.png"/>
          <p:cNvPicPr>
            <a:picLocks noChangeAspect="1"/>
          </p:cNvPicPr>
          <p:nvPr>
            <p:custDataLst>
              <p:tags r:id="rId6"/>
            </p:custDataLst>
          </p:nvPr>
        </p:nvPicPr>
        <p:blipFill>
          <a:blip r:embed="rId14" cstate="print"/>
          <a:stretch>
            <a:fillRect/>
          </a:stretch>
        </p:blipFill>
        <p:spPr>
          <a:xfrm>
            <a:off x="4495800" y="5562600"/>
            <a:ext cx="1657350" cy="351473"/>
          </a:xfrm>
          <a:prstGeom prst="rect">
            <a:avLst/>
          </a:prstGeom>
        </p:spPr>
      </p:pic>
    </p:spTree>
    <p:extLst>
      <p:ext uri="{BB962C8B-B14F-4D97-AF65-F5344CB8AC3E}">
        <p14:creationId xmlns:p14="http://schemas.microsoft.com/office/powerpoint/2010/main" val="24933956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Proving Set Identities</a:t>
            </a:r>
            <a:endParaRPr lang="en-US" dirty="0"/>
          </a:p>
        </p:txBody>
      </p:sp>
      <p:sp>
        <p:nvSpPr>
          <p:cNvPr id="3" name="Content Placeholder 2"/>
          <p:cNvSpPr>
            <a:spLocks noGrp="1"/>
          </p:cNvSpPr>
          <p:nvPr>
            <p:ph idx="1"/>
          </p:nvPr>
        </p:nvSpPr>
        <p:spPr/>
        <p:txBody>
          <a:bodyPr/>
          <a:lstStyle/>
          <a:p>
            <a:pPr marL="514350" indent="-514350"/>
            <a:r>
              <a:rPr lang="en-US" dirty="0" smtClean="0"/>
              <a:t>Different ways to prove set identities:</a:t>
            </a:r>
          </a:p>
          <a:p>
            <a:pPr marL="880110" lvl="1" indent="-514350">
              <a:buFont typeface="+mj-lt"/>
              <a:buAutoNum type="arabicPeriod"/>
            </a:pPr>
            <a:r>
              <a:rPr lang="en-US" dirty="0" smtClean="0"/>
              <a:t>Prove that each set (side of the identity) is a subset of the other.</a:t>
            </a:r>
          </a:p>
          <a:p>
            <a:pPr marL="880110" lvl="1" indent="-514350">
              <a:buFont typeface="+mj-lt"/>
              <a:buAutoNum type="arabicPeriod"/>
            </a:pPr>
            <a:r>
              <a:rPr lang="en-US" dirty="0" smtClean="0"/>
              <a:t>Use set builder notation and propositional logic.</a:t>
            </a:r>
          </a:p>
          <a:p>
            <a:pPr marL="880110" lvl="1" indent="-514350">
              <a:buFont typeface="+mj-lt"/>
              <a:buAutoNum type="arabicPeriod"/>
            </a:pPr>
            <a:r>
              <a:rPr lang="en-US" dirty="0" smtClean="0"/>
              <a:t>Membership Tables: Verify that elements in the same combination of sets always either belong or do not belong to the same side of the identity.  Use </a:t>
            </a:r>
            <a:r>
              <a:rPr lang="en-US" dirty="0" smtClean="0">
                <a:latin typeface="Cambria Math" pitchFamily="18" charset="0"/>
                <a:ea typeface="Cambria Math" pitchFamily="18" charset="0"/>
              </a:rPr>
              <a:t>1</a:t>
            </a:r>
            <a:r>
              <a:rPr lang="en-US" dirty="0" smtClean="0"/>
              <a:t> to indicate it is in the set and a </a:t>
            </a:r>
            <a:r>
              <a:rPr lang="en-US" dirty="0" smtClean="0">
                <a:latin typeface="Cambria Math" pitchFamily="18" charset="0"/>
                <a:ea typeface="Cambria Math" pitchFamily="18" charset="0"/>
              </a:rPr>
              <a:t>0</a:t>
            </a:r>
            <a:r>
              <a:rPr lang="en-US" dirty="0" smtClean="0"/>
              <a:t> to indicate that it is not.</a:t>
            </a:r>
          </a:p>
          <a:p>
            <a:pPr marL="514350" indent="-514350">
              <a:buFont typeface="+mj-lt"/>
              <a:buAutoNum type="arabicPeriod"/>
            </a:pPr>
            <a:endParaRPr lang="en-US" dirty="0" smtClean="0"/>
          </a:p>
          <a:p>
            <a:pPr marL="514350" indent="-514350">
              <a:buFont typeface="+mj-lt"/>
              <a:buAutoNum type="arabicPeriod"/>
            </a:pPr>
            <a:endParaRPr lang="en-US" dirty="0"/>
          </a:p>
        </p:txBody>
      </p:sp>
    </p:spTree>
    <p:extLst>
      <p:ext uri="{BB962C8B-B14F-4D97-AF65-F5344CB8AC3E}">
        <p14:creationId xmlns:p14="http://schemas.microsoft.com/office/powerpoint/2010/main" val="362668670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Proof of Second De Morgan Law</a:t>
            </a:r>
            <a:endParaRPr lang="en-US" dirty="0"/>
          </a:p>
        </p:txBody>
      </p:sp>
      <p:sp>
        <p:nvSpPr>
          <p:cNvPr id="3" name="Content Placeholder 2"/>
          <p:cNvSpPr>
            <a:spLocks noGrp="1"/>
          </p:cNvSpPr>
          <p:nvPr>
            <p:ph idx="1"/>
          </p:nvPr>
        </p:nvSpPr>
        <p:spPr/>
        <p:txBody>
          <a:bodyPr>
            <a:normAutofit/>
          </a:bodyPr>
          <a:lstStyle/>
          <a:p>
            <a:pPr>
              <a:buNone/>
            </a:pPr>
            <a:r>
              <a:rPr lang="en-US" b="1" dirty="0" smtClean="0"/>
              <a:t>Example</a:t>
            </a:r>
            <a:r>
              <a:rPr lang="en-US" dirty="0" smtClean="0"/>
              <a:t>: Prove that</a:t>
            </a:r>
          </a:p>
          <a:p>
            <a:pPr>
              <a:buNone/>
            </a:pPr>
            <a:r>
              <a:rPr lang="en-US" b="1" dirty="0" smtClean="0"/>
              <a:t>Solution</a:t>
            </a:r>
            <a:r>
              <a:rPr lang="en-US" dirty="0" smtClean="0"/>
              <a:t>:   We prove this identity by showing that:</a:t>
            </a:r>
          </a:p>
          <a:p>
            <a:pPr marL="514350" indent="-514350">
              <a:buNone/>
            </a:pPr>
            <a:r>
              <a:rPr lang="en-US" dirty="0" smtClean="0"/>
              <a:t>  </a:t>
            </a:r>
          </a:p>
          <a:p>
            <a:pPr marL="514350" indent="-514350">
              <a:buNone/>
            </a:pPr>
            <a:r>
              <a:rPr lang="en-US" dirty="0" smtClean="0"/>
              <a:t>        1)                                           and</a:t>
            </a:r>
          </a:p>
          <a:p>
            <a:pPr marL="514350" indent="-514350">
              <a:buNone/>
            </a:pPr>
            <a:endParaRPr lang="en-US" dirty="0" smtClean="0"/>
          </a:p>
          <a:p>
            <a:pPr marL="514350" indent="-514350">
              <a:buNone/>
            </a:pPr>
            <a:r>
              <a:rPr lang="en-US" dirty="0" smtClean="0"/>
              <a:t>     </a:t>
            </a:r>
          </a:p>
          <a:p>
            <a:pPr marL="514350" indent="-514350">
              <a:buNone/>
            </a:pPr>
            <a:r>
              <a:rPr lang="en-US" dirty="0" smtClean="0"/>
              <a:t>         2)</a:t>
            </a:r>
          </a:p>
          <a:p>
            <a:pPr>
              <a:buNone/>
            </a:pPr>
            <a:endParaRPr lang="en-US" dirty="0"/>
          </a:p>
        </p:txBody>
      </p:sp>
      <p:pic>
        <p:nvPicPr>
          <p:cNvPr id="9" name="Picture 8" descr="addin_tmp.png"/>
          <p:cNvPicPr>
            <a:picLocks noChangeAspect="1"/>
          </p:cNvPicPr>
          <p:nvPr>
            <p:custDataLst>
              <p:tags r:id="rId1"/>
            </p:custDataLst>
          </p:nvPr>
        </p:nvPicPr>
        <p:blipFill>
          <a:blip r:embed="rId5" cstate="print"/>
          <a:stretch>
            <a:fillRect/>
          </a:stretch>
        </p:blipFill>
        <p:spPr>
          <a:xfrm>
            <a:off x="3962400" y="2057400"/>
            <a:ext cx="2534603" cy="328613"/>
          </a:xfrm>
          <a:prstGeom prst="rect">
            <a:avLst/>
          </a:prstGeom>
        </p:spPr>
      </p:pic>
      <p:pic>
        <p:nvPicPr>
          <p:cNvPr id="8" name="Picture 7" descr="addin_tmp.png"/>
          <p:cNvPicPr>
            <a:picLocks noChangeAspect="1"/>
          </p:cNvPicPr>
          <p:nvPr>
            <p:custDataLst>
              <p:tags r:id="rId2"/>
            </p:custDataLst>
          </p:nvPr>
        </p:nvPicPr>
        <p:blipFill>
          <a:blip r:embed="rId6" cstate="print"/>
          <a:stretch>
            <a:fillRect/>
          </a:stretch>
        </p:blipFill>
        <p:spPr>
          <a:xfrm>
            <a:off x="1905000" y="4876800"/>
            <a:ext cx="2534603" cy="377190"/>
          </a:xfrm>
          <a:prstGeom prst="rect">
            <a:avLst/>
          </a:prstGeom>
        </p:spPr>
      </p:pic>
      <p:pic>
        <p:nvPicPr>
          <p:cNvPr id="10" name="Picture 9" descr="addin_tmp.png"/>
          <p:cNvPicPr>
            <a:picLocks noChangeAspect="1"/>
          </p:cNvPicPr>
          <p:nvPr>
            <p:custDataLst>
              <p:tags r:id="rId3"/>
            </p:custDataLst>
          </p:nvPr>
        </p:nvPicPr>
        <p:blipFill>
          <a:blip r:embed="rId7" cstate="print"/>
          <a:stretch>
            <a:fillRect/>
          </a:stretch>
        </p:blipFill>
        <p:spPr>
          <a:xfrm>
            <a:off x="1828800" y="3429000"/>
            <a:ext cx="2534603" cy="377190"/>
          </a:xfrm>
          <a:prstGeom prst="rect">
            <a:avLst/>
          </a:prstGeom>
        </p:spPr>
      </p:pic>
      <p:sp>
        <p:nvSpPr>
          <p:cNvPr id="7" name="TextBox 6"/>
          <p:cNvSpPr txBox="1"/>
          <p:nvPr/>
        </p:nvSpPr>
        <p:spPr>
          <a:xfrm>
            <a:off x="2514600" y="61722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extLst>
      <p:ext uri="{BB962C8B-B14F-4D97-AF65-F5344CB8AC3E}">
        <p14:creationId xmlns:p14="http://schemas.microsoft.com/office/powerpoint/2010/main" val="423754316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Proof of Second De Morgan Law </a:t>
            </a:r>
            <a:endParaRPr lang="en-US" dirty="0"/>
          </a:p>
        </p:txBody>
      </p:sp>
      <p:sp>
        <p:nvSpPr>
          <p:cNvPr id="3" name="Content Placeholder 2"/>
          <p:cNvSpPr>
            <a:spLocks noGrp="1"/>
          </p:cNvSpPr>
          <p:nvPr>
            <p:ph idx="1"/>
          </p:nvPr>
        </p:nvSpPr>
        <p:spPr/>
        <p:txBody>
          <a:bodyPr/>
          <a:lstStyle/>
          <a:p>
            <a:pPr>
              <a:buNone/>
            </a:pPr>
            <a:r>
              <a:rPr lang="en-US" dirty="0" smtClean="0"/>
              <a:t>    These steps show that:                                       </a:t>
            </a:r>
          </a:p>
          <a:p>
            <a:pPr>
              <a:buNone/>
            </a:pPr>
            <a:endParaRPr lang="en-US" dirty="0"/>
          </a:p>
        </p:txBody>
      </p:sp>
      <p:pic>
        <p:nvPicPr>
          <p:cNvPr id="9" name="Picture 8" descr="addin_tmp.png"/>
          <p:cNvPicPr>
            <a:picLocks noChangeAspect="1"/>
          </p:cNvPicPr>
          <p:nvPr>
            <p:custDataLst>
              <p:tags r:id="rId1"/>
            </p:custDataLst>
          </p:nvPr>
        </p:nvPicPr>
        <p:blipFill>
          <a:blip r:embed="rId4" cstate="print"/>
          <a:stretch>
            <a:fillRect/>
          </a:stretch>
        </p:blipFill>
        <p:spPr>
          <a:xfrm>
            <a:off x="4343400" y="2057400"/>
            <a:ext cx="2534603" cy="377190"/>
          </a:xfrm>
          <a:prstGeom prst="rect">
            <a:avLst/>
          </a:prstGeom>
        </p:spPr>
      </p:pic>
      <p:pic>
        <p:nvPicPr>
          <p:cNvPr id="7" name="Picture 6" descr="addin_tmp.png"/>
          <p:cNvPicPr>
            <a:picLocks noChangeAspect="1"/>
          </p:cNvPicPr>
          <p:nvPr>
            <p:custDataLst>
              <p:tags r:id="rId2"/>
            </p:custDataLst>
          </p:nvPr>
        </p:nvPicPr>
        <p:blipFill>
          <a:blip r:embed="rId5" cstate="print"/>
          <a:stretch>
            <a:fillRect/>
          </a:stretch>
        </p:blipFill>
        <p:spPr>
          <a:xfrm>
            <a:off x="1752600" y="2590801"/>
            <a:ext cx="6518910" cy="2070735"/>
          </a:xfrm>
          <a:prstGeom prst="rect">
            <a:avLst/>
          </a:prstGeom>
        </p:spPr>
      </p:pic>
      <p:sp>
        <p:nvSpPr>
          <p:cNvPr id="6" name="TextBox 5"/>
          <p:cNvSpPr txBox="1"/>
          <p:nvPr/>
        </p:nvSpPr>
        <p:spPr>
          <a:xfrm>
            <a:off x="2514600" y="6172200"/>
            <a:ext cx="3276600" cy="369332"/>
          </a:xfrm>
          <a:prstGeom prst="rect">
            <a:avLst/>
          </a:prstGeom>
          <a:noFill/>
        </p:spPr>
        <p:txBody>
          <a:bodyPr wrap="square" rtlCol="0">
            <a:spAutoFit/>
          </a:bodyPr>
          <a:lstStyle/>
          <a:p>
            <a:r>
              <a:rPr lang="en-US" i="1" dirty="0" smtClean="0"/>
              <a:t>Continued on next slide</a:t>
            </a:r>
            <a:r>
              <a:rPr lang="en-US" dirty="0" smtClean="0"/>
              <a:t> </a:t>
            </a:r>
            <a:r>
              <a:rPr lang="en-US" dirty="0" smtClean="0">
                <a:sym typeface="Wingdings" pitchFamily="2" charset="2"/>
              </a:rPr>
              <a:t></a:t>
            </a:r>
            <a:endParaRPr lang="en-US" dirty="0"/>
          </a:p>
        </p:txBody>
      </p:sp>
    </p:spTree>
    <p:extLst>
      <p:ext uri="{BB962C8B-B14F-4D97-AF65-F5344CB8AC3E}">
        <p14:creationId xmlns:p14="http://schemas.microsoft.com/office/powerpoint/2010/main" val="55586188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Proof of Second De Morgan Law </a:t>
            </a:r>
            <a:endParaRPr lang="en-US" dirty="0"/>
          </a:p>
        </p:txBody>
      </p:sp>
      <p:sp>
        <p:nvSpPr>
          <p:cNvPr id="3" name="Content Placeholder 2"/>
          <p:cNvSpPr>
            <a:spLocks noGrp="1"/>
          </p:cNvSpPr>
          <p:nvPr>
            <p:ph idx="1"/>
          </p:nvPr>
        </p:nvSpPr>
        <p:spPr/>
        <p:txBody>
          <a:bodyPr/>
          <a:lstStyle/>
          <a:p>
            <a:pPr>
              <a:buNone/>
            </a:pPr>
            <a:r>
              <a:rPr lang="en-US" dirty="0" smtClean="0"/>
              <a:t>   These steps show that:                                       </a:t>
            </a:r>
          </a:p>
          <a:p>
            <a:pPr>
              <a:buNone/>
            </a:pPr>
            <a:endParaRPr lang="en-US" dirty="0"/>
          </a:p>
        </p:txBody>
      </p:sp>
      <p:pic>
        <p:nvPicPr>
          <p:cNvPr id="12" name="Picture 11" descr="addin_tmp.png"/>
          <p:cNvPicPr>
            <a:picLocks noChangeAspect="1"/>
          </p:cNvPicPr>
          <p:nvPr>
            <p:custDataLst>
              <p:tags r:id="rId1"/>
            </p:custDataLst>
          </p:nvPr>
        </p:nvPicPr>
        <p:blipFill>
          <a:blip r:embed="rId4" cstate="print"/>
          <a:stretch>
            <a:fillRect/>
          </a:stretch>
        </p:blipFill>
        <p:spPr>
          <a:xfrm>
            <a:off x="1752600" y="2590800"/>
            <a:ext cx="6869430" cy="2108835"/>
          </a:xfrm>
          <a:prstGeom prst="rect">
            <a:avLst/>
          </a:prstGeom>
        </p:spPr>
      </p:pic>
      <p:pic>
        <p:nvPicPr>
          <p:cNvPr id="6" name="Picture 5" descr="addin_tmp.png"/>
          <p:cNvPicPr>
            <a:picLocks noChangeAspect="1"/>
          </p:cNvPicPr>
          <p:nvPr>
            <p:custDataLst>
              <p:tags r:id="rId2"/>
            </p:custDataLst>
          </p:nvPr>
        </p:nvPicPr>
        <p:blipFill>
          <a:blip r:embed="rId5" cstate="print"/>
          <a:stretch>
            <a:fillRect/>
          </a:stretch>
        </p:blipFill>
        <p:spPr>
          <a:xfrm>
            <a:off x="4572000" y="2057400"/>
            <a:ext cx="2534603" cy="377190"/>
          </a:xfrm>
          <a:prstGeom prst="rect">
            <a:avLst/>
          </a:prstGeom>
        </p:spPr>
      </p:pic>
      <p:sp>
        <p:nvSpPr>
          <p:cNvPr id="9" name="Isosceles Triangle 8"/>
          <p:cNvSpPr/>
          <p:nvPr/>
        </p:nvSpPr>
        <p:spPr>
          <a:xfrm rot="5400000" flipV="1">
            <a:off x="8305800" y="5562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932599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Set-Builder Notation: Second De Morgan Law</a:t>
            </a:r>
            <a:endParaRPr lang="en-US" dirty="0"/>
          </a:p>
        </p:txBody>
      </p:sp>
      <p:pic>
        <p:nvPicPr>
          <p:cNvPr id="7" name="Content Placeholder 6" descr="addin_tmp.png"/>
          <p:cNvPicPr>
            <a:picLocks noGrp="1" noChangeAspect="1"/>
          </p:cNvPicPr>
          <p:nvPr>
            <p:ph idx="1"/>
            <p:custDataLst>
              <p:tags r:id="rId1"/>
            </p:custDataLst>
          </p:nvPr>
        </p:nvPicPr>
        <p:blipFill>
          <a:blip r:embed="rId3" cstate="print"/>
          <a:stretch>
            <a:fillRect/>
          </a:stretch>
        </p:blipFill>
        <p:spPr>
          <a:xfrm>
            <a:off x="304800" y="1981200"/>
            <a:ext cx="8465820" cy="2731770"/>
          </a:xfrm>
        </p:spPr>
      </p:pic>
      <p:sp>
        <p:nvSpPr>
          <p:cNvPr id="4" name="Isosceles Triangle 3"/>
          <p:cNvSpPr/>
          <p:nvPr/>
        </p:nvSpPr>
        <p:spPr>
          <a:xfrm rot="5400000" flipV="1">
            <a:off x="8305800" y="5562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785433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143000"/>
          </a:xfrm>
        </p:spPr>
        <p:txBody>
          <a:bodyPr>
            <a:normAutofit/>
          </a:bodyPr>
          <a:lstStyle/>
          <a:p>
            <a:r>
              <a:rPr lang="en-US" dirty="0" smtClean="0"/>
              <a:t>Membership Table</a:t>
            </a:r>
            <a:endParaRPr lang="en-US" dirty="0"/>
          </a:p>
        </p:txBody>
      </p:sp>
      <p:graphicFrame>
        <p:nvGraphicFramePr>
          <p:cNvPr id="4" name="Content Placeholder 3"/>
          <p:cNvGraphicFramePr>
            <a:graphicFrameLocks noGrp="1"/>
          </p:cNvGraphicFramePr>
          <p:nvPr>
            <p:ph idx="1"/>
          </p:nvPr>
        </p:nvGraphicFramePr>
        <p:xfrm>
          <a:off x="533400" y="3200400"/>
          <a:ext cx="8229600" cy="333248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2971800">
                  <a:extLst>
                    <a:ext uri="{9D8B030D-6E8A-4147-A177-3AD203B41FA5}">
                      <a16:colId xmlns:a16="http://schemas.microsoft.com/office/drawing/2014/main" val="20007"/>
                    </a:ext>
                  </a:extLst>
                </a:gridCol>
              </a:tblGrid>
              <a:tr h="142240">
                <a:tc>
                  <a:txBody>
                    <a:bodyPr/>
                    <a:lstStyle/>
                    <a:p>
                      <a:r>
                        <a:rPr lang="en-US" dirty="0" smtClean="0">
                          <a:solidFill>
                            <a:schemeClr val="tx1"/>
                          </a:solidFill>
                        </a:rPr>
                        <a:t>A</a:t>
                      </a:r>
                      <a:endParaRPr lang="en-US" dirty="0">
                        <a:solidFill>
                          <a:schemeClr val="tx1"/>
                        </a:solidFill>
                      </a:endParaRPr>
                    </a:p>
                  </a:txBody>
                  <a:tcPr/>
                </a:tc>
                <a:tc>
                  <a:txBody>
                    <a:bodyPr/>
                    <a:lstStyle/>
                    <a:p>
                      <a:r>
                        <a:rPr lang="en-US" dirty="0" smtClean="0">
                          <a:solidFill>
                            <a:schemeClr val="tx1"/>
                          </a:solidFill>
                        </a:rPr>
                        <a:t>B</a:t>
                      </a:r>
                      <a:endParaRPr lang="en-US" dirty="0">
                        <a:solidFill>
                          <a:schemeClr val="tx1"/>
                        </a:solidFill>
                      </a:endParaRPr>
                    </a:p>
                  </a:txBody>
                  <a:tcPr/>
                </a:tc>
                <a:tc>
                  <a:txBody>
                    <a:bodyPr/>
                    <a:lstStyle/>
                    <a:p>
                      <a:r>
                        <a:rPr lang="en-US" dirty="0" smtClean="0">
                          <a:solidFill>
                            <a:schemeClr val="tx1"/>
                          </a:solidFill>
                        </a:rPr>
                        <a:t>C</a:t>
                      </a:r>
                      <a:endParaRPr lang="en-US" dirty="0">
                        <a:solidFill>
                          <a:schemeClr val="tx1"/>
                        </a:solidFill>
                      </a:endParaRPr>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1"/>
                  </a:ext>
                </a:extLst>
              </a:tr>
              <a:tr h="370840">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2"/>
                  </a:ext>
                </a:extLst>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3"/>
                  </a:ext>
                </a:extLst>
              </a:tr>
              <a:tr h="370840">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4"/>
                  </a:ext>
                </a:extLst>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tc>
                  <a:txBody>
                    <a:bodyPr/>
                    <a:lstStyle/>
                    <a:p>
                      <a:r>
                        <a:rPr lang="en-US" dirty="0" smtClean="0"/>
                        <a:t>1</a:t>
                      </a:r>
                      <a:endParaRPr lang="en-US" dirty="0"/>
                    </a:p>
                  </a:txBody>
                  <a:tcPr/>
                </a:tc>
                <a:extLst>
                  <a:ext uri="{0D108BD9-81ED-4DB2-BD59-A6C34878D82A}">
                    <a16:rowId xmlns:a16="http://schemas.microsoft.com/office/drawing/2014/main" val="10005"/>
                  </a:ext>
                </a:extLst>
              </a:tr>
              <a:tr h="370840">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6"/>
                  </a:ext>
                </a:extLst>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7"/>
                  </a:ext>
                </a:extLst>
              </a:tr>
              <a:tr h="370840">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tc>
                  <a:txBody>
                    <a:bodyPr/>
                    <a:lstStyle/>
                    <a:p>
                      <a:r>
                        <a:rPr lang="en-US" dirty="0" smtClean="0"/>
                        <a:t>0</a:t>
                      </a:r>
                      <a:endParaRPr lang="en-US" dirty="0"/>
                    </a:p>
                  </a:txBody>
                  <a:tcPr/>
                </a:tc>
                <a:extLst>
                  <a:ext uri="{0D108BD9-81ED-4DB2-BD59-A6C34878D82A}">
                    <a16:rowId xmlns:a16="http://schemas.microsoft.com/office/drawing/2014/main" val="10008"/>
                  </a:ext>
                </a:extLst>
              </a:tr>
            </a:tbl>
          </a:graphicData>
        </a:graphic>
      </p:graphicFrame>
      <p:pic>
        <p:nvPicPr>
          <p:cNvPr id="6" name="Picture 5" descr="addin_tmp.png"/>
          <p:cNvPicPr>
            <a:picLocks noChangeAspect="1"/>
          </p:cNvPicPr>
          <p:nvPr>
            <p:custDataLst>
              <p:tags r:id="rId1"/>
            </p:custDataLst>
          </p:nvPr>
        </p:nvPicPr>
        <p:blipFill>
          <a:blip r:embed="rId8" cstate="print"/>
          <a:stretch>
            <a:fillRect/>
          </a:stretch>
        </p:blipFill>
        <p:spPr>
          <a:xfrm>
            <a:off x="1676400" y="3276600"/>
            <a:ext cx="668655" cy="180975"/>
          </a:xfrm>
          <a:prstGeom prst="rect">
            <a:avLst/>
          </a:prstGeom>
        </p:spPr>
      </p:pic>
      <p:pic>
        <p:nvPicPr>
          <p:cNvPr id="7" name="Picture 6" descr="addin_tmp.png"/>
          <p:cNvPicPr>
            <a:picLocks noChangeAspect="1"/>
          </p:cNvPicPr>
          <p:nvPr>
            <p:custDataLst>
              <p:tags r:id="rId2"/>
            </p:custDataLst>
          </p:nvPr>
        </p:nvPicPr>
        <p:blipFill>
          <a:blip r:embed="rId9" cstate="print"/>
          <a:stretch>
            <a:fillRect/>
          </a:stretch>
        </p:blipFill>
        <p:spPr>
          <a:xfrm>
            <a:off x="2590800" y="3276600"/>
            <a:ext cx="1322070" cy="255270"/>
          </a:xfrm>
          <a:prstGeom prst="rect">
            <a:avLst/>
          </a:prstGeom>
        </p:spPr>
      </p:pic>
      <p:pic>
        <p:nvPicPr>
          <p:cNvPr id="8" name="Picture 7" descr="addin_tmp.png"/>
          <p:cNvPicPr>
            <a:picLocks noChangeAspect="1"/>
          </p:cNvPicPr>
          <p:nvPr>
            <p:custDataLst>
              <p:tags r:id="rId3"/>
            </p:custDataLst>
          </p:nvPr>
        </p:nvPicPr>
        <p:blipFill>
          <a:blip r:embed="rId10" cstate="print"/>
          <a:stretch>
            <a:fillRect/>
          </a:stretch>
        </p:blipFill>
        <p:spPr>
          <a:xfrm>
            <a:off x="4114800" y="3276600"/>
            <a:ext cx="655320" cy="182880"/>
          </a:xfrm>
          <a:prstGeom prst="rect">
            <a:avLst/>
          </a:prstGeom>
        </p:spPr>
      </p:pic>
      <p:pic>
        <p:nvPicPr>
          <p:cNvPr id="9" name="Picture 8" descr="addin_tmp.png"/>
          <p:cNvPicPr>
            <a:picLocks noChangeAspect="1"/>
          </p:cNvPicPr>
          <p:nvPr>
            <p:custDataLst>
              <p:tags r:id="rId4"/>
            </p:custDataLst>
          </p:nvPr>
        </p:nvPicPr>
        <p:blipFill>
          <a:blip r:embed="rId11" cstate="print"/>
          <a:stretch>
            <a:fillRect/>
          </a:stretch>
        </p:blipFill>
        <p:spPr>
          <a:xfrm>
            <a:off x="4953000" y="3276600"/>
            <a:ext cx="655320" cy="182880"/>
          </a:xfrm>
          <a:prstGeom prst="rect">
            <a:avLst/>
          </a:prstGeom>
        </p:spPr>
      </p:pic>
      <p:pic>
        <p:nvPicPr>
          <p:cNvPr id="10" name="Picture 9" descr="addin_tmp.png"/>
          <p:cNvPicPr>
            <a:picLocks noChangeAspect="1"/>
          </p:cNvPicPr>
          <p:nvPr>
            <p:custDataLst>
              <p:tags r:id="rId5"/>
            </p:custDataLst>
          </p:nvPr>
        </p:nvPicPr>
        <p:blipFill>
          <a:blip r:embed="rId12" cstate="print"/>
          <a:stretch>
            <a:fillRect/>
          </a:stretch>
        </p:blipFill>
        <p:spPr>
          <a:xfrm>
            <a:off x="5943600" y="3276600"/>
            <a:ext cx="1971675" cy="255270"/>
          </a:xfrm>
          <a:prstGeom prst="rect">
            <a:avLst/>
          </a:prstGeom>
        </p:spPr>
      </p:pic>
      <p:pic>
        <p:nvPicPr>
          <p:cNvPr id="11" name="Picture 10" descr="addin_tmp.png"/>
          <p:cNvPicPr>
            <a:picLocks noChangeAspect="1"/>
          </p:cNvPicPr>
          <p:nvPr>
            <p:custDataLst>
              <p:tags r:id="rId6"/>
            </p:custDataLst>
          </p:nvPr>
        </p:nvPicPr>
        <p:blipFill>
          <a:blip r:embed="rId13" cstate="print"/>
          <a:stretch>
            <a:fillRect/>
          </a:stretch>
        </p:blipFill>
        <p:spPr>
          <a:xfrm>
            <a:off x="1981200" y="2362200"/>
            <a:ext cx="5520690" cy="382905"/>
          </a:xfrm>
          <a:prstGeom prst="rect">
            <a:avLst/>
          </a:prstGeom>
        </p:spPr>
      </p:pic>
      <p:sp>
        <p:nvSpPr>
          <p:cNvPr id="12" name="TextBox 11"/>
          <p:cNvSpPr txBox="1"/>
          <p:nvPr/>
        </p:nvSpPr>
        <p:spPr>
          <a:xfrm>
            <a:off x="457200" y="1752600"/>
            <a:ext cx="1219200" cy="369332"/>
          </a:xfrm>
          <a:prstGeom prst="rect">
            <a:avLst/>
          </a:prstGeom>
          <a:noFill/>
        </p:spPr>
        <p:txBody>
          <a:bodyPr wrap="square" rtlCol="0">
            <a:spAutoFit/>
          </a:bodyPr>
          <a:lstStyle/>
          <a:p>
            <a:r>
              <a:rPr lang="en-US" b="1" dirty="0" smtClean="0"/>
              <a:t>Example</a:t>
            </a:r>
            <a:r>
              <a:rPr lang="en-US" dirty="0" smtClean="0"/>
              <a:t>:</a:t>
            </a:r>
            <a:endParaRPr lang="en-US" dirty="0"/>
          </a:p>
        </p:txBody>
      </p:sp>
      <p:sp>
        <p:nvSpPr>
          <p:cNvPr id="13" name="TextBox 12"/>
          <p:cNvSpPr txBox="1"/>
          <p:nvPr/>
        </p:nvSpPr>
        <p:spPr>
          <a:xfrm>
            <a:off x="457200" y="2743200"/>
            <a:ext cx="1219200" cy="369332"/>
          </a:xfrm>
          <a:prstGeom prst="rect">
            <a:avLst/>
          </a:prstGeom>
          <a:noFill/>
        </p:spPr>
        <p:txBody>
          <a:bodyPr wrap="square" rtlCol="0">
            <a:spAutoFit/>
          </a:bodyPr>
          <a:lstStyle/>
          <a:p>
            <a:r>
              <a:rPr lang="en-US" b="1" dirty="0" smtClean="0"/>
              <a:t>Solution</a:t>
            </a:r>
            <a:r>
              <a:rPr lang="en-US" dirty="0" smtClean="0"/>
              <a:t>:</a:t>
            </a:r>
            <a:endParaRPr lang="en-US" dirty="0"/>
          </a:p>
        </p:txBody>
      </p:sp>
      <p:sp>
        <p:nvSpPr>
          <p:cNvPr id="14" name="TextBox 13"/>
          <p:cNvSpPr txBox="1"/>
          <p:nvPr/>
        </p:nvSpPr>
        <p:spPr>
          <a:xfrm>
            <a:off x="1676400" y="1752600"/>
            <a:ext cx="6705600" cy="646331"/>
          </a:xfrm>
          <a:prstGeom prst="rect">
            <a:avLst/>
          </a:prstGeom>
          <a:noFill/>
        </p:spPr>
        <p:txBody>
          <a:bodyPr wrap="square" rtlCol="0">
            <a:spAutoFit/>
          </a:bodyPr>
          <a:lstStyle/>
          <a:p>
            <a:r>
              <a:rPr lang="en-US" dirty="0" smtClean="0"/>
              <a:t>Construct a membership table to show that the distributive law holds.</a:t>
            </a:r>
            <a:endParaRPr lang="en-US" dirty="0"/>
          </a:p>
        </p:txBody>
      </p:sp>
    </p:spTree>
    <p:extLst>
      <p:ext uri="{BB962C8B-B14F-4D97-AF65-F5344CB8AC3E}">
        <p14:creationId xmlns:p14="http://schemas.microsoft.com/office/powerpoint/2010/main" val="240684898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610600" cy="1143000"/>
          </a:xfrm>
        </p:spPr>
        <p:txBody>
          <a:bodyPr>
            <a:noAutofit/>
          </a:bodyPr>
          <a:lstStyle/>
          <a:p>
            <a:r>
              <a:rPr lang="en-US" sz="4400" dirty="0" smtClean="0"/>
              <a:t>Generalized Unions and Intersections</a:t>
            </a:r>
            <a:endParaRPr lang="en-US" sz="4400" dirty="0"/>
          </a:p>
        </p:txBody>
      </p:sp>
      <p:sp>
        <p:nvSpPr>
          <p:cNvPr id="3" name="Content Placeholder 2"/>
          <p:cNvSpPr>
            <a:spLocks noGrp="1"/>
          </p:cNvSpPr>
          <p:nvPr>
            <p:ph idx="1"/>
          </p:nvPr>
        </p:nvSpPr>
        <p:spPr/>
        <p:txBody>
          <a:bodyPr>
            <a:normAutofit lnSpcReduction="10000"/>
          </a:bodyPr>
          <a:lstStyle/>
          <a:p>
            <a:r>
              <a:rPr lang="en-US" dirty="0" smtClean="0"/>
              <a:t>Let </a:t>
            </a:r>
            <a:r>
              <a:rPr lang="en-US" i="1" dirty="0" smtClean="0"/>
              <a:t>A</a:t>
            </a:r>
            <a:r>
              <a:rPr lang="en-US" baseline="-25000" dirty="0" smtClean="0"/>
              <a:t>1</a:t>
            </a:r>
            <a:r>
              <a:rPr lang="en-US" dirty="0" smtClean="0"/>
              <a:t>, </a:t>
            </a:r>
            <a:r>
              <a:rPr lang="en-US" i="1" dirty="0" smtClean="0"/>
              <a:t>A</a:t>
            </a:r>
            <a:r>
              <a:rPr lang="en-US" baseline="-25000" dirty="0" smtClean="0"/>
              <a:t>2</a:t>
            </a:r>
            <a:r>
              <a:rPr lang="en-US" dirty="0" smtClean="0"/>
              <a:t> ,…, </a:t>
            </a:r>
            <a:r>
              <a:rPr lang="en-US" i="1" dirty="0" smtClean="0"/>
              <a:t>A</a:t>
            </a:r>
            <a:r>
              <a:rPr lang="en-US" i="1" baseline="-25000" dirty="0" smtClean="0"/>
              <a:t>n</a:t>
            </a:r>
            <a:r>
              <a:rPr lang="en-US" dirty="0" smtClean="0"/>
              <a:t> be an indexed collection of sets.</a:t>
            </a:r>
          </a:p>
          <a:p>
            <a:pPr>
              <a:buNone/>
            </a:pPr>
            <a:r>
              <a:rPr lang="en-US" dirty="0" smtClean="0"/>
              <a:t>    We define:</a:t>
            </a:r>
          </a:p>
          <a:p>
            <a:pPr>
              <a:buNone/>
            </a:pPr>
            <a:endParaRPr lang="en-US" dirty="0" smtClean="0"/>
          </a:p>
          <a:p>
            <a:pPr>
              <a:buNone/>
            </a:pPr>
            <a:r>
              <a:rPr lang="en-US" dirty="0" smtClean="0"/>
              <a:t>   </a:t>
            </a:r>
          </a:p>
          <a:p>
            <a:pPr>
              <a:buNone/>
            </a:pPr>
            <a:r>
              <a:rPr lang="en-US" dirty="0" smtClean="0"/>
              <a:t>   These are well defined, since union and intersection are associative.</a:t>
            </a:r>
          </a:p>
          <a:p>
            <a:r>
              <a:rPr lang="en-US" dirty="0" smtClean="0"/>
              <a:t>For </a:t>
            </a:r>
            <a:r>
              <a:rPr lang="en-US" i="1" dirty="0" smtClean="0"/>
              <a:t>i</a:t>
            </a:r>
            <a:r>
              <a:rPr lang="en-US" dirty="0" smtClean="0"/>
              <a:t> = </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2</a:t>
            </a:r>
            <a:r>
              <a:rPr lang="en-US" dirty="0" smtClean="0"/>
              <a:t>,…, let </a:t>
            </a:r>
            <a:r>
              <a:rPr lang="en-US" i="1" dirty="0" smtClean="0"/>
              <a:t>A</a:t>
            </a:r>
            <a:r>
              <a:rPr lang="en-US" baseline="-25000" dirty="0" smtClean="0"/>
              <a:t>i </a:t>
            </a:r>
            <a:r>
              <a:rPr lang="en-US" dirty="0" smtClean="0"/>
              <a:t> = {</a:t>
            </a:r>
            <a:r>
              <a:rPr lang="en-US" i="1" dirty="0" err="1" smtClean="0"/>
              <a:t>i</a:t>
            </a:r>
            <a:r>
              <a:rPr lang="en-US" dirty="0" smtClean="0"/>
              <a:t>, </a:t>
            </a:r>
            <a:r>
              <a:rPr lang="en-US" i="1" dirty="0" smtClean="0"/>
              <a:t>i</a:t>
            </a:r>
            <a:r>
              <a:rPr lang="en-US" dirty="0" smtClean="0"/>
              <a:t> + </a:t>
            </a:r>
            <a:r>
              <a:rPr lang="en-US" dirty="0" smtClean="0">
                <a:latin typeface="Cambria Math" pitchFamily="18" charset="0"/>
                <a:ea typeface="Cambria Math" pitchFamily="18" charset="0"/>
              </a:rPr>
              <a:t>1</a:t>
            </a:r>
            <a:r>
              <a:rPr lang="en-US" dirty="0" smtClean="0"/>
              <a:t>, </a:t>
            </a:r>
            <a:r>
              <a:rPr lang="en-US" i="1" dirty="0" err="1" smtClean="0"/>
              <a:t>i</a:t>
            </a:r>
            <a:r>
              <a:rPr lang="en-US" dirty="0" smtClean="0"/>
              <a:t> + </a:t>
            </a:r>
            <a:r>
              <a:rPr lang="en-US" dirty="0" smtClean="0">
                <a:latin typeface="Cambria Math" pitchFamily="18" charset="0"/>
                <a:ea typeface="Cambria Math" pitchFamily="18" charset="0"/>
              </a:rPr>
              <a:t>2</a:t>
            </a:r>
            <a:r>
              <a:rPr lang="en-US" dirty="0" smtClean="0"/>
              <a:t>, ….}. Then,</a:t>
            </a:r>
          </a:p>
          <a:p>
            <a:pPr>
              <a:buNone/>
            </a:pPr>
            <a:endParaRPr lang="en-US" dirty="0" smtClean="0"/>
          </a:p>
          <a:p>
            <a:pPr>
              <a:buNone/>
            </a:pPr>
            <a:endParaRPr lang="en-US" dirty="0" smtClean="0"/>
          </a:p>
          <a:p>
            <a:pPr>
              <a:buNone/>
            </a:pPr>
            <a:r>
              <a:rPr lang="en-US" dirty="0" smtClean="0"/>
              <a:t> </a:t>
            </a:r>
            <a:endParaRPr lang="en-US" dirty="0"/>
          </a:p>
        </p:txBody>
      </p:sp>
      <p:pic>
        <p:nvPicPr>
          <p:cNvPr id="19" name="Picture 18" descr="addin_tmp.png"/>
          <p:cNvPicPr>
            <a:picLocks noChangeAspect="1"/>
          </p:cNvPicPr>
          <p:nvPr>
            <p:custDataLst>
              <p:tags r:id="rId1"/>
            </p:custDataLst>
          </p:nvPr>
        </p:nvPicPr>
        <p:blipFill>
          <a:blip r:embed="rId6" cstate="print"/>
          <a:stretch>
            <a:fillRect/>
          </a:stretch>
        </p:blipFill>
        <p:spPr>
          <a:xfrm>
            <a:off x="2895600" y="2514600"/>
            <a:ext cx="2271713" cy="521494"/>
          </a:xfrm>
          <a:prstGeom prst="rect">
            <a:avLst/>
          </a:prstGeom>
        </p:spPr>
      </p:pic>
      <p:pic>
        <p:nvPicPr>
          <p:cNvPr id="20" name="Picture 19" descr="addin_tmp.png"/>
          <p:cNvPicPr>
            <a:picLocks noChangeAspect="1"/>
          </p:cNvPicPr>
          <p:nvPr>
            <p:custDataLst>
              <p:tags r:id="rId2"/>
            </p:custDataLst>
          </p:nvPr>
        </p:nvPicPr>
        <p:blipFill>
          <a:blip r:embed="rId7" cstate="print"/>
          <a:stretch>
            <a:fillRect/>
          </a:stretch>
        </p:blipFill>
        <p:spPr>
          <a:xfrm>
            <a:off x="2895600" y="3124200"/>
            <a:ext cx="2271713" cy="521494"/>
          </a:xfrm>
          <a:prstGeom prst="rect">
            <a:avLst/>
          </a:prstGeom>
        </p:spPr>
      </p:pic>
      <p:pic>
        <p:nvPicPr>
          <p:cNvPr id="13" name="Picture 12" descr="addin_tmp.png"/>
          <p:cNvPicPr>
            <a:picLocks noChangeAspect="1"/>
          </p:cNvPicPr>
          <p:nvPr>
            <p:custDataLst>
              <p:tags r:id="rId3"/>
            </p:custDataLst>
          </p:nvPr>
        </p:nvPicPr>
        <p:blipFill>
          <a:blip r:embed="rId8" cstate="print"/>
          <a:stretch>
            <a:fillRect/>
          </a:stretch>
        </p:blipFill>
        <p:spPr>
          <a:xfrm>
            <a:off x="2286000" y="4953000"/>
            <a:ext cx="3553301" cy="521494"/>
          </a:xfrm>
          <a:prstGeom prst="rect">
            <a:avLst/>
          </a:prstGeom>
        </p:spPr>
      </p:pic>
      <p:pic>
        <p:nvPicPr>
          <p:cNvPr id="16" name="Picture 15" descr="addin_tmp.png"/>
          <p:cNvPicPr>
            <a:picLocks noChangeAspect="1"/>
          </p:cNvPicPr>
          <p:nvPr>
            <p:custDataLst>
              <p:tags r:id="rId4"/>
            </p:custDataLst>
          </p:nvPr>
        </p:nvPicPr>
        <p:blipFill>
          <a:blip r:embed="rId9" cstate="print"/>
          <a:stretch>
            <a:fillRect/>
          </a:stretch>
        </p:blipFill>
        <p:spPr>
          <a:xfrm>
            <a:off x="2286000" y="5715000"/>
            <a:ext cx="4869180" cy="521494"/>
          </a:xfrm>
          <a:prstGeom prst="rect">
            <a:avLst/>
          </a:prstGeom>
        </p:spPr>
      </p:pic>
    </p:spTree>
    <p:extLst>
      <p:ext uri="{BB962C8B-B14F-4D97-AF65-F5344CB8AC3E}">
        <p14:creationId xmlns:p14="http://schemas.microsoft.com/office/powerpoint/2010/main" val="61905774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1"/>
          <p:cNvSpPr>
            <a:spLocks noGrp="1"/>
          </p:cNvSpPr>
          <p:nvPr>
            <p:ph type="sldNum" sz="quarter" idx="10"/>
          </p:nvPr>
        </p:nvSpPr>
        <p:spPr/>
        <p:txBody>
          <a:bodyPr/>
          <a:lstStyle/>
          <a:p>
            <a:pPr>
              <a:defRPr/>
            </a:pPr>
            <a:fld id="{BB8224BC-CCC9-49B5-AB0C-57E3CD67E824}" type="slidenum">
              <a:rPr lang="zh-CN" altLang="en-US"/>
              <a:pPr>
                <a:defRPr/>
              </a:pPr>
              <a:t>60</a:t>
            </a:fld>
            <a:endParaRPr lang="en-US" altLang="zh-CN"/>
          </a:p>
        </p:txBody>
      </p:sp>
      <p:sp>
        <p:nvSpPr>
          <p:cNvPr id="1463298" name="Text Box 2"/>
          <p:cNvSpPr txBox="1">
            <a:spLocks noChangeArrowheads="1"/>
          </p:cNvSpPr>
          <p:nvPr/>
        </p:nvSpPr>
        <p:spPr bwMode="auto">
          <a:xfrm>
            <a:off x="542925" y="609600"/>
            <a:ext cx="7458075" cy="707886"/>
          </a:xfrm>
          <a:prstGeom prst="rect">
            <a:avLst/>
          </a:prstGeom>
          <a:noFill/>
          <a:ln w="9525">
            <a:noFill/>
            <a:miter lim="800000"/>
            <a:headEnd/>
            <a:tailEnd/>
          </a:ln>
          <a:effectLst/>
        </p:spPr>
        <p:txBody>
          <a:bodyPr wrap="square">
            <a:spAutoFit/>
          </a:bodyPr>
          <a:lstStyle/>
          <a:p>
            <a:pPr marL="457200" indent="-457200" algn="l" eaLnBrk="1" hangingPunct="1">
              <a:spcBef>
                <a:spcPct val="30000"/>
              </a:spcBef>
              <a:buFontTx/>
              <a:buNone/>
              <a:defRPr/>
            </a:pPr>
            <a:r>
              <a:rPr kumimoji="1" lang="en-US" altLang="zh-CN" dirty="0" smtClean="0">
                <a:solidFill>
                  <a:srgbClr val="000099"/>
                </a:solidFill>
                <a:effectLst>
                  <a:outerShdw blurRad="38100" dist="38100" dir="2700000" algn="tl">
                    <a:srgbClr val="C0C0C0"/>
                  </a:outerShdw>
                </a:effectLst>
                <a:latin typeface="Times New Roman" pitchFamily="18" charset="0"/>
                <a:ea typeface="宋体" pitchFamily="2" charset="-122"/>
              </a:rPr>
              <a:t> </a:t>
            </a:r>
            <a:r>
              <a:rPr kumimoji="1" lang="en-US" altLang="zh-CN" sz="4000" dirty="0">
                <a:solidFill>
                  <a:srgbClr val="000099"/>
                </a:solidFill>
                <a:effectLst>
                  <a:outerShdw blurRad="38100" dist="38100" dir="2700000" algn="tl">
                    <a:srgbClr val="C0C0C0"/>
                  </a:outerShdw>
                </a:effectLst>
                <a:latin typeface="Times New Roman" pitchFamily="18" charset="0"/>
                <a:ea typeface="宋体" pitchFamily="2" charset="-122"/>
              </a:rPr>
              <a:t>Computer Representation of Set</a:t>
            </a:r>
            <a:r>
              <a:rPr kumimoji="1" lang="en-US" altLang="zh-CN" sz="4000" dirty="0">
                <a:solidFill>
                  <a:schemeClr val="hlink"/>
                </a:solidFill>
                <a:effectLst>
                  <a:outerShdw blurRad="38100" dist="38100" dir="2700000" algn="tl">
                    <a:srgbClr val="C0C0C0"/>
                  </a:outerShdw>
                </a:effectLst>
                <a:latin typeface="Times New Roman" pitchFamily="18" charset="0"/>
                <a:ea typeface="宋体" pitchFamily="2" charset="-122"/>
              </a:rPr>
              <a:t> </a:t>
            </a:r>
            <a:endParaRPr kumimoji="1" lang="en-US" altLang="zh-CN" sz="2800" dirty="0">
              <a:solidFill>
                <a:schemeClr val="hlink"/>
              </a:solidFill>
              <a:effectLst>
                <a:outerShdw blurRad="38100" dist="38100" dir="2700000" algn="tl">
                  <a:srgbClr val="C0C0C0"/>
                </a:outerShdw>
              </a:effectLst>
              <a:latin typeface="Times New Roman" pitchFamily="18" charset="0"/>
              <a:ea typeface="宋体" pitchFamily="2" charset="-122"/>
            </a:endParaRPr>
          </a:p>
        </p:txBody>
      </p:sp>
      <p:sp>
        <p:nvSpPr>
          <p:cNvPr id="38917" name="Text Box 5"/>
          <p:cNvSpPr txBox="1">
            <a:spLocks noChangeArrowheads="1"/>
          </p:cNvSpPr>
          <p:nvPr/>
        </p:nvSpPr>
        <p:spPr bwMode="auto">
          <a:xfrm>
            <a:off x="609600" y="1371600"/>
            <a:ext cx="800100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b="1">
                <a:solidFill>
                  <a:schemeClr val="tx1"/>
                </a:solidFill>
                <a:latin typeface="楷体_GB2312" pitchFamily="49" charset="-122"/>
                <a:ea typeface="楷体_GB2312" pitchFamily="49" charset="-122"/>
              </a:defRPr>
            </a:lvl1pPr>
            <a:lvl2pPr marL="742950" indent="-285750">
              <a:defRPr sz="2400" b="1">
                <a:solidFill>
                  <a:schemeClr val="tx1"/>
                </a:solidFill>
                <a:latin typeface="楷体_GB2312" pitchFamily="49" charset="-122"/>
                <a:ea typeface="楷体_GB2312" pitchFamily="49" charset="-122"/>
              </a:defRPr>
            </a:lvl2pPr>
            <a:lvl3pPr marL="1143000" indent="-228600">
              <a:defRPr sz="2400" b="1">
                <a:solidFill>
                  <a:schemeClr val="tx1"/>
                </a:solidFill>
                <a:latin typeface="楷体_GB2312" pitchFamily="49" charset="-122"/>
                <a:ea typeface="楷体_GB2312" pitchFamily="49" charset="-122"/>
              </a:defRPr>
            </a:lvl3pPr>
            <a:lvl4pPr marL="1600200" indent="-228600">
              <a:defRPr sz="2400" b="1">
                <a:solidFill>
                  <a:schemeClr val="tx1"/>
                </a:solidFill>
                <a:latin typeface="楷体_GB2312" pitchFamily="49" charset="-122"/>
                <a:ea typeface="楷体_GB2312" pitchFamily="49" charset="-122"/>
              </a:defRPr>
            </a:lvl4pPr>
            <a:lvl5pPr marL="2057400" indent="-228600">
              <a:defRPr sz="2400" b="1">
                <a:solidFill>
                  <a:schemeClr val="tx1"/>
                </a:solidFill>
                <a:latin typeface="楷体_GB2312" pitchFamily="49" charset="-122"/>
                <a:ea typeface="楷体_GB2312" pitchFamily="49" charset="-122"/>
              </a:defRPr>
            </a:lvl5pPr>
            <a:lvl6pPr marL="25146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6pPr>
            <a:lvl7pPr marL="29718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7pPr>
            <a:lvl8pPr marL="34290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8pPr>
            <a:lvl9pPr marL="38862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9pPr>
          </a:lstStyle>
          <a:p>
            <a:pPr algn="just" eaLnBrk="1" hangingPunct="1">
              <a:spcBef>
                <a:spcPct val="40000"/>
              </a:spcBef>
              <a:buFont typeface="Wingdings" pitchFamily="2" charset="2"/>
              <a:buNone/>
            </a:pPr>
            <a:r>
              <a:rPr kumimoji="1" lang="en-US" altLang="zh-CN" dirty="0">
                <a:solidFill>
                  <a:srgbClr val="000000"/>
                </a:solidFill>
                <a:latin typeface="Times New Roman" pitchFamily="18" charset="0"/>
                <a:ea typeface="宋体" pitchFamily="2" charset="-122"/>
                <a:sym typeface="Symbol" pitchFamily="18" charset="2"/>
              </a:rPr>
              <a:t>Using bit strings to represent sets.</a:t>
            </a:r>
            <a:endParaRPr kumimoji="1" lang="en-US" altLang="zh-CN" dirty="0">
              <a:latin typeface="Times New Roman" pitchFamily="18" charset="0"/>
              <a:ea typeface="宋体" pitchFamily="2" charset="-122"/>
              <a:sym typeface="Symbol" pitchFamily="18" charset="2"/>
            </a:endParaRPr>
          </a:p>
          <a:p>
            <a:pPr algn="just" eaLnBrk="1" hangingPunct="1">
              <a:spcBef>
                <a:spcPct val="40000"/>
              </a:spcBef>
              <a:buFont typeface="Wingdings" pitchFamily="2" charset="2"/>
              <a:buAutoNum type="arabicParenBoth"/>
            </a:pPr>
            <a:r>
              <a:rPr kumimoji="1" lang="en-US" altLang="zh-CN" dirty="0">
                <a:solidFill>
                  <a:srgbClr val="000000"/>
                </a:solidFill>
                <a:latin typeface="Times New Roman" pitchFamily="18" charset="0"/>
                <a:ea typeface="宋体" pitchFamily="2" charset="-122"/>
                <a:sym typeface="Symbol" pitchFamily="18" charset="2"/>
              </a:rPr>
              <a:t>Specify an arbitrary ordering of the elements of</a:t>
            </a:r>
            <a:r>
              <a:rPr kumimoji="1" lang="en-US" altLang="zh-CN" i="1" dirty="0">
                <a:solidFill>
                  <a:srgbClr val="000000"/>
                </a:solidFill>
                <a:latin typeface="Times New Roman" pitchFamily="18" charset="0"/>
                <a:ea typeface="宋体" pitchFamily="2" charset="-122"/>
                <a:sym typeface="Symbol" pitchFamily="18" charset="2"/>
              </a:rPr>
              <a:t> U</a:t>
            </a:r>
            <a:r>
              <a:rPr kumimoji="1" lang="en-US" altLang="zh-CN" dirty="0">
                <a:solidFill>
                  <a:srgbClr val="000000"/>
                </a:solidFill>
                <a:latin typeface="Times New Roman" pitchFamily="18" charset="0"/>
                <a:ea typeface="宋体" pitchFamily="2" charset="-122"/>
                <a:sym typeface="Symbol" pitchFamily="18" charset="2"/>
              </a:rPr>
              <a:t>,</a:t>
            </a:r>
          </a:p>
          <a:p>
            <a:pPr algn="just" eaLnBrk="1" hangingPunct="1">
              <a:spcBef>
                <a:spcPct val="40000"/>
              </a:spcBef>
              <a:buFont typeface="Wingdings" pitchFamily="2" charset="2"/>
              <a:buNone/>
            </a:pPr>
            <a:r>
              <a:rPr kumimoji="1" lang="en-US" altLang="zh-CN" dirty="0">
                <a:solidFill>
                  <a:srgbClr val="000000"/>
                </a:solidFill>
                <a:latin typeface="Times New Roman" pitchFamily="18" charset="0"/>
                <a:ea typeface="宋体" pitchFamily="2" charset="-122"/>
                <a:sym typeface="Symbol" pitchFamily="18" charset="2"/>
              </a:rPr>
              <a:t>      for instance </a:t>
            </a:r>
          </a:p>
        </p:txBody>
      </p:sp>
      <p:graphicFrame>
        <p:nvGraphicFramePr>
          <p:cNvPr id="38918" name="Object 6"/>
          <p:cNvGraphicFramePr>
            <a:graphicFrameLocks noChangeAspect="1"/>
          </p:cNvGraphicFramePr>
          <p:nvPr/>
        </p:nvGraphicFramePr>
        <p:xfrm>
          <a:off x="2786063" y="2428875"/>
          <a:ext cx="1295400" cy="382588"/>
        </p:xfrm>
        <a:graphic>
          <a:graphicData uri="http://schemas.openxmlformats.org/presentationml/2006/ole">
            <mc:AlternateContent xmlns:mc="http://schemas.openxmlformats.org/markup-compatibility/2006">
              <mc:Choice xmlns:v="urn:schemas-microsoft-com:vml" Requires="v">
                <p:oleObj spid="_x0000_s13314" r:id="rId4" imgW="774364" imgH="228501" progId="Equation.3">
                  <p:embed/>
                </p:oleObj>
              </mc:Choice>
              <mc:Fallback>
                <p:oleObj r:id="rId4" imgW="774364" imgH="228501" progId="Equation.3">
                  <p:embed/>
                  <p:pic>
                    <p:nvPicPr>
                      <p:cNvPr id="3891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6063" y="2428875"/>
                        <a:ext cx="129540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9" name="Text Box 7"/>
          <p:cNvSpPr txBox="1">
            <a:spLocks noChangeArrowheads="1"/>
          </p:cNvSpPr>
          <p:nvPr/>
        </p:nvSpPr>
        <p:spPr bwMode="auto">
          <a:xfrm>
            <a:off x="571500" y="2928938"/>
            <a:ext cx="8001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b="1">
                <a:solidFill>
                  <a:schemeClr val="tx1"/>
                </a:solidFill>
                <a:latin typeface="楷体_GB2312" pitchFamily="49" charset="-122"/>
                <a:ea typeface="楷体_GB2312" pitchFamily="49" charset="-122"/>
              </a:defRPr>
            </a:lvl1pPr>
            <a:lvl2pPr marL="742950" indent="-285750">
              <a:defRPr sz="2400" b="1">
                <a:solidFill>
                  <a:schemeClr val="tx1"/>
                </a:solidFill>
                <a:latin typeface="楷体_GB2312" pitchFamily="49" charset="-122"/>
                <a:ea typeface="楷体_GB2312" pitchFamily="49" charset="-122"/>
              </a:defRPr>
            </a:lvl2pPr>
            <a:lvl3pPr marL="1143000" indent="-228600">
              <a:defRPr sz="2400" b="1">
                <a:solidFill>
                  <a:schemeClr val="tx1"/>
                </a:solidFill>
                <a:latin typeface="楷体_GB2312" pitchFamily="49" charset="-122"/>
                <a:ea typeface="楷体_GB2312" pitchFamily="49" charset="-122"/>
              </a:defRPr>
            </a:lvl3pPr>
            <a:lvl4pPr marL="1600200" indent="-228600">
              <a:defRPr sz="2400" b="1">
                <a:solidFill>
                  <a:schemeClr val="tx1"/>
                </a:solidFill>
                <a:latin typeface="楷体_GB2312" pitchFamily="49" charset="-122"/>
                <a:ea typeface="楷体_GB2312" pitchFamily="49" charset="-122"/>
              </a:defRPr>
            </a:lvl4pPr>
            <a:lvl5pPr marL="2057400" indent="-228600">
              <a:defRPr sz="2400" b="1">
                <a:solidFill>
                  <a:schemeClr val="tx1"/>
                </a:solidFill>
                <a:latin typeface="楷体_GB2312" pitchFamily="49" charset="-122"/>
                <a:ea typeface="楷体_GB2312" pitchFamily="49" charset="-122"/>
              </a:defRPr>
            </a:lvl5pPr>
            <a:lvl6pPr marL="25146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6pPr>
            <a:lvl7pPr marL="29718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7pPr>
            <a:lvl8pPr marL="34290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8pPr>
            <a:lvl9pPr marL="38862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9pPr>
          </a:lstStyle>
          <a:p>
            <a:pPr algn="just" eaLnBrk="1" hangingPunct="1">
              <a:spcBef>
                <a:spcPct val="40000"/>
              </a:spcBef>
              <a:buFont typeface="Wingdings" pitchFamily="2" charset="2"/>
              <a:buNone/>
            </a:pPr>
            <a:r>
              <a:rPr kumimoji="1" lang="en-US" altLang="zh-CN">
                <a:solidFill>
                  <a:srgbClr val="000000"/>
                </a:solidFill>
                <a:latin typeface="Times New Roman" pitchFamily="18" charset="0"/>
                <a:ea typeface="宋体" pitchFamily="2" charset="-122"/>
                <a:sym typeface="Symbol" pitchFamily="18" charset="2"/>
              </a:rPr>
              <a:t>(2) Represent a subset </a:t>
            </a:r>
            <a:r>
              <a:rPr kumimoji="1" lang="en-US" altLang="zh-CN" i="1">
                <a:solidFill>
                  <a:srgbClr val="000000"/>
                </a:solidFill>
                <a:latin typeface="Times New Roman" pitchFamily="18" charset="0"/>
                <a:ea typeface="宋体" pitchFamily="2" charset="-122"/>
                <a:sym typeface="Symbol" pitchFamily="18" charset="2"/>
              </a:rPr>
              <a:t>A</a:t>
            </a:r>
            <a:r>
              <a:rPr kumimoji="1" lang="en-US" altLang="zh-CN">
                <a:solidFill>
                  <a:srgbClr val="000000"/>
                </a:solidFill>
                <a:latin typeface="Times New Roman" pitchFamily="18" charset="0"/>
                <a:ea typeface="宋体" pitchFamily="2" charset="-122"/>
                <a:sym typeface="Symbol" pitchFamily="18" charset="2"/>
              </a:rPr>
              <a:t> of </a:t>
            </a:r>
            <a:r>
              <a:rPr kumimoji="1" lang="en-US" altLang="zh-CN" i="1">
                <a:solidFill>
                  <a:srgbClr val="000000"/>
                </a:solidFill>
                <a:latin typeface="Times New Roman" pitchFamily="18" charset="0"/>
                <a:ea typeface="宋体" pitchFamily="2" charset="-122"/>
                <a:sym typeface="Symbol" pitchFamily="18" charset="2"/>
              </a:rPr>
              <a:t>U</a:t>
            </a:r>
            <a:r>
              <a:rPr kumimoji="1" lang="en-US" altLang="zh-CN">
                <a:solidFill>
                  <a:srgbClr val="000000"/>
                </a:solidFill>
                <a:latin typeface="Times New Roman" pitchFamily="18" charset="0"/>
                <a:ea typeface="宋体" pitchFamily="2" charset="-122"/>
                <a:sym typeface="Symbol" pitchFamily="18" charset="2"/>
              </a:rPr>
              <a:t> with the bit string of length </a:t>
            </a:r>
            <a:r>
              <a:rPr kumimoji="1" lang="en-US" altLang="zh-CN" i="1">
                <a:solidFill>
                  <a:srgbClr val="000000"/>
                </a:solidFill>
                <a:latin typeface="Times New Roman" pitchFamily="18" charset="0"/>
                <a:ea typeface="宋体" pitchFamily="2" charset="-122"/>
                <a:sym typeface="Symbol" pitchFamily="18" charset="2"/>
              </a:rPr>
              <a:t>n, </a:t>
            </a:r>
            <a:r>
              <a:rPr kumimoji="1" lang="en-US" altLang="zh-CN">
                <a:solidFill>
                  <a:srgbClr val="000000"/>
                </a:solidFill>
                <a:latin typeface="Times New Roman" pitchFamily="18" charset="0"/>
                <a:ea typeface="宋体" pitchFamily="2" charset="-122"/>
                <a:sym typeface="Symbol" pitchFamily="18" charset="2"/>
              </a:rPr>
              <a:t>where the </a:t>
            </a:r>
            <a:r>
              <a:rPr kumimoji="1" lang="en-US" altLang="zh-CN" i="1">
                <a:solidFill>
                  <a:srgbClr val="000000"/>
                </a:solidFill>
                <a:latin typeface="Times New Roman" pitchFamily="18" charset="0"/>
                <a:ea typeface="宋体" pitchFamily="2" charset="-122"/>
                <a:sym typeface="Symbol" pitchFamily="18" charset="2"/>
              </a:rPr>
              <a:t>i</a:t>
            </a:r>
            <a:r>
              <a:rPr kumimoji="1" lang="en-US" altLang="zh-CN">
                <a:solidFill>
                  <a:srgbClr val="000000"/>
                </a:solidFill>
                <a:latin typeface="Times New Roman" pitchFamily="18" charset="0"/>
                <a:ea typeface="宋体" pitchFamily="2" charset="-122"/>
                <a:sym typeface="Symbol" pitchFamily="18" charset="2"/>
              </a:rPr>
              <a:t>th bit is 1 if    belongs to </a:t>
            </a:r>
            <a:r>
              <a:rPr kumimoji="1" lang="en-US" altLang="zh-CN" i="1">
                <a:solidFill>
                  <a:srgbClr val="000000"/>
                </a:solidFill>
                <a:latin typeface="Times New Roman" pitchFamily="18" charset="0"/>
                <a:ea typeface="宋体" pitchFamily="2" charset="-122"/>
                <a:sym typeface="Symbol" pitchFamily="18" charset="2"/>
              </a:rPr>
              <a:t>A</a:t>
            </a:r>
            <a:r>
              <a:rPr kumimoji="1" lang="en-US" altLang="zh-CN">
                <a:solidFill>
                  <a:srgbClr val="000000"/>
                </a:solidFill>
                <a:latin typeface="Times New Roman" pitchFamily="18" charset="0"/>
                <a:ea typeface="宋体" pitchFamily="2" charset="-122"/>
                <a:sym typeface="Symbol" pitchFamily="18" charset="2"/>
              </a:rPr>
              <a:t> and is 0 if    does not belong to </a:t>
            </a:r>
            <a:r>
              <a:rPr kumimoji="1" lang="en-US" altLang="zh-CN" i="1">
                <a:solidFill>
                  <a:srgbClr val="000000"/>
                </a:solidFill>
                <a:latin typeface="Times New Roman" pitchFamily="18" charset="0"/>
                <a:ea typeface="宋体" pitchFamily="2" charset="-122"/>
                <a:sym typeface="Symbol" pitchFamily="18" charset="2"/>
              </a:rPr>
              <a:t>A</a:t>
            </a:r>
            <a:r>
              <a:rPr kumimoji="1" lang="en-US" altLang="zh-CN">
                <a:solidFill>
                  <a:srgbClr val="000000"/>
                </a:solidFill>
                <a:latin typeface="Times New Roman" pitchFamily="18" charset="0"/>
                <a:ea typeface="宋体" pitchFamily="2" charset="-122"/>
                <a:sym typeface="Symbol" pitchFamily="18" charset="2"/>
              </a:rPr>
              <a:t>.</a:t>
            </a:r>
            <a:r>
              <a:rPr kumimoji="1" lang="en-US" altLang="zh-CN">
                <a:latin typeface="Times New Roman" pitchFamily="18" charset="0"/>
                <a:ea typeface="宋体" pitchFamily="2" charset="-122"/>
                <a:sym typeface="Symbol" pitchFamily="18" charset="2"/>
              </a:rPr>
              <a:t> </a:t>
            </a:r>
          </a:p>
        </p:txBody>
      </p:sp>
      <p:graphicFrame>
        <p:nvGraphicFramePr>
          <p:cNvPr id="38921" name="Object 9"/>
          <p:cNvGraphicFramePr>
            <a:graphicFrameLocks noChangeAspect="1"/>
          </p:cNvGraphicFramePr>
          <p:nvPr/>
        </p:nvGraphicFramePr>
        <p:xfrm>
          <a:off x="7500938" y="3214688"/>
          <a:ext cx="409575" cy="612775"/>
        </p:xfrm>
        <a:graphic>
          <a:graphicData uri="http://schemas.openxmlformats.org/presentationml/2006/ole">
            <mc:AlternateContent xmlns:mc="http://schemas.openxmlformats.org/markup-compatibility/2006">
              <mc:Choice xmlns:v="urn:schemas-microsoft-com:vml" Requires="v">
                <p:oleObj spid="_x0000_s13315" name="公式" r:id="rId6" imgW="152334" imgH="228501" progId="Equation.3">
                  <p:embed/>
                </p:oleObj>
              </mc:Choice>
              <mc:Fallback>
                <p:oleObj name="公式" r:id="rId6" imgW="152334" imgH="228501" progId="Equation.3">
                  <p:embed/>
                  <p:pic>
                    <p:nvPicPr>
                      <p:cNvPr id="38921"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00938" y="3214688"/>
                        <a:ext cx="4095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2" name="Object 10"/>
          <p:cNvGraphicFramePr>
            <a:graphicFrameLocks noChangeAspect="1"/>
          </p:cNvGraphicFramePr>
          <p:nvPr/>
        </p:nvGraphicFramePr>
        <p:xfrm>
          <a:off x="4143375" y="3214688"/>
          <a:ext cx="409575" cy="612775"/>
        </p:xfrm>
        <a:graphic>
          <a:graphicData uri="http://schemas.openxmlformats.org/presentationml/2006/ole">
            <mc:AlternateContent xmlns:mc="http://schemas.openxmlformats.org/markup-compatibility/2006">
              <mc:Choice xmlns:v="urn:schemas-microsoft-com:vml" Requires="v">
                <p:oleObj spid="_x0000_s13316" name="公式" r:id="rId8" imgW="152334" imgH="228501" progId="Equation.3">
                  <p:embed/>
                </p:oleObj>
              </mc:Choice>
              <mc:Fallback>
                <p:oleObj name="公式" r:id="rId8" imgW="152334" imgH="228501" progId="Equation.3">
                  <p:embed/>
                  <p:pic>
                    <p:nvPicPr>
                      <p:cNvPr id="38922"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43375" y="3214688"/>
                        <a:ext cx="4095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a:spLocks noChangeArrowheads="1"/>
          </p:cNvSpPr>
          <p:nvPr/>
        </p:nvSpPr>
        <p:spPr bwMode="auto">
          <a:xfrm>
            <a:off x="2000250" y="4500563"/>
            <a:ext cx="4572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楷体_GB2312" pitchFamily="49" charset="-122"/>
                <a:ea typeface="楷体_GB2312" pitchFamily="49" charset="-122"/>
              </a:defRPr>
            </a:lvl1pPr>
            <a:lvl2pPr marL="742950" indent="-285750">
              <a:defRPr sz="2400" b="1">
                <a:solidFill>
                  <a:schemeClr val="tx1"/>
                </a:solidFill>
                <a:latin typeface="楷体_GB2312" pitchFamily="49" charset="-122"/>
                <a:ea typeface="楷体_GB2312" pitchFamily="49" charset="-122"/>
              </a:defRPr>
            </a:lvl2pPr>
            <a:lvl3pPr marL="1143000" indent="-228600">
              <a:defRPr sz="2400" b="1">
                <a:solidFill>
                  <a:schemeClr val="tx1"/>
                </a:solidFill>
                <a:latin typeface="楷体_GB2312" pitchFamily="49" charset="-122"/>
                <a:ea typeface="楷体_GB2312" pitchFamily="49" charset="-122"/>
              </a:defRPr>
            </a:lvl3pPr>
            <a:lvl4pPr marL="1600200" indent="-228600">
              <a:defRPr sz="2400" b="1">
                <a:solidFill>
                  <a:schemeClr val="tx1"/>
                </a:solidFill>
                <a:latin typeface="楷体_GB2312" pitchFamily="49" charset="-122"/>
                <a:ea typeface="楷体_GB2312" pitchFamily="49" charset="-122"/>
              </a:defRPr>
            </a:lvl4pPr>
            <a:lvl5pPr marL="2057400" indent="-228600">
              <a:defRPr sz="2400" b="1">
                <a:solidFill>
                  <a:schemeClr val="tx1"/>
                </a:solidFill>
                <a:latin typeface="楷体_GB2312" pitchFamily="49" charset="-122"/>
                <a:ea typeface="楷体_GB2312" pitchFamily="49" charset="-122"/>
              </a:defRPr>
            </a:lvl5pPr>
            <a:lvl6pPr marL="25146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6pPr>
            <a:lvl7pPr marL="29718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7pPr>
            <a:lvl8pPr marL="34290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8pPr>
            <a:lvl9pPr marL="38862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9pPr>
          </a:lstStyle>
          <a:p>
            <a:pPr algn="l">
              <a:buFont typeface="Wingdings" pitchFamily="2" charset="2"/>
              <a:buNone/>
            </a:pPr>
            <a:r>
              <a:rPr lang="en-US" altLang="zh-CN">
                <a:solidFill>
                  <a:srgbClr val="3333FF"/>
                </a:solidFill>
                <a:latin typeface="Times New Roman" pitchFamily="18" charset="0"/>
                <a:cs typeface="Times New Roman" pitchFamily="18" charset="0"/>
              </a:rPr>
              <a:t>Union: bitwise OR</a:t>
            </a:r>
          </a:p>
          <a:p>
            <a:pPr algn="l">
              <a:buFont typeface="Wingdings" pitchFamily="2" charset="2"/>
              <a:buNone/>
            </a:pPr>
            <a:r>
              <a:rPr lang="en-US" altLang="zh-CN">
                <a:solidFill>
                  <a:srgbClr val="3333FF"/>
                </a:solidFill>
                <a:latin typeface="Times New Roman" pitchFamily="18" charset="0"/>
                <a:cs typeface="Times New Roman" pitchFamily="18" charset="0"/>
              </a:rPr>
              <a:t>Intersection: bitwise AND</a:t>
            </a:r>
          </a:p>
        </p:txBody>
      </p:sp>
    </p:spTree>
    <p:extLst>
      <p:ext uri="{BB962C8B-B14F-4D97-AF65-F5344CB8AC3E}">
        <p14:creationId xmlns:p14="http://schemas.microsoft.com/office/powerpoint/2010/main" val="14975853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a:spLocks noGrp="1"/>
          </p:cNvSpPr>
          <p:nvPr>
            <p:ph type="sldNum" sz="quarter" idx="10"/>
          </p:nvPr>
        </p:nvSpPr>
        <p:spPr/>
        <p:txBody>
          <a:bodyPr/>
          <a:lstStyle/>
          <a:p>
            <a:pPr>
              <a:defRPr/>
            </a:pPr>
            <a:fld id="{A4AE6DEA-AD79-4BFE-81BC-3FB226201DE4}" type="slidenum">
              <a:rPr lang="zh-CN" altLang="en-US"/>
              <a:pPr>
                <a:defRPr/>
              </a:pPr>
              <a:t>61</a:t>
            </a:fld>
            <a:endParaRPr lang="en-US" altLang="zh-CN"/>
          </a:p>
        </p:txBody>
      </p:sp>
      <p:sp>
        <p:nvSpPr>
          <p:cNvPr id="1465347" name="AutoShape 3"/>
          <p:cNvSpPr>
            <a:spLocks noChangeArrowheads="1"/>
          </p:cNvSpPr>
          <p:nvPr/>
        </p:nvSpPr>
        <p:spPr bwMode="auto">
          <a:xfrm>
            <a:off x="762000" y="2743200"/>
            <a:ext cx="7772400" cy="2514600"/>
          </a:xfrm>
          <a:prstGeom prst="foldedCorner">
            <a:avLst>
              <a:gd name="adj" fmla="val 12500"/>
            </a:avLst>
          </a:prstGeom>
          <a:solidFill>
            <a:srgbClr val="CCFFFF"/>
          </a:solidFill>
          <a:ln w="9525">
            <a:solidFill>
              <a:schemeClr val="tx1"/>
            </a:solidFill>
            <a:round/>
            <a:headEnd/>
            <a:tailEnd/>
          </a:ln>
        </p:spPr>
        <p:txBody>
          <a:bodyPr wrap="none"/>
          <a:lstStyle>
            <a:lvl1pPr marL="457200" indent="-457200">
              <a:defRPr sz="2400" b="1">
                <a:solidFill>
                  <a:schemeClr val="tx1"/>
                </a:solidFill>
                <a:latin typeface="楷体_GB2312" pitchFamily="49" charset="-122"/>
                <a:ea typeface="楷体_GB2312" pitchFamily="49" charset="-122"/>
              </a:defRPr>
            </a:lvl1pPr>
            <a:lvl2pPr marL="742950" indent="-285750">
              <a:defRPr sz="2400" b="1">
                <a:solidFill>
                  <a:schemeClr val="tx1"/>
                </a:solidFill>
                <a:latin typeface="楷体_GB2312" pitchFamily="49" charset="-122"/>
                <a:ea typeface="楷体_GB2312" pitchFamily="49" charset="-122"/>
              </a:defRPr>
            </a:lvl2pPr>
            <a:lvl3pPr marL="1143000" indent="-228600">
              <a:defRPr sz="2400" b="1">
                <a:solidFill>
                  <a:schemeClr val="tx1"/>
                </a:solidFill>
                <a:latin typeface="楷体_GB2312" pitchFamily="49" charset="-122"/>
                <a:ea typeface="楷体_GB2312" pitchFamily="49" charset="-122"/>
              </a:defRPr>
            </a:lvl3pPr>
            <a:lvl4pPr marL="1600200" indent="-228600">
              <a:defRPr sz="2400" b="1">
                <a:solidFill>
                  <a:schemeClr val="tx1"/>
                </a:solidFill>
                <a:latin typeface="楷体_GB2312" pitchFamily="49" charset="-122"/>
                <a:ea typeface="楷体_GB2312" pitchFamily="49" charset="-122"/>
              </a:defRPr>
            </a:lvl4pPr>
            <a:lvl5pPr marL="2057400" indent="-228600">
              <a:defRPr sz="2400" b="1">
                <a:solidFill>
                  <a:schemeClr val="tx1"/>
                </a:solidFill>
                <a:latin typeface="楷体_GB2312" pitchFamily="49" charset="-122"/>
                <a:ea typeface="楷体_GB2312" pitchFamily="49" charset="-122"/>
              </a:defRPr>
            </a:lvl5pPr>
            <a:lvl6pPr marL="25146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6pPr>
            <a:lvl7pPr marL="29718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7pPr>
            <a:lvl8pPr marL="34290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8pPr>
            <a:lvl9pPr marL="38862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9pPr>
          </a:lstStyle>
          <a:p>
            <a:pPr algn="l" eaLnBrk="1" hangingPunct="1">
              <a:spcBef>
                <a:spcPct val="0"/>
              </a:spcBef>
              <a:buFontTx/>
              <a:buNone/>
            </a:pPr>
            <a:r>
              <a:rPr kumimoji="1" lang="en-US" altLang="zh-CN" i="1" dirty="0">
                <a:solidFill>
                  <a:srgbClr val="0066FF"/>
                </a:solidFill>
                <a:latin typeface="Times New Roman" pitchFamily="18" charset="0"/>
                <a:ea typeface="宋体" pitchFamily="2" charset="-122"/>
                <a:cs typeface="Times New Roman" pitchFamily="18" charset="0"/>
              </a:rPr>
              <a:t>solution:</a:t>
            </a:r>
          </a:p>
          <a:p>
            <a:pPr algn="l" eaLnBrk="1" hangingPunct="1">
              <a:spcBef>
                <a:spcPct val="0"/>
              </a:spcBef>
              <a:buFontTx/>
              <a:buNone/>
            </a:pPr>
            <a:r>
              <a:rPr kumimoji="1" lang="en-US" altLang="zh-CN" dirty="0">
                <a:solidFill>
                  <a:srgbClr val="000000"/>
                </a:solidFill>
                <a:latin typeface="Times New Roman" pitchFamily="18" charset="0"/>
                <a:ea typeface="宋体" pitchFamily="2" charset="-122"/>
                <a:cs typeface="Times New Roman" pitchFamily="18" charset="0"/>
              </a:rPr>
              <a:t>The bit string for the set </a:t>
            </a:r>
            <a:r>
              <a:rPr kumimoji="1" lang="en-US" altLang="zh-CN" i="1" dirty="0">
                <a:solidFill>
                  <a:srgbClr val="000000"/>
                </a:solidFill>
                <a:latin typeface="Times New Roman" pitchFamily="18" charset="0"/>
                <a:ea typeface="宋体" pitchFamily="2" charset="-122"/>
                <a:cs typeface="Times New Roman" pitchFamily="18" charset="0"/>
              </a:rPr>
              <a:t>A</a:t>
            </a:r>
            <a:r>
              <a:rPr kumimoji="1" lang="en-US" altLang="zh-CN" dirty="0">
                <a:solidFill>
                  <a:srgbClr val="000000"/>
                </a:solidFill>
                <a:latin typeface="Times New Roman" pitchFamily="18" charset="0"/>
                <a:ea typeface="宋体" pitchFamily="2" charset="-122"/>
                <a:cs typeface="Times New Roman" pitchFamily="18" charset="0"/>
              </a:rPr>
              <a:t>: 11 1110 000</a:t>
            </a:r>
            <a:endParaRPr kumimoji="1" lang="en-US" altLang="zh-CN" dirty="0">
              <a:latin typeface="Times New Roman" pitchFamily="18" charset="0"/>
              <a:ea typeface="宋体" pitchFamily="2" charset="-122"/>
              <a:cs typeface="Times New Roman" pitchFamily="18" charset="0"/>
            </a:endParaRPr>
          </a:p>
          <a:p>
            <a:pPr algn="l" eaLnBrk="1" hangingPunct="1">
              <a:spcBef>
                <a:spcPct val="0"/>
              </a:spcBef>
              <a:buFontTx/>
              <a:buNone/>
            </a:pPr>
            <a:r>
              <a:rPr kumimoji="1" lang="en-US" altLang="zh-CN" dirty="0">
                <a:solidFill>
                  <a:srgbClr val="000000"/>
                </a:solidFill>
                <a:latin typeface="Times New Roman" pitchFamily="18" charset="0"/>
                <a:ea typeface="宋体" pitchFamily="2" charset="-122"/>
                <a:cs typeface="Times New Roman" pitchFamily="18" charset="0"/>
              </a:rPr>
              <a:t>The bit string for the set </a:t>
            </a:r>
            <a:r>
              <a:rPr kumimoji="1" lang="en-US" altLang="zh-CN" i="1" dirty="0">
                <a:solidFill>
                  <a:srgbClr val="000000"/>
                </a:solidFill>
                <a:latin typeface="Times New Roman" pitchFamily="18" charset="0"/>
                <a:ea typeface="宋体" pitchFamily="2" charset="-122"/>
                <a:cs typeface="Times New Roman" pitchFamily="18" charset="0"/>
              </a:rPr>
              <a:t>B</a:t>
            </a:r>
            <a:r>
              <a:rPr kumimoji="1" lang="en-US" altLang="zh-CN" dirty="0">
                <a:solidFill>
                  <a:srgbClr val="000000"/>
                </a:solidFill>
                <a:latin typeface="Times New Roman" pitchFamily="18" charset="0"/>
                <a:ea typeface="宋体" pitchFamily="2" charset="-122"/>
                <a:cs typeface="Times New Roman" pitchFamily="18" charset="0"/>
              </a:rPr>
              <a:t>: 10 1010 101</a:t>
            </a:r>
            <a:endParaRPr kumimoji="1" lang="en-US" altLang="zh-CN" dirty="0">
              <a:latin typeface="Times New Roman" pitchFamily="18" charset="0"/>
              <a:ea typeface="宋体" pitchFamily="2" charset="-122"/>
              <a:cs typeface="Times New Roman" pitchFamily="18" charset="0"/>
            </a:endParaRPr>
          </a:p>
          <a:p>
            <a:pPr>
              <a:spcBef>
                <a:spcPct val="100000"/>
              </a:spcBef>
            </a:pPr>
            <a:r>
              <a:rPr lang="en-US" altLang="zh-CN" i="1" dirty="0" smtClean="0">
                <a:ea typeface="Cambria Math" pitchFamily="18" charset="0"/>
              </a:rPr>
              <a:t>A - B </a:t>
            </a:r>
            <a:r>
              <a:rPr lang="en-US" altLang="zh-CN" i="1" dirty="0">
                <a:ea typeface="Cambria Math" pitchFamily="18" charset="0"/>
              </a:rPr>
              <a:t>=   </a:t>
            </a:r>
            <a:r>
              <a:rPr lang="en-US" altLang="zh-CN" i="1" dirty="0" smtClean="0">
                <a:ea typeface="Cambria Math" pitchFamily="18" charset="0"/>
              </a:rPr>
              <a:t>A </a:t>
            </a:r>
            <a:r>
              <a:rPr lang="en-US" altLang="zh-CN" dirty="0" smtClean="0">
                <a:latin typeface="Cambria Math" pitchFamily="18" charset="0"/>
                <a:ea typeface="Cambria Math" pitchFamily="18" charset="0"/>
              </a:rPr>
              <a:t> </a:t>
            </a:r>
            <a:r>
              <a:rPr lang="en-US" altLang="zh-CN" dirty="0">
                <a:latin typeface="Cambria Math" pitchFamily="18" charset="0"/>
                <a:ea typeface="Cambria Math" pitchFamily="18" charset="0"/>
              </a:rPr>
              <a:t>∩</a:t>
            </a:r>
            <a:r>
              <a:rPr lang="en-US" altLang="zh-CN" dirty="0">
                <a:latin typeface="Cambria Math" pitchFamily="18" charset="0"/>
                <a:ea typeface="Cambria Math" pitchFamily="18" charset="0"/>
                <a:sym typeface="Symbol"/>
              </a:rPr>
              <a:t></a:t>
            </a:r>
            <a:r>
              <a:rPr lang="en-US" altLang="zh-CN" i="1" dirty="0">
                <a:ea typeface="Cambria Math" pitchFamily="18" charset="0"/>
                <a:sym typeface="Symbol"/>
              </a:rPr>
              <a:t>B</a:t>
            </a:r>
            <a:endParaRPr lang="en-US" altLang="zh-CN" i="1" dirty="0">
              <a:ea typeface="Cambria Math" pitchFamily="18" charset="0"/>
            </a:endParaRPr>
          </a:p>
          <a:p>
            <a:pPr>
              <a:spcBef>
                <a:spcPct val="100000"/>
              </a:spcBef>
            </a:pPr>
            <a:endParaRPr kumimoji="1" lang="zh-CN" altLang="en-US" dirty="0">
              <a:latin typeface="Times New Roman" pitchFamily="18" charset="0"/>
              <a:ea typeface="宋体" pitchFamily="2" charset="-122"/>
              <a:cs typeface="Times New Roman" pitchFamily="18" charset="0"/>
            </a:endParaRPr>
          </a:p>
        </p:txBody>
      </p:sp>
      <p:sp>
        <p:nvSpPr>
          <p:cNvPr id="39940" name="Text Box 4"/>
          <p:cNvSpPr txBox="1">
            <a:spLocks noChangeArrowheads="1"/>
          </p:cNvSpPr>
          <p:nvPr/>
        </p:nvSpPr>
        <p:spPr bwMode="auto">
          <a:xfrm>
            <a:off x="304800" y="1295400"/>
            <a:ext cx="8305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b="1">
                <a:solidFill>
                  <a:schemeClr val="tx1"/>
                </a:solidFill>
                <a:latin typeface="楷体_GB2312" pitchFamily="49" charset="-122"/>
                <a:ea typeface="楷体_GB2312" pitchFamily="49" charset="-122"/>
              </a:defRPr>
            </a:lvl1pPr>
            <a:lvl2pPr marL="742950" indent="-285750">
              <a:defRPr sz="2400" b="1">
                <a:solidFill>
                  <a:schemeClr val="tx1"/>
                </a:solidFill>
                <a:latin typeface="楷体_GB2312" pitchFamily="49" charset="-122"/>
                <a:ea typeface="楷体_GB2312" pitchFamily="49" charset="-122"/>
              </a:defRPr>
            </a:lvl2pPr>
            <a:lvl3pPr marL="1143000" indent="-228600">
              <a:defRPr sz="2400" b="1">
                <a:solidFill>
                  <a:schemeClr val="tx1"/>
                </a:solidFill>
                <a:latin typeface="楷体_GB2312" pitchFamily="49" charset="-122"/>
                <a:ea typeface="楷体_GB2312" pitchFamily="49" charset="-122"/>
              </a:defRPr>
            </a:lvl3pPr>
            <a:lvl4pPr marL="1600200" indent="-228600">
              <a:defRPr sz="2400" b="1">
                <a:solidFill>
                  <a:schemeClr val="tx1"/>
                </a:solidFill>
                <a:latin typeface="楷体_GB2312" pitchFamily="49" charset="-122"/>
                <a:ea typeface="楷体_GB2312" pitchFamily="49" charset="-122"/>
              </a:defRPr>
            </a:lvl4pPr>
            <a:lvl5pPr marL="2057400" indent="-228600">
              <a:defRPr sz="2400" b="1">
                <a:solidFill>
                  <a:schemeClr val="tx1"/>
                </a:solidFill>
                <a:latin typeface="楷体_GB2312" pitchFamily="49" charset="-122"/>
                <a:ea typeface="楷体_GB2312" pitchFamily="49" charset="-122"/>
              </a:defRPr>
            </a:lvl5pPr>
            <a:lvl6pPr marL="25146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6pPr>
            <a:lvl7pPr marL="29718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7pPr>
            <a:lvl8pPr marL="34290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8pPr>
            <a:lvl9pPr marL="3886200" indent="-228600" algn="r" eaLnBrk="0" fontAlgn="base" hangingPunct="0">
              <a:spcBef>
                <a:spcPct val="50000"/>
              </a:spcBef>
              <a:spcAft>
                <a:spcPct val="0"/>
              </a:spcAft>
              <a:buFont typeface="Wingdings" pitchFamily="2" charset="2"/>
              <a:buChar char="Ø"/>
              <a:defRPr sz="2400" b="1">
                <a:solidFill>
                  <a:schemeClr val="tx1"/>
                </a:solidFill>
                <a:latin typeface="楷体_GB2312" pitchFamily="49" charset="-122"/>
                <a:ea typeface="楷体_GB2312" pitchFamily="49" charset="-122"/>
              </a:defRPr>
            </a:lvl9pPr>
          </a:lstStyle>
          <a:p>
            <a:pPr algn="l" eaLnBrk="1" hangingPunct="1">
              <a:spcBef>
                <a:spcPct val="20000"/>
              </a:spcBef>
              <a:buFontTx/>
              <a:buNone/>
            </a:pPr>
            <a:r>
              <a:rPr kumimoji="1" lang="en-US" altLang="zh-CN" dirty="0">
                <a:solidFill>
                  <a:srgbClr val="000000"/>
                </a:solidFill>
                <a:latin typeface="Arial" pitchFamily="34" charset="0"/>
                <a:ea typeface="宋体" pitchFamily="2" charset="-122"/>
                <a:cs typeface="Times New Roman" pitchFamily="18" charset="0"/>
              </a:rPr>
              <a:t>〖</a:t>
            </a:r>
            <a:r>
              <a:rPr kumimoji="1" lang="en-US" altLang="zh-CN" dirty="0">
                <a:solidFill>
                  <a:srgbClr val="000000"/>
                </a:solidFill>
                <a:latin typeface="Times New Roman" pitchFamily="18" charset="0"/>
                <a:ea typeface="宋体" pitchFamily="2" charset="-122"/>
                <a:cs typeface="Times New Roman" pitchFamily="18" charset="0"/>
              </a:rPr>
              <a:t>Example </a:t>
            </a:r>
            <a:r>
              <a:rPr kumimoji="1" lang="en-US" altLang="zh-CN" dirty="0" smtClean="0">
                <a:solidFill>
                  <a:srgbClr val="000000"/>
                </a:solidFill>
                <a:latin typeface="Arial" pitchFamily="34" charset="0"/>
                <a:ea typeface="宋体" pitchFamily="2" charset="-122"/>
                <a:cs typeface="Times New Roman" pitchFamily="18" charset="0"/>
              </a:rPr>
              <a:t>〗</a:t>
            </a:r>
            <a:r>
              <a:rPr kumimoji="1" lang="en-US" altLang="zh-CN" dirty="0" smtClean="0">
                <a:solidFill>
                  <a:srgbClr val="000000"/>
                </a:solidFill>
                <a:latin typeface="Times New Roman" pitchFamily="18" charset="0"/>
                <a:ea typeface="宋体" pitchFamily="2" charset="-122"/>
                <a:cs typeface="Times New Roman" pitchFamily="18" charset="0"/>
              </a:rPr>
              <a:t> </a:t>
            </a:r>
            <a:r>
              <a:rPr kumimoji="1" lang="en-US" altLang="zh-CN" dirty="0">
                <a:solidFill>
                  <a:srgbClr val="000000"/>
                </a:solidFill>
                <a:latin typeface="Times New Roman" pitchFamily="18" charset="0"/>
                <a:ea typeface="宋体" pitchFamily="2" charset="-122"/>
                <a:cs typeface="Times New Roman" pitchFamily="18" charset="0"/>
              </a:rPr>
              <a:t>Let </a:t>
            </a:r>
            <a:r>
              <a:rPr kumimoji="1" lang="en-US" altLang="zh-CN" i="1" dirty="0">
                <a:solidFill>
                  <a:srgbClr val="000000"/>
                </a:solidFill>
                <a:latin typeface="Times New Roman" pitchFamily="18" charset="0"/>
                <a:ea typeface="宋体" pitchFamily="2" charset="-122"/>
                <a:cs typeface="Times New Roman" pitchFamily="18" charset="0"/>
              </a:rPr>
              <a:t>U</a:t>
            </a:r>
            <a:r>
              <a:rPr kumimoji="1" lang="en-US" altLang="zh-CN" dirty="0">
                <a:solidFill>
                  <a:srgbClr val="000000"/>
                </a:solidFill>
                <a:latin typeface="Times New Roman" pitchFamily="18" charset="0"/>
                <a:ea typeface="宋体" pitchFamily="2" charset="-122"/>
                <a:cs typeface="Times New Roman" pitchFamily="18" charset="0"/>
              </a:rPr>
              <a:t> ={1, 2, 3, 4, 5,6,7,8,9}, </a:t>
            </a:r>
            <a:r>
              <a:rPr kumimoji="1" lang="en-US" altLang="zh-CN" i="1" dirty="0">
                <a:solidFill>
                  <a:srgbClr val="000000"/>
                </a:solidFill>
                <a:latin typeface="Times New Roman" pitchFamily="18" charset="0"/>
                <a:ea typeface="宋体" pitchFamily="2" charset="-122"/>
                <a:cs typeface="Times New Roman" pitchFamily="18" charset="0"/>
              </a:rPr>
              <a:t>A</a:t>
            </a:r>
            <a:r>
              <a:rPr kumimoji="1" lang="en-US" altLang="zh-CN" dirty="0">
                <a:solidFill>
                  <a:srgbClr val="000000"/>
                </a:solidFill>
                <a:latin typeface="Times New Roman" pitchFamily="18" charset="0"/>
                <a:ea typeface="宋体" pitchFamily="2" charset="-122"/>
                <a:cs typeface="Times New Roman" pitchFamily="18" charset="0"/>
              </a:rPr>
              <a:t>={1, 2, 3, 4, 5}, </a:t>
            </a:r>
            <a:r>
              <a:rPr kumimoji="1" lang="en-US" altLang="zh-CN" i="1" dirty="0">
                <a:solidFill>
                  <a:srgbClr val="000000"/>
                </a:solidFill>
                <a:latin typeface="Times New Roman" pitchFamily="18" charset="0"/>
                <a:ea typeface="宋体" pitchFamily="2" charset="-122"/>
                <a:cs typeface="Times New Roman" pitchFamily="18" charset="0"/>
              </a:rPr>
              <a:t>B</a:t>
            </a:r>
            <a:r>
              <a:rPr kumimoji="1" lang="en-US" altLang="zh-CN" dirty="0">
                <a:solidFill>
                  <a:srgbClr val="000000"/>
                </a:solidFill>
                <a:latin typeface="Times New Roman" pitchFamily="18" charset="0"/>
                <a:ea typeface="宋体" pitchFamily="2" charset="-122"/>
                <a:cs typeface="Times New Roman" pitchFamily="18" charset="0"/>
              </a:rPr>
              <a:t>= (1, 3, 5, 7, 9). Use bit strings to find the difference of </a:t>
            </a:r>
            <a:r>
              <a:rPr kumimoji="1" lang="en-US" altLang="zh-CN" i="1" dirty="0">
                <a:solidFill>
                  <a:srgbClr val="000000"/>
                </a:solidFill>
                <a:latin typeface="Times New Roman" pitchFamily="18" charset="0"/>
                <a:ea typeface="宋体" pitchFamily="2" charset="-122"/>
                <a:cs typeface="Times New Roman" pitchFamily="18" charset="0"/>
              </a:rPr>
              <a:t>A </a:t>
            </a:r>
            <a:r>
              <a:rPr kumimoji="1" lang="en-US" altLang="zh-CN" dirty="0">
                <a:solidFill>
                  <a:srgbClr val="000000"/>
                </a:solidFill>
                <a:latin typeface="Times New Roman" pitchFamily="18" charset="0"/>
                <a:ea typeface="宋体" pitchFamily="2" charset="-122"/>
                <a:cs typeface="Times New Roman" pitchFamily="18" charset="0"/>
              </a:rPr>
              <a:t>and </a:t>
            </a:r>
            <a:r>
              <a:rPr kumimoji="1" lang="en-US" altLang="zh-CN" i="1" dirty="0">
                <a:solidFill>
                  <a:srgbClr val="000000"/>
                </a:solidFill>
                <a:latin typeface="Times New Roman" pitchFamily="18" charset="0"/>
                <a:ea typeface="宋体" pitchFamily="2" charset="-122"/>
                <a:cs typeface="Times New Roman" pitchFamily="18" charset="0"/>
              </a:rPr>
              <a:t>B</a:t>
            </a:r>
            <a:r>
              <a:rPr kumimoji="1" lang="en-US" altLang="zh-CN" dirty="0">
                <a:solidFill>
                  <a:srgbClr val="000000"/>
                </a:solidFill>
                <a:latin typeface="Times New Roman" pitchFamily="18" charset="0"/>
                <a:ea typeface="宋体" pitchFamily="2" charset="-122"/>
                <a:cs typeface="Times New Roman" pitchFamily="18" charset="0"/>
              </a:rPr>
              <a:t>. </a:t>
            </a:r>
          </a:p>
        </p:txBody>
      </p:sp>
    </p:spTree>
    <p:extLst>
      <p:ext uri="{BB962C8B-B14F-4D97-AF65-F5344CB8AC3E}">
        <p14:creationId xmlns:p14="http://schemas.microsoft.com/office/powerpoint/2010/main" val="2272478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65347">
                                            <p:bg/>
                                          </p:spTgt>
                                        </p:tgtEl>
                                        <p:attrNameLst>
                                          <p:attrName>style.visibility</p:attrName>
                                        </p:attrNameLst>
                                      </p:cBhvr>
                                      <p:to>
                                        <p:strVal val="visible"/>
                                      </p:to>
                                    </p:set>
                                    <p:animEffect transition="in" filter="wipe(up)">
                                      <p:cBhvr>
                                        <p:cTn id="7" dur="500"/>
                                        <p:tgtEl>
                                          <p:spTgt spid="1465347">
                                            <p:bg/>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465347">
                                            <p:txEl>
                                              <p:pRg st="0" end="0"/>
                                            </p:txEl>
                                          </p:spTgt>
                                        </p:tgtEl>
                                        <p:attrNameLst>
                                          <p:attrName>style.visibility</p:attrName>
                                        </p:attrNameLst>
                                      </p:cBhvr>
                                      <p:to>
                                        <p:strVal val="visible"/>
                                      </p:to>
                                    </p:set>
                                    <p:animEffect transition="in" filter="wipe(up)">
                                      <p:cBhvr>
                                        <p:cTn id="11" dur="500"/>
                                        <p:tgtEl>
                                          <p:spTgt spid="146534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465347">
                                            <p:txEl>
                                              <p:pRg st="1" end="1"/>
                                            </p:txEl>
                                          </p:spTgt>
                                        </p:tgtEl>
                                        <p:attrNameLst>
                                          <p:attrName>style.visibility</p:attrName>
                                        </p:attrNameLst>
                                      </p:cBhvr>
                                      <p:to>
                                        <p:strVal val="visible"/>
                                      </p:to>
                                    </p:set>
                                    <p:animEffect transition="in" filter="wipe(up)">
                                      <p:cBhvr>
                                        <p:cTn id="16" dur="500"/>
                                        <p:tgtEl>
                                          <p:spTgt spid="1465347">
                                            <p:txEl>
                                              <p:pRg st="1" end="1"/>
                                            </p:txEl>
                                          </p:spTgt>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1465347">
                                            <p:txEl>
                                              <p:pRg st="2" end="2"/>
                                            </p:txEl>
                                          </p:spTgt>
                                        </p:tgtEl>
                                        <p:attrNameLst>
                                          <p:attrName>style.visibility</p:attrName>
                                        </p:attrNameLst>
                                      </p:cBhvr>
                                      <p:to>
                                        <p:strVal val="visible"/>
                                      </p:to>
                                    </p:set>
                                    <p:animEffect transition="in" filter="wipe(up)">
                                      <p:cBhvr>
                                        <p:cTn id="20" dur="500"/>
                                        <p:tgtEl>
                                          <p:spTgt spid="1465347">
                                            <p:txEl>
                                              <p:pRg st="2" end="2"/>
                                            </p:txEl>
                                          </p:spTgt>
                                        </p:tgtEl>
                                      </p:cBhvr>
                                    </p:animEffect>
                                  </p:childTnLst>
                                </p:cTn>
                              </p:par>
                            </p:childTnLst>
                          </p:cTn>
                        </p:par>
                      </p:childTnLst>
                    </p:cTn>
                  </p:par>
                  <p:par>
                    <p:cTn id="21" fill="hold">
                      <p:stCondLst>
                        <p:cond delay="indefinite"/>
                      </p:stCondLst>
                      <p:childTnLst>
                        <p:par>
                          <p:cTn id="22" fill="hold" nodeType="after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465347">
                                            <p:txEl>
                                              <p:pRg st="3" end="3"/>
                                            </p:txEl>
                                          </p:spTgt>
                                        </p:tgtEl>
                                        <p:attrNameLst>
                                          <p:attrName>style.visibility</p:attrName>
                                        </p:attrNameLst>
                                      </p:cBhvr>
                                      <p:to>
                                        <p:strVal val="visible"/>
                                      </p:to>
                                    </p:set>
                                    <p:animEffect transition="in" filter="wipe(up)">
                                      <p:cBhvr>
                                        <p:cTn id="25" dur="500"/>
                                        <p:tgtEl>
                                          <p:spTgt spid="14653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5347" grpId="0" build="p" bldLvl="2"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Homework</a:t>
            </a:r>
            <a:endParaRPr lang="zh-CN" altLang="en-US" dirty="0"/>
          </a:p>
        </p:txBody>
      </p:sp>
      <p:sp>
        <p:nvSpPr>
          <p:cNvPr id="3" name="内容占位符 2"/>
          <p:cNvSpPr>
            <a:spLocks noGrp="1"/>
          </p:cNvSpPr>
          <p:nvPr>
            <p:ph idx="1"/>
          </p:nvPr>
        </p:nvSpPr>
        <p:spPr/>
        <p:txBody>
          <a:bodyPr/>
          <a:lstStyle/>
          <a:p>
            <a:pPr>
              <a:buNone/>
            </a:pPr>
            <a:r>
              <a:rPr kumimoji="1" lang="zh-CN" altLang="en-US" dirty="0" smtClean="0">
                <a:solidFill>
                  <a:srgbClr val="9900FF"/>
                </a:solidFill>
                <a:latin typeface="Times New Roman" pitchFamily="18" charset="0"/>
                <a:sym typeface="Symbol" pitchFamily="18" charset="2"/>
              </a:rPr>
              <a:t>第</a:t>
            </a:r>
            <a:r>
              <a:rPr kumimoji="1" lang="en-US" altLang="zh-CN" dirty="0" smtClean="0">
                <a:solidFill>
                  <a:srgbClr val="9900FF"/>
                </a:solidFill>
                <a:latin typeface="Times New Roman" pitchFamily="18" charset="0"/>
                <a:sym typeface="Symbol" pitchFamily="18" charset="2"/>
              </a:rPr>
              <a:t>8</a:t>
            </a:r>
            <a:r>
              <a:rPr kumimoji="1" lang="zh-CN" altLang="en-US" dirty="0" smtClean="0">
                <a:solidFill>
                  <a:srgbClr val="9900FF"/>
                </a:solidFill>
                <a:latin typeface="Times New Roman" pitchFamily="18" charset="0"/>
                <a:sym typeface="Symbol" pitchFamily="18" charset="2"/>
              </a:rPr>
              <a:t>版</a:t>
            </a:r>
            <a:r>
              <a:rPr kumimoji="1" lang="zh-CN" altLang="en-US" dirty="0">
                <a:solidFill>
                  <a:srgbClr val="9900FF"/>
                </a:solidFill>
                <a:latin typeface="Times New Roman" pitchFamily="18" charset="0"/>
                <a:sym typeface="Symbol" pitchFamily="18" charset="2"/>
              </a:rPr>
              <a:t>： </a:t>
            </a:r>
            <a:r>
              <a:rPr lang="en-US" altLang="zh-CN" dirty="0" smtClean="0">
                <a:solidFill>
                  <a:srgbClr val="9900FF"/>
                </a:solidFill>
                <a:latin typeface="Times New Roman" panose="02020603050405020304" pitchFamily="18" charset="0"/>
                <a:sym typeface="Symbol" panose="05050102010706020507" pitchFamily="18" charset="2"/>
              </a:rPr>
              <a:t>Sec</a:t>
            </a:r>
            <a:r>
              <a:rPr lang="en-US" altLang="zh-CN" dirty="0">
                <a:solidFill>
                  <a:srgbClr val="9900FF"/>
                </a:solidFill>
                <a:latin typeface="Times New Roman" panose="02020603050405020304" pitchFamily="18" charset="0"/>
                <a:sym typeface="Symbol" panose="05050102010706020507" pitchFamily="18" charset="2"/>
              </a:rPr>
              <a:t>. 2.2  </a:t>
            </a:r>
            <a:r>
              <a:rPr lang="en-US" altLang="zh-CN" dirty="0">
                <a:latin typeface="Times New Roman" panose="02020603050405020304" pitchFamily="18" charset="0"/>
              </a:rPr>
              <a:t>19,  54, 63(c)</a:t>
            </a:r>
          </a:p>
          <a:p>
            <a:pPr>
              <a:buNone/>
            </a:pPr>
            <a:endParaRPr kumimoji="1" lang="en-US" altLang="zh-CN" dirty="0">
              <a:latin typeface="Times New Roman" pitchFamily="18" charset="0"/>
            </a:endParaRPr>
          </a:p>
        </p:txBody>
      </p:sp>
    </p:spTree>
    <p:extLst>
      <p:ext uri="{BB962C8B-B14F-4D97-AF65-F5344CB8AC3E}">
        <p14:creationId xmlns:p14="http://schemas.microsoft.com/office/powerpoint/2010/main" val="65218728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Functions</a:t>
            </a:r>
            <a:endParaRPr lang="en-US" dirty="0"/>
          </a:p>
        </p:txBody>
      </p:sp>
      <p:sp>
        <p:nvSpPr>
          <p:cNvPr id="3" name="Subtitle 2"/>
          <p:cNvSpPr>
            <a:spLocks noGrp="1"/>
          </p:cNvSpPr>
          <p:nvPr>
            <p:ph type="subTitle" idx="1"/>
          </p:nvPr>
        </p:nvSpPr>
        <p:spPr/>
        <p:txBody>
          <a:bodyPr/>
          <a:lstStyle/>
          <a:p>
            <a:r>
              <a:rPr lang="en-US" dirty="0" smtClean="0"/>
              <a:t>Section 2.3</a:t>
            </a:r>
            <a:endParaRPr lang="en-US" dirty="0"/>
          </a:p>
        </p:txBody>
      </p:sp>
    </p:spTree>
    <p:extLst>
      <p:ext uri="{BB962C8B-B14F-4D97-AF65-F5344CB8AC3E}">
        <p14:creationId xmlns:p14="http://schemas.microsoft.com/office/powerpoint/2010/main" val="118941536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a:xfrm>
            <a:off x="457200" y="1935480"/>
            <a:ext cx="8534400" cy="4389120"/>
          </a:xfrm>
        </p:spPr>
        <p:txBody>
          <a:bodyPr>
            <a:normAutofit/>
          </a:bodyPr>
          <a:lstStyle/>
          <a:p>
            <a:r>
              <a:rPr lang="en-US" dirty="0" smtClean="0"/>
              <a:t>Definition of a Function.</a:t>
            </a:r>
          </a:p>
          <a:p>
            <a:pPr lvl="1"/>
            <a:r>
              <a:rPr lang="en-US" dirty="0" smtClean="0"/>
              <a:t>Domain</a:t>
            </a:r>
            <a:r>
              <a:rPr lang="zh-CN" altLang="en-US" sz="2000" dirty="0" smtClean="0"/>
              <a:t>（定义域）</a:t>
            </a:r>
            <a:r>
              <a:rPr lang="en-US" dirty="0" smtClean="0"/>
              <a:t>, Codomain</a:t>
            </a:r>
            <a:r>
              <a:rPr lang="zh-CN" altLang="en-US" sz="2000" dirty="0" smtClean="0"/>
              <a:t>（陪域）</a:t>
            </a:r>
            <a:endParaRPr lang="en-US" dirty="0" smtClean="0"/>
          </a:p>
          <a:p>
            <a:pPr lvl="1"/>
            <a:r>
              <a:rPr lang="en-US" dirty="0" smtClean="0"/>
              <a:t>Image</a:t>
            </a:r>
            <a:r>
              <a:rPr lang="zh-CN" altLang="en-US" sz="2000" dirty="0" smtClean="0"/>
              <a:t>（像）</a:t>
            </a:r>
            <a:r>
              <a:rPr lang="en-US" dirty="0" smtClean="0"/>
              <a:t>, Preimage</a:t>
            </a:r>
            <a:r>
              <a:rPr lang="zh-CN" altLang="en-US" dirty="0"/>
              <a:t> </a:t>
            </a:r>
            <a:r>
              <a:rPr lang="zh-CN" altLang="en-US" sz="2000" dirty="0" smtClean="0"/>
              <a:t>（原像</a:t>
            </a:r>
            <a:r>
              <a:rPr lang="zh-CN" altLang="en-US" sz="2000" dirty="0"/>
              <a:t>）</a:t>
            </a:r>
            <a:endParaRPr lang="en-US" dirty="0" smtClean="0"/>
          </a:p>
          <a:p>
            <a:r>
              <a:rPr lang="en-US" dirty="0" smtClean="0"/>
              <a:t>Injection</a:t>
            </a:r>
            <a:r>
              <a:rPr lang="zh-CN" altLang="en-US" sz="2400" dirty="0" smtClean="0"/>
              <a:t>（单射）</a:t>
            </a:r>
            <a:r>
              <a:rPr lang="en-US" dirty="0" smtClean="0"/>
              <a:t>, Surjection</a:t>
            </a:r>
            <a:r>
              <a:rPr lang="zh-CN" altLang="en-US" sz="2400" dirty="0" smtClean="0"/>
              <a:t>（满射）</a:t>
            </a:r>
            <a:r>
              <a:rPr lang="en-US" dirty="0" smtClean="0"/>
              <a:t>, Bijection</a:t>
            </a:r>
            <a:r>
              <a:rPr lang="zh-CN" altLang="en-US" sz="2400" dirty="0" smtClean="0"/>
              <a:t>（双射</a:t>
            </a:r>
            <a:r>
              <a:rPr lang="zh-CN" altLang="en-US" sz="2400" dirty="0"/>
              <a:t>）</a:t>
            </a:r>
            <a:endParaRPr lang="en-US" dirty="0" smtClean="0"/>
          </a:p>
          <a:p>
            <a:r>
              <a:rPr lang="en-US" dirty="0" smtClean="0"/>
              <a:t>Inverse Function</a:t>
            </a:r>
            <a:r>
              <a:rPr lang="zh-CN" altLang="en-US" sz="2400" dirty="0" smtClean="0"/>
              <a:t>（反函数）</a:t>
            </a:r>
            <a:endParaRPr lang="en-US" sz="2400" dirty="0" smtClean="0"/>
          </a:p>
          <a:p>
            <a:r>
              <a:rPr lang="en-US" dirty="0" smtClean="0"/>
              <a:t>Function Composition</a:t>
            </a:r>
            <a:r>
              <a:rPr lang="zh-CN" altLang="en-US" sz="2400" dirty="0" smtClean="0"/>
              <a:t>（函数组合）</a:t>
            </a:r>
            <a:endParaRPr lang="en-US" sz="2400" dirty="0" smtClean="0"/>
          </a:p>
          <a:p>
            <a:r>
              <a:rPr lang="en-US" dirty="0" smtClean="0"/>
              <a:t>Graphing Functions</a:t>
            </a:r>
          </a:p>
          <a:p>
            <a:r>
              <a:rPr lang="en-US" dirty="0" smtClean="0"/>
              <a:t>Floor, Ceiling, Factorial</a:t>
            </a:r>
          </a:p>
          <a:p>
            <a:r>
              <a:rPr lang="en-US" dirty="0" smtClean="0"/>
              <a:t>Partial Functions (optional)</a:t>
            </a:r>
          </a:p>
        </p:txBody>
      </p:sp>
    </p:spTree>
    <p:extLst>
      <p:ext uri="{BB962C8B-B14F-4D97-AF65-F5344CB8AC3E}">
        <p14:creationId xmlns:p14="http://schemas.microsoft.com/office/powerpoint/2010/main" val="280196681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  Definition</a:t>
            </a:r>
            <a:r>
              <a:rPr lang="en-US" dirty="0" smtClean="0"/>
              <a:t>: Let </a:t>
            </a:r>
            <a:r>
              <a:rPr lang="en-US" i="1" dirty="0" smtClean="0"/>
              <a:t>A</a:t>
            </a:r>
            <a:r>
              <a:rPr lang="en-US" dirty="0" smtClean="0"/>
              <a:t> and </a:t>
            </a:r>
            <a:r>
              <a:rPr lang="en-US" i="1" dirty="0" smtClean="0"/>
              <a:t>B </a:t>
            </a:r>
            <a:r>
              <a:rPr lang="en-US" dirty="0" smtClean="0"/>
              <a:t>be nonempty sets. A </a:t>
            </a:r>
            <a:r>
              <a:rPr lang="en-US" i="1" dirty="0" smtClean="0"/>
              <a:t>function</a:t>
            </a:r>
            <a:r>
              <a:rPr lang="en-US" dirty="0" smtClean="0"/>
              <a:t> </a:t>
            </a:r>
            <a:r>
              <a:rPr lang="en-US" sz="2000" dirty="0" smtClean="0">
                <a:latin typeface="Lucida Calligraphy"/>
              </a:rPr>
              <a:t>f</a:t>
            </a:r>
            <a:r>
              <a:rPr lang="en-US" dirty="0" smtClean="0">
                <a:latin typeface="Lucida Calligraphy"/>
              </a:rPr>
              <a:t>  </a:t>
            </a:r>
            <a:r>
              <a:rPr lang="en-US" dirty="0" smtClean="0"/>
              <a:t>from </a:t>
            </a:r>
            <a:r>
              <a:rPr lang="en-US" i="1" dirty="0" smtClean="0"/>
              <a:t>A</a:t>
            </a:r>
            <a:r>
              <a:rPr lang="en-US" dirty="0" smtClean="0"/>
              <a:t> to </a:t>
            </a:r>
            <a:r>
              <a:rPr lang="en-US" i="1" dirty="0" smtClean="0"/>
              <a:t>B</a:t>
            </a:r>
            <a:r>
              <a:rPr lang="en-US" dirty="0" smtClean="0"/>
              <a:t>, denoted </a:t>
            </a:r>
            <a:r>
              <a:rPr lang="en-US" dirty="0" smtClean="0">
                <a:latin typeface="Lucida Calligraphy" pitchFamily="66" charset="0"/>
              </a:rPr>
              <a:t> </a:t>
            </a:r>
            <a:r>
              <a:rPr lang="en-US" sz="2000" dirty="0" smtClean="0">
                <a:latin typeface="Lucida Calligraphy"/>
              </a:rPr>
              <a:t>f</a:t>
            </a:r>
            <a:r>
              <a:rPr lang="en-US" dirty="0" smtClean="0">
                <a:latin typeface="Cambria Math" pitchFamily="18" charset="0"/>
                <a:ea typeface="Cambria Math" pitchFamily="18" charset="0"/>
              </a:rPr>
              <a:t>: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sym typeface="Wingdings" pitchFamily="2" charset="2"/>
              </a:rPr>
              <a:t>→</a:t>
            </a:r>
            <a:r>
              <a:rPr lang="en-US" dirty="0" smtClean="0">
                <a:latin typeface="Cambria Math" pitchFamily="18" charset="0"/>
                <a:ea typeface="Cambria Math" pitchFamily="18" charset="0"/>
                <a:sym typeface="Wingdings" pitchFamily="2" charset="2"/>
              </a:rPr>
              <a:t> </a:t>
            </a:r>
            <a:r>
              <a:rPr lang="en-US" i="1" dirty="0" smtClean="0">
                <a:ea typeface="Cambria Math" pitchFamily="18" charset="0"/>
                <a:sym typeface="Wingdings" pitchFamily="2" charset="2"/>
              </a:rPr>
              <a:t>B</a:t>
            </a:r>
            <a:r>
              <a:rPr lang="en-US" b="1" dirty="0" smtClean="0">
                <a:latin typeface="Cambria Math" pitchFamily="18" charset="0"/>
                <a:ea typeface="Cambria Math" pitchFamily="18" charset="0"/>
                <a:sym typeface="Wingdings" pitchFamily="2" charset="2"/>
              </a:rPr>
              <a:t> </a:t>
            </a:r>
            <a:r>
              <a:rPr lang="en-US" dirty="0" smtClean="0">
                <a:latin typeface="Cambria Math" pitchFamily="18" charset="0"/>
                <a:ea typeface="Cambria Math" pitchFamily="18" charset="0"/>
                <a:sym typeface="Wingdings" pitchFamily="2" charset="2"/>
              </a:rPr>
              <a:t>is an assignment of each element of </a:t>
            </a:r>
            <a:r>
              <a:rPr lang="en-US" i="1" dirty="0" smtClean="0">
                <a:ea typeface="Cambria Math" pitchFamily="18" charset="0"/>
                <a:sym typeface="Wingdings" pitchFamily="2" charset="2"/>
              </a:rPr>
              <a:t>A</a:t>
            </a:r>
            <a:r>
              <a:rPr lang="en-US" dirty="0" smtClean="0">
                <a:latin typeface="Cambria Math" pitchFamily="18" charset="0"/>
                <a:ea typeface="Cambria Math" pitchFamily="18" charset="0"/>
                <a:sym typeface="Wingdings" pitchFamily="2" charset="2"/>
              </a:rPr>
              <a:t> to exactly one element of </a:t>
            </a:r>
            <a:r>
              <a:rPr lang="en-US" i="1" dirty="0" smtClean="0">
                <a:ea typeface="Cambria Math" pitchFamily="18" charset="0"/>
                <a:sym typeface="Wingdings" pitchFamily="2" charset="2"/>
              </a:rPr>
              <a:t>B</a:t>
            </a:r>
            <a:r>
              <a:rPr lang="en-US" dirty="0" smtClean="0">
                <a:latin typeface="Cambria Math" pitchFamily="18" charset="0"/>
                <a:ea typeface="Cambria Math" pitchFamily="18" charset="0"/>
                <a:sym typeface="Wingdings" pitchFamily="2" charset="2"/>
              </a:rPr>
              <a:t>.  We write</a:t>
            </a:r>
            <a:r>
              <a:rPr lang="en-US" dirty="0" smtClean="0">
                <a:sym typeface="Wingdings" pitchFamily="2" charset="2"/>
              </a:rPr>
              <a:t>  </a:t>
            </a:r>
            <a:r>
              <a:rPr lang="en-US" sz="2000" dirty="0" smtClean="0">
                <a:latin typeface="Lucida Calligraphy"/>
              </a:rPr>
              <a:t>f</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b</a:t>
            </a:r>
            <a:r>
              <a:rPr lang="en-US" b="1" dirty="0" smtClean="0">
                <a:latin typeface="Cambria Math" pitchFamily="18" charset="0"/>
                <a:ea typeface="Cambria Math" pitchFamily="18" charset="0"/>
                <a:sym typeface="Wingdings" pitchFamily="2" charset="2"/>
              </a:rPr>
              <a:t>  </a:t>
            </a:r>
            <a:r>
              <a:rPr lang="en-US" dirty="0" smtClean="0">
                <a:latin typeface="Cambria Math" pitchFamily="18" charset="0"/>
                <a:ea typeface="Cambria Math" pitchFamily="18" charset="0"/>
                <a:sym typeface="Wingdings" pitchFamily="2" charset="2"/>
              </a:rPr>
              <a:t>if </a:t>
            </a:r>
            <a:r>
              <a:rPr lang="en-US" i="1" dirty="0" smtClean="0">
                <a:latin typeface="Cambria Math" pitchFamily="18" charset="0"/>
                <a:ea typeface="Cambria Math" pitchFamily="18" charset="0"/>
                <a:sym typeface="Wingdings" pitchFamily="2" charset="2"/>
              </a:rPr>
              <a:t>b</a:t>
            </a:r>
            <a:r>
              <a:rPr lang="en-US" dirty="0" smtClean="0">
                <a:latin typeface="Cambria Math" pitchFamily="18" charset="0"/>
                <a:ea typeface="Cambria Math" pitchFamily="18" charset="0"/>
                <a:sym typeface="Wingdings" pitchFamily="2" charset="2"/>
              </a:rPr>
              <a:t> is the unique element of </a:t>
            </a:r>
            <a:r>
              <a:rPr lang="en-US" i="1" dirty="0" smtClean="0">
                <a:ea typeface="Cambria Math" pitchFamily="18" charset="0"/>
                <a:sym typeface="Wingdings" pitchFamily="2" charset="2"/>
              </a:rPr>
              <a:t>B</a:t>
            </a:r>
            <a:r>
              <a:rPr lang="en-US" dirty="0" smtClean="0">
                <a:latin typeface="Cambria Math" pitchFamily="18" charset="0"/>
                <a:ea typeface="Cambria Math" pitchFamily="18" charset="0"/>
                <a:sym typeface="Wingdings" pitchFamily="2" charset="2"/>
              </a:rPr>
              <a:t> assigned by the function </a:t>
            </a:r>
            <a:r>
              <a:rPr lang="en-US" sz="2000" dirty="0" smtClean="0">
                <a:latin typeface="Lucida Calligraphy"/>
              </a:rPr>
              <a:t>f</a:t>
            </a:r>
            <a:r>
              <a:rPr lang="en-US" dirty="0" smtClean="0">
                <a:latin typeface="Cambria Math" pitchFamily="18" charset="0"/>
                <a:ea typeface="Cambria Math" pitchFamily="18" charset="0"/>
                <a:sym typeface="Wingdings" pitchFamily="2" charset="2"/>
              </a:rPr>
              <a:t> to the element </a:t>
            </a:r>
            <a:r>
              <a:rPr lang="en-US" i="1" dirty="0" smtClean="0">
                <a:ea typeface="Cambria Math" pitchFamily="18" charset="0"/>
                <a:sym typeface="Wingdings" pitchFamily="2" charset="2"/>
              </a:rPr>
              <a:t>a</a:t>
            </a:r>
            <a:r>
              <a:rPr lang="en-US" dirty="0" smtClean="0">
                <a:latin typeface="Cambria Math" pitchFamily="18" charset="0"/>
                <a:ea typeface="Cambria Math" pitchFamily="18" charset="0"/>
                <a:sym typeface="Wingdings" pitchFamily="2" charset="2"/>
              </a:rPr>
              <a:t> of </a:t>
            </a:r>
            <a:r>
              <a:rPr lang="en-US" i="1" dirty="0" smtClean="0">
                <a:ea typeface="Cambria Math" pitchFamily="18" charset="0"/>
                <a:sym typeface="Wingdings" pitchFamily="2" charset="2"/>
              </a:rPr>
              <a:t>A</a:t>
            </a:r>
            <a:r>
              <a:rPr lang="en-US" dirty="0" smtClean="0">
                <a:latin typeface="Cambria Math" pitchFamily="18" charset="0"/>
                <a:ea typeface="Cambria Math" pitchFamily="18" charset="0"/>
                <a:sym typeface="Wingdings" pitchFamily="2" charset="2"/>
              </a:rPr>
              <a:t>. </a:t>
            </a:r>
          </a:p>
          <a:p>
            <a:pPr>
              <a:buNone/>
            </a:pPr>
            <a:r>
              <a:rPr kumimoji="1" lang="en-US" altLang="zh-CN" dirty="0" smtClean="0">
                <a:effectLst>
                  <a:outerShdw blurRad="38100" dist="38100" dir="2700000" algn="tl">
                    <a:srgbClr val="C0C0C0"/>
                  </a:outerShdw>
                </a:effectLst>
                <a:latin typeface="Symbol" pitchFamily="18" charset="2"/>
                <a:ea typeface="宋体" pitchFamily="2" charset="-122"/>
                <a:sym typeface="Symbol" pitchFamily="18" charset="2"/>
              </a:rPr>
              <a:t>       "</a:t>
            </a:r>
            <a:r>
              <a:rPr kumimoji="1" lang="en-US" altLang="zh-CN" i="1" dirty="0">
                <a:effectLst>
                  <a:outerShdw blurRad="38100" dist="38100" dir="2700000" algn="tl">
                    <a:srgbClr val="C0C0C0"/>
                  </a:outerShdw>
                </a:effectLst>
                <a:latin typeface="Times New Roman" pitchFamily="18" charset="0"/>
                <a:ea typeface="宋体" pitchFamily="2" charset="-122"/>
                <a:sym typeface="Symbol" pitchFamily="18" charset="2"/>
              </a:rPr>
              <a:t>a</a:t>
            </a:r>
            <a:r>
              <a:rPr kumimoji="1" lang="en-US" altLang="zh-CN" dirty="0">
                <a:effectLst>
                  <a:outerShdw blurRad="38100" dist="38100" dir="2700000" algn="tl">
                    <a:srgbClr val="C0C0C0"/>
                  </a:outerShdw>
                </a:effectLst>
                <a:latin typeface="Times New Roman" pitchFamily="18" charset="0"/>
                <a:ea typeface="宋体" pitchFamily="2" charset="-122"/>
                <a:sym typeface="Symbol" pitchFamily="18" charset="2"/>
              </a:rPr>
              <a:t>(</a:t>
            </a:r>
            <a:r>
              <a:rPr kumimoji="1" lang="en-US" altLang="zh-CN" i="1" dirty="0">
                <a:effectLst>
                  <a:outerShdw blurRad="38100" dist="38100" dir="2700000" algn="tl">
                    <a:srgbClr val="C0C0C0"/>
                  </a:outerShdw>
                </a:effectLst>
                <a:latin typeface="Times New Roman" pitchFamily="18" charset="0"/>
                <a:ea typeface="宋体" pitchFamily="2" charset="-122"/>
                <a:sym typeface="Symbol" pitchFamily="18" charset="2"/>
              </a:rPr>
              <a:t>a </a:t>
            </a:r>
            <a:r>
              <a:rPr kumimoji="1" lang="en-US" altLang="zh-CN" dirty="0">
                <a:effectLst>
                  <a:outerShdw blurRad="38100" dist="38100" dir="2700000" algn="tl">
                    <a:srgbClr val="C0C0C0"/>
                  </a:outerShdw>
                </a:effectLst>
                <a:latin typeface="Symbol" pitchFamily="18" charset="2"/>
                <a:ea typeface="宋体" pitchFamily="2" charset="-122"/>
                <a:sym typeface="Symbol" pitchFamily="18" charset="2"/>
              </a:rPr>
              <a:t>Î</a:t>
            </a:r>
            <a:r>
              <a:rPr kumimoji="1" lang="en-US" altLang="zh-CN" i="1" dirty="0">
                <a:effectLst>
                  <a:outerShdw blurRad="38100" dist="38100" dir="2700000" algn="tl">
                    <a:srgbClr val="C0C0C0"/>
                  </a:outerShdw>
                </a:effectLst>
                <a:latin typeface="Times New Roman" pitchFamily="18" charset="0"/>
                <a:ea typeface="宋体" pitchFamily="2" charset="-122"/>
                <a:sym typeface="Symbol" pitchFamily="18" charset="2"/>
              </a:rPr>
              <a:t>A </a:t>
            </a:r>
            <a:r>
              <a:rPr kumimoji="1" lang="en-US" altLang="zh-CN" dirty="0">
                <a:effectLst>
                  <a:outerShdw blurRad="38100" dist="38100" dir="2700000" algn="tl">
                    <a:srgbClr val="C0C0C0"/>
                  </a:outerShdw>
                </a:effectLst>
                <a:latin typeface="Symbol" pitchFamily="18" charset="2"/>
                <a:ea typeface="宋体" pitchFamily="2" charset="-122"/>
                <a:sym typeface="Symbol" pitchFamily="18" charset="2"/>
              </a:rPr>
              <a:t>®</a:t>
            </a:r>
            <a:r>
              <a:rPr kumimoji="1" lang="en-US" altLang="zh-CN" dirty="0">
                <a:effectLst>
                  <a:outerShdw blurRad="38100" dist="38100" dir="2700000" algn="tl">
                    <a:srgbClr val="C0C0C0"/>
                  </a:outerShdw>
                </a:effectLst>
                <a:latin typeface="Times New Roman" pitchFamily="18" charset="0"/>
                <a:ea typeface="宋体" pitchFamily="2" charset="-122"/>
                <a:sym typeface="Symbol" pitchFamily="18" charset="2"/>
              </a:rPr>
              <a:t> </a:t>
            </a:r>
            <a:r>
              <a:rPr kumimoji="1" lang="en-US" altLang="zh-CN" dirty="0">
                <a:effectLst>
                  <a:outerShdw blurRad="38100" dist="38100" dir="2700000" algn="tl">
                    <a:srgbClr val="C0C0C0"/>
                  </a:outerShdw>
                </a:effectLst>
                <a:latin typeface="Symbol" pitchFamily="18" charset="2"/>
                <a:ea typeface="宋体" pitchFamily="2" charset="-122"/>
                <a:sym typeface="Symbol" pitchFamily="18" charset="2"/>
              </a:rPr>
              <a:t>$!</a:t>
            </a:r>
            <a:r>
              <a:rPr kumimoji="1" lang="en-US" altLang="zh-CN" i="1" dirty="0">
                <a:effectLst>
                  <a:outerShdw blurRad="38100" dist="38100" dir="2700000" algn="tl">
                    <a:srgbClr val="C0C0C0"/>
                  </a:outerShdw>
                </a:effectLst>
                <a:latin typeface="Times New Roman" pitchFamily="18" charset="0"/>
                <a:ea typeface="宋体" pitchFamily="2" charset="-122"/>
                <a:sym typeface="Symbol" pitchFamily="18" charset="2"/>
              </a:rPr>
              <a:t>b </a:t>
            </a:r>
            <a:r>
              <a:rPr kumimoji="1" lang="en-US" altLang="zh-CN" dirty="0">
                <a:effectLst>
                  <a:outerShdw blurRad="38100" dist="38100" dir="2700000" algn="tl">
                    <a:srgbClr val="C0C0C0"/>
                  </a:outerShdw>
                </a:effectLst>
                <a:latin typeface="Times New Roman" pitchFamily="18" charset="0"/>
                <a:ea typeface="宋体" pitchFamily="2" charset="-122"/>
                <a:sym typeface="Symbol" pitchFamily="18" charset="2"/>
              </a:rPr>
              <a:t>(</a:t>
            </a:r>
            <a:r>
              <a:rPr kumimoji="1" lang="en-US" altLang="zh-CN" i="1" dirty="0">
                <a:effectLst>
                  <a:outerShdw blurRad="38100" dist="38100" dir="2700000" algn="tl">
                    <a:srgbClr val="C0C0C0"/>
                  </a:outerShdw>
                </a:effectLst>
                <a:latin typeface="Times New Roman" pitchFamily="18" charset="0"/>
                <a:ea typeface="宋体" pitchFamily="2" charset="-122"/>
                <a:sym typeface="Symbol" pitchFamily="18" charset="2"/>
              </a:rPr>
              <a:t>b </a:t>
            </a:r>
            <a:r>
              <a:rPr kumimoji="1" lang="en-US" altLang="zh-CN" dirty="0">
                <a:effectLst>
                  <a:outerShdw blurRad="38100" dist="38100" dir="2700000" algn="tl">
                    <a:srgbClr val="C0C0C0"/>
                  </a:outerShdw>
                </a:effectLst>
                <a:latin typeface="Symbol" pitchFamily="18" charset="2"/>
                <a:ea typeface="宋体" pitchFamily="2" charset="-122"/>
                <a:sym typeface="Symbol" pitchFamily="18" charset="2"/>
              </a:rPr>
              <a:t>Î</a:t>
            </a:r>
            <a:r>
              <a:rPr kumimoji="1" lang="en-US" altLang="zh-CN" i="1" dirty="0">
                <a:effectLst>
                  <a:outerShdw blurRad="38100" dist="38100" dir="2700000" algn="tl">
                    <a:srgbClr val="C0C0C0"/>
                  </a:outerShdw>
                </a:effectLst>
                <a:latin typeface="Times New Roman" pitchFamily="18" charset="0"/>
                <a:ea typeface="宋体" pitchFamily="2" charset="-122"/>
                <a:sym typeface="Symbol" pitchFamily="18" charset="2"/>
              </a:rPr>
              <a:t>B </a:t>
            </a:r>
            <a:r>
              <a:rPr kumimoji="1" lang="en-US" altLang="zh-CN" dirty="0">
                <a:effectLst>
                  <a:outerShdw blurRad="38100" dist="38100" dir="2700000" algn="tl">
                    <a:srgbClr val="C0C0C0"/>
                  </a:outerShdw>
                </a:effectLst>
                <a:latin typeface="Symbol" pitchFamily="18" charset="2"/>
                <a:ea typeface="宋体" pitchFamily="2" charset="-122"/>
                <a:sym typeface="Symbol" pitchFamily="18" charset="2"/>
              </a:rPr>
              <a:t>Ù </a:t>
            </a:r>
            <a:r>
              <a:rPr kumimoji="1" lang="en-US" altLang="zh-CN" i="1" dirty="0">
                <a:effectLst>
                  <a:outerShdw blurRad="38100" dist="38100" dir="2700000" algn="tl">
                    <a:srgbClr val="C0C0C0"/>
                  </a:outerShdw>
                </a:effectLst>
                <a:latin typeface="Times New Roman" pitchFamily="18" charset="0"/>
                <a:ea typeface="宋体" pitchFamily="2" charset="-122"/>
                <a:sym typeface="Symbol" pitchFamily="18" charset="2"/>
              </a:rPr>
              <a:t>f </a:t>
            </a:r>
            <a:r>
              <a:rPr kumimoji="1" lang="en-US" altLang="zh-CN" dirty="0">
                <a:effectLst>
                  <a:outerShdw blurRad="38100" dist="38100" dir="2700000" algn="tl">
                    <a:srgbClr val="C0C0C0"/>
                  </a:outerShdw>
                </a:effectLst>
                <a:latin typeface="Times New Roman" pitchFamily="18" charset="0"/>
                <a:ea typeface="宋体" pitchFamily="2" charset="-122"/>
                <a:sym typeface="Symbol" pitchFamily="18" charset="2"/>
              </a:rPr>
              <a:t>(</a:t>
            </a:r>
            <a:r>
              <a:rPr kumimoji="1" lang="en-US" altLang="zh-CN" i="1" dirty="0">
                <a:effectLst>
                  <a:outerShdw blurRad="38100" dist="38100" dir="2700000" algn="tl">
                    <a:srgbClr val="C0C0C0"/>
                  </a:outerShdw>
                </a:effectLst>
                <a:latin typeface="Times New Roman" pitchFamily="18" charset="0"/>
                <a:ea typeface="宋体" pitchFamily="2" charset="-122"/>
                <a:sym typeface="Symbol" pitchFamily="18" charset="2"/>
              </a:rPr>
              <a:t>a</a:t>
            </a:r>
            <a:r>
              <a:rPr kumimoji="1" lang="en-US" altLang="zh-CN" dirty="0">
                <a:effectLst>
                  <a:outerShdw blurRad="38100" dist="38100" dir="2700000" algn="tl">
                    <a:srgbClr val="C0C0C0"/>
                  </a:outerShdw>
                </a:effectLst>
                <a:latin typeface="Times New Roman" pitchFamily="18" charset="0"/>
                <a:ea typeface="宋体" pitchFamily="2" charset="-122"/>
                <a:sym typeface="Symbol" pitchFamily="18" charset="2"/>
              </a:rPr>
              <a:t>)=</a:t>
            </a:r>
            <a:r>
              <a:rPr kumimoji="1" lang="en-US" altLang="zh-CN" i="1" dirty="0">
                <a:effectLst>
                  <a:outerShdw blurRad="38100" dist="38100" dir="2700000" algn="tl">
                    <a:srgbClr val="C0C0C0"/>
                  </a:outerShdw>
                </a:effectLst>
                <a:latin typeface="Times New Roman" pitchFamily="18" charset="0"/>
                <a:ea typeface="宋体" pitchFamily="2" charset="-122"/>
                <a:sym typeface="Symbol" pitchFamily="18" charset="2"/>
              </a:rPr>
              <a:t>b</a:t>
            </a:r>
            <a:r>
              <a:rPr kumimoji="1" lang="en-US" altLang="zh-CN" dirty="0">
                <a:effectLst>
                  <a:outerShdw blurRad="38100" dist="38100" dir="2700000" algn="tl">
                    <a:srgbClr val="C0C0C0"/>
                  </a:outerShdw>
                </a:effectLst>
                <a:latin typeface="Times New Roman" pitchFamily="18" charset="0"/>
                <a:ea typeface="宋体" pitchFamily="2" charset="-122"/>
                <a:sym typeface="Symbol" pitchFamily="18" charset="2"/>
              </a:rPr>
              <a:t>))</a:t>
            </a:r>
            <a:r>
              <a:rPr kumimoji="1" lang="en-US" altLang="zh-CN" dirty="0">
                <a:effectLst>
                  <a:outerShdw blurRad="38100" dist="38100" dir="2700000" algn="tl">
                    <a:srgbClr val="C0C0C0"/>
                  </a:outerShdw>
                </a:effectLst>
                <a:latin typeface="Times New Roman" pitchFamily="18" charset="0"/>
                <a:ea typeface="黑体" pitchFamily="49" charset="-122"/>
                <a:sym typeface="Symbol" pitchFamily="18" charset="2"/>
              </a:rPr>
              <a:t> </a:t>
            </a:r>
            <a:endParaRPr lang="en-US" dirty="0" smtClean="0">
              <a:latin typeface="Cambria Math" pitchFamily="18" charset="0"/>
              <a:ea typeface="Cambria Math" pitchFamily="18" charset="0"/>
              <a:sym typeface="Wingdings" pitchFamily="2" charset="2"/>
            </a:endParaRPr>
          </a:p>
          <a:p>
            <a:r>
              <a:rPr lang="en-US" dirty="0" smtClean="0">
                <a:latin typeface="Cambria Math" pitchFamily="18" charset="0"/>
                <a:ea typeface="Cambria Math" pitchFamily="18" charset="0"/>
                <a:sym typeface="Wingdings" pitchFamily="2" charset="2"/>
              </a:rPr>
              <a:t>Functions are sometimes</a:t>
            </a:r>
          </a:p>
          <a:p>
            <a:pPr>
              <a:buNone/>
            </a:pPr>
            <a:r>
              <a:rPr lang="en-US" dirty="0" smtClean="0">
                <a:latin typeface="Cambria Math" pitchFamily="18" charset="0"/>
                <a:ea typeface="Cambria Math" pitchFamily="18" charset="0"/>
                <a:sym typeface="Wingdings" pitchFamily="2" charset="2"/>
              </a:rPr>
              <a:t>     called </a:t>
            </a:r>
            <a:r>
              <a:rPr lang="en-US" i="1" dirty="0" smtClean="0">
                <a:ea typeface="Cambria Math" pitchFamily="18" charset="0"/>
                <a:sym typeface="Wingdings" pitchFamily="2" charset="2"/>
              </a:rPr>
              <a:t>mappings</a:t>
            </a:r>
            <a:r>
              <a:rPr lang="en-US" dirty="0" smtClean="0">
                <a:latin typeface="Cambria Math" pitchFamily="18" charset="0"/>
                <a:ea typeface="Cambria Math" pitchFamily="18" charset="0"/>
                <a:sym typeface="Wingdings" pitchFamily="2" charset="2"/>
              </a:rPr>
              <a:t> or </a:t>
            </a:r>
          </a:p>
          <a:p>
            <a:pPr>
              <a:buNone/>
            </a:pPr>
            <a:r>
              <a:rPr lang="en-US" dirty="0" smtClean="0">
                <a:latin typeface="Cambria Math" pitchFamily="18" charset="0"/>
                <a:ea typeface="Cambria Math" pitchFamily="18" charset="0"/>
                <a:sym typeface="Wingdings" pitchFamily="2" charset="2"/>
              </a:rPr>
              <a:t>     </a:t>
            </a:r>
            <a:r>
              <a:rPr lang="en-US" i="1" dirty="0" smtClean="0">
                <a:ea typeface="Cambria Math" pitchFamily="18" charset="0"/>
                <a:sym typeface="Wingdings" pitchFamily="2" charset="2"/>
              </a:rPr>
              <a:t>transformations</a:t>
            </a:r>
            <a:r>
              <a:rPr lang="en-US" dirty="0" smtClean="0">
                <a:latin typeface="Cambria Math" pitchFamily="18" charset="0"/>
                <a:ea typeface="Cambria Math" pitchFamily="18" charset="0"/>
                <a:sym typeface="Wingdings" pitchFamily="2" charset="2"/>
              </a:rPr>
              <a:t>.</a:t>
            </a:r>
            <a:endParaRPr lang="en-US" b="1" dirty="0" smtClean="0">
              <a:latin typeface="Cambria Math" pitchFamily="18" charset="0"/>
              <a:ea typeface="Cambria Math" pitchFamily="18" charset="0"/>
              <a:sym typeface="Wingdings" pitchFamily="2" charset="2"/>
            </a:endParaRPr>
          </a:p>
          <a:p>
            <a:pPr>
              <a:buNone/>
            </a:pPr>
            <a:r>
              <a:rPr lang="en-US" dirty="0" smtClean="0">
                <a:latin typeface="Cambria Math" pitchFamily="18" charset="0"/>
                <a:ea typeface="Cambria Math" pitchFamily="18" charset="0"/>
                <a:sym typeface="Wingdings" pitchFamily="2" charset="2"/>
              </a:rPr>
              <a:t> </a:t>
            </a:r>
          </a:p>
          <a:p>
            <a:pPr>
              <a:buNone/>
            </a:pPr>
            <a:endParaRPr lang="en-US" dirty="0" smtClean="0">
              <a:latin typeface="Cambria Math" pitchFamily="18" charset="0"/>
              <a:ea typeface="Cambria Math" pitchFamily="18" charset="0"/>
              <a:sym typeface="Wingdings" pitchFamily="2" charset="2"/>
            </a:endParaRPr>
          </a:p>
        </p:txBody>
      </p:sp>
      <p:sp>
        <p:nvSpPr>
          <p:cNvPr id="5" name="Flowchart: Connector 4"/>
          <p:cNvSpPr/>
          <p:nvPr/>
        </p:nvSpPr>
        <p:spPr>
          <a:xfrm>
            <a:off x="6629400" y="51054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p:cNvSpPr/>
          <p:nvPr/>
        </p:nvSpPr>
        <p:spPr>
          <a:xfrm>
            <a:off x="6629400" y="57150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p:cNvSpPr/>
          <p:nvPr/>
        </p:nvSpPr>
        <p:spPr>
          <a:xfrm>
            <a:off x="6629400" y="44196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6705600" y="62484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8077200" y="41910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p:cNvSpPr/>
          <p:nvPr/>
        </p:nvSpPr>
        <p:spPr>
          <a:xfrm>
            <a:off x="8077200" y="51816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8458200" y="4114800"/>
            <a:ext cx="203200" cy="369332"/>
          </a:xfrm>
          <a:prstGeom prst="rect">
            <a:avLst/>
          </a:prstGeom>
          <a:noFill/>
        </p:spPr>
        <p:txBody>
          <a:bodyPr wrap="square" rtlCol="0">
            <a:spAutoFit/>
          </a:bodyPr>
          <a:lstStyle/>
          <a:p>
            <a:r>
              <a:rPr lang="en-US" dirty="0" smtClean="0"/>
              <a:t>A</a:t>
            </a:r>
            <a:endParaRPr lang="en-US" dirty="0"/>
          </a:p>
        </p:txBody>
      </p:sp>
      <p:sp>
        <p:nvSpPr>
          <p:cNvPr id="18" name="TextBox 17"/>
          <p:cNvSpPr txBox="1"/>
          <p:nvPr/>
        </p:nvSpPr>
        <p:spPr>
          <a:xfrm>
            <a:off x="8458200" y="4648200"/>
            <a:ext cx="203200" cy="369332"/>
          </a:xfrm>
          <a:prstGeom prst="rect">
            <a:avLst/>
          </a:prstGeom>
          <a:noFill/>
        </p:spPr>
        <p:txBody>
          <a:bodyPr wrap="square" rtlCol="0">
            <a:spAutoFit/>
          </a:bodyPr>
          <a:lstStyle/>
          <a:p>
            <a:r>
              <a:rPr lang="en-US" dirty="0" smtClean="0"/>
              <a:t>B</a:t>
            </a:r>
            <a:endParaRPr lang="en-US" dirty="0"/>
          </a:p>
        </p:txBody>
      </p:sp>
      <p:sp>
        <p:nvSpPr>
          <p:cNvPr id="19" name="TextBox 18"/>
          <p:cNvSpPr txBox="1"/>
          <p:nvPr/>
        </p:nvSpPr>
        <p:spPr>
          <a:xfrm>
            <a:off x="8534400" y="5181600"/>
            <a:ext cx="76200" cy="369332"/>
          </a:xfrm>
          <a:prstGeom prst="rect">
            <a:avLst/>
          </a:prstGeom>
          <a:noFill/>
        </p:spPr>
        <p:txBody>
          <a:bodyPr wrap="square" rtlCol="0">
            <a:spAutoFit/>
          </a:bodyPr>
          <a:lstStyle/>
          <a:p>
            <a:r>
              <a:rPr lang="en-US" dirty="0" smtClean="0"/>
              <a:t>C</a:t>
            </a:r>
            <a:endParaRPr lang="en-US" dirty="0"/>
          </a:p>
        </p:txBody>
      </p:sp>
      <p:sp>
        <p:nvSpPr>
          <p:cNvPr id="24" name="TextBox 23"/>
          <p:cNvSpPr txBox="1"/>
          <p:nvPr/>
        </p:nvSpPr>
        <p:spPr>
          <a:xfrm>
            <a:off x="6248400" y="3733800"/>
            <a:ext cx="1600200" cy="369332"/>
          </a:xfrm>
          <a:prstGeom prst="rect">
            <a:avLst/>
          </a:prstGeom>
          <a:noFill/>
        </p:spPr>
        <p:txBody>
          <a:bodyPr wrap="square" rtlCol="0">
            <a:spAutoFit/>
          </a:bodyPr>
          <a:lstStyle/>
          <a:p>
            <a:r>
              <a:rPr lang="en-US" b="1" dirty="0" smtClean="0"/>
              <a:t>Students</a:t>
            </a:r>
            <a:endParaRPr lang="en-US" b="1" dirty="0"/>
          </a:p>
        </p:txBody>
      </p:sp>
      <p:sp>
        <p:nvSpPr>
          <p:cNvPr id="25" name="TextBox 24"/>
          <p:cNvSpPr txBox="1"/>
          <p:nvPr/>
        </p:nvSpPr>
        <p:spPr>
          <a:xfrm>
            <a:off x="7772400" y="3733800"/>
            <a:ext cx="1066800" cy="369332"/>
          </a:xfrm>
          <a:prstGeom prst="rect">
            <a:avLst/>
          </a:prstGeom>
          <a:noFill/>
        </p:spPr>
        <p:txBody>
          <a:bodyPr wrap="square" rtlCol="0">
            <a:spAutoFit/>
          </a:bodyPr>
          <a:lstStyle/>
          <a:p>
            <a:r>
              <a:rPr lang="en-US" b="1" dirty="0" smtClean="0"/>
              <a:t>Grades</a:t>
            </a:r>
            <a:endParaRPr lang="en-US" b="1" dirty="0"/>
          </a:p>
        </p:txBody>
      </p:sp>
      <p:sp>
        <p:nvSpPr>
          <p:cNvPr id="26" name="Flowchart: Connector 25"/>
          <p:cNvSpPr/>
          <p:nvPr/>
        </p:nvSpPr>
        <p:spPr>
          <a:xfrm>
            <a:off x="8077200" y="47244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lowchart: Connector 26"/>
          <p:cNvSpPr/>
          <p:nvPr/>
        </p:nvSpPr>
        <p:spPr>
          <a:xfrm>
            <a:off x="8077200" y="56388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lowchart: Connector 27"/>
          <p:cNvSpPr/>
          <p:nvPr/>
        </p:nvSpPr>
        <p:spPr>
          <a:xfrm>
            <a:off x="8077200" y="6096000"/>
            <a:ext cx="304800" cy="29858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8458200" y="5638800"/>
            <a:ext cx="203200" cy="369332"/>
          </a:xfrm>
          <a:prstGeom prst="rect">
            <a:avLst/>
          </a:prstGeom>
          <a:noFill/>
        </p:spPr>
        <p:txBody>
          <a:bodyPr wrap="square" rtlCol="0">
            <a:spAutoFit/>
          </a:bodyPr>
          <a:lstStyle/>
          <a:p>
            <a:r>
              <a:rPr lang="en-US" dirty="0" smtClean="0"/>
              <a:t>D</a:t>
            </a:r>
            <a:endParaRPr lang="en-US" dirty="0"/>
          </a:p>
        </p:txBody>
      </p:sp>
      <p:sp>
        <p:nvSpPr>
          <p:cNvPr id="31" name="TextBox 30"/>
          <p:cNvSpPr txBox="1"/>
          <p:nvPr/>
        </p:nvSpPr>
        <p:spPr>
          <a:xfrm>
            <a:off x="8534400" y="6096000"/>
            <a:ext cx="228600" cy="369332"/>
          </a:xfrm>
          <a:prstGeom prst="rect">
            <a:avLst/>
          </a:prstGeom>
          <a:noFill/>
        </p:spPr>
        <p:txBody>
          <a:bodyPr wrap="square" rtlCol="0">
            <a:spAutoFit/>
          </a:bodyPr>
          <a:lstStyle/>
          <a:p>
            <a:r>
              <a:rPr lang="en-US" dirty="0" smtClean="0"/>
              <a:t>F</a:t>
            </a:r>
            <a:endParaRPr lang="en-US" dirty="0"/>
          </a:p>
        </p:txBody>
      </p:sp>
      <p:sp>
        <p:nvSpPr>
          <p:cNvPr id="33" name="TextBox 32"/>
          <p:cNvSpPr txBox="1"/>
          <p:nvPr/>
        </p:nvSpPr>
        <p:spPr>
          <a:xfrm>
            <a:off x="4648200" y="6248400"/>
            <a:ext cx="1676400" cy="369332"/>
          </a:xfrm>
          <a:prstGeom prst="rect">
            <a:avLst/>
          </a:prstGeom>
          <a:noFill/>
        </p:spPr>
        <p:txBody>
          <a:bodyPr wrap="square" rtlCol="0">
            <a:spAutoFit/>
          </a:bodyPr>
          <a:lstStyle/>
          <a:p>
            <a:r>
              <a:rPr lang="en-US" dirty="0" smtClean="0"/>
              <a:t>Kathy  Scott</a:t>
            </a:r>
            <a:endParaRPr lang="en-US" dirty="0"/>
          </a:p>
        </p:txBody>
      </p:sp>
      <p:sp>
        <p:nvSpPr>
          <p:cNvPr id="34" name="TextBox 33"/>
          <p:cNvSpPr txBox="1"/>
          <p:nvPr/>
        </p:nvSpPr>
        <p:spPr>
          <a:xfrm>
            <a:off x="4572000" y="5105400"/>
            <a:ext cx="1981200" cy="369332"/>
          </a:xfrm>
          <a:prstGeom prst="rect">
            <a:avLst/>
          </a:prstGeom>
          <a:noFill/>
        </p:spPr>
        <p:txBody>
          <a:bodyPr wrap="square" rtlCol="0">
            <a:spAutoFit/>
          </a:bodyPr>
          <a:lstStyle/>
          <a:p>
            <a:r>
              <a:rPr lang="en-US" dirty="0" err="1" smtClean="0"/>
              <a:t>Sandeep</a:t>
            </a:r>
            <a:r>
              <a:rPr lang="en-US" dirty="0" smtClean="0"/>
              <a:t> Patel</a:t>
            </a:r>
            <a:endParaRPr lang="en-US" dirty="0"/>
          </a:p>
        </p:txBody>
      </p:sp>
      <p:sp>
        <p:nvSpPr>
          <p:cNvPr id="35" name="TextBox 34"/>
          <p:cNvSpPr txBox="1"/>
          <p:nvPr/>
        </p:nvSpPr>
        <p:spPr>
          <a:xfrm>
            <a:off x="4495800" y="4419600"/>
            <a:ext cx="2362200" cy="369332"/>
          </a:xfrm>
          <a:prstGeom prst="rect">
            <a:avLst/>
          </a:prstGeom>
          <a:noFill/>
        </p:spPr>
        <p:txBody>
          <a:bodyPr wrap="square" rtlCol="0">
            <a:spAutoFit/>
          </a:bodyPr>
          <a:lstStyle/>
          <a:p>
            <a:r>
              <a:rPr lang="en-US" dirty="0" smtClean="0"/>
              <a:t>Carlota Rodriguez</a:t>
            </a:r>
            <a:endParaRPr lang="en-US" dirty="0"/>
          </a:p>
        </p:txBody>
      </p:sp>
      <p:sp>
        <p:nvSpPr>
          <p:cNvPr id="36" name="TextBox 35"/>
          <p:cNvSpPr txBox="1"/>
          <p:nvPr/>
        </p:nvSpPr>
        <p:spPr>
          <a:xfrm>
            <a:off x="4648200" y="5638800"/>
            <a:ext cx="2362200" cy="369332"/>
          </a:xfrm>
          <a:prstGeom prst="rect">
            <a:avLst/>
          </a:prstGeom>
          <a:noFill/>
        </p:spPr>
        <p:txBody>
          <a:bodyPr wrap="square" rtlCol="0">
            <a:spAutoFit/>
          </a:bodyPr>
          <a:lstStyle/>
          <a:p>
            <a:r>
              <a:rPr lang="en-US" dirty="0" err="1" smtClean="0"/>
              <a:t>Jalen</a:t>
            </a:r>
            <a:r>
              <a:rPr lang="en-US" dirty="0" smtClean="0"/>
              <a:t> Williams</a:t>
            </a:r>
            <a:endParaRPr lang="en-US" dirty="0"/>
          </a:p>
        </p:txBody>
      </p:sp>
      <p:cxnSp>
        <p:nvCxnSpPr>
          <p:cNvPr id="38" name="Straight Arrow Connector 37"/>
          <p:cNvCxnSpPr>
            <a:stCxn id="7" idx="6"/>
          </p:cNvCxnSpPr>
          <p:nvPr/>
        </p:nvCxnSpPr>
        <p:spPr>
          <a:xfrm flipV="1">
            <a:off x="6934200" y="4419600"/>
            <a:ext cx="1143000" cy="1492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7010400" y="4953000"/>
            <a:ext cx="9906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5400000" flipH="1" flipV="1">
            <a:off x="7276001" y="4382599"/>
            <a:ext cx="351636" cy="11876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rot="5400000" flipH="1" flipV="1">
            <a:off x="6553200" y="4953000"/>
            <a:ext cx="18288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84590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a:t>
            </a:r>
            <a:endParaRPr lang="en-US" dirty="0"/>
          </a:p>
        </p:txBody>
      </p:sp>
      <p:sp>
        <p:nvSpPr>
          <p:cNvPr id="3" name="Content Placeholder 2"/>
          <p:cNvSpPr>
            <a:spLocks noGrp="1"/>
          </p:cNvSpPr>
          <p:nvPr>
            <p:ph idx="1"/>
          </p:nvPr>
        </p:nvSpPr>
        <p:spPr/>
        <p:txBody>
          <a:bodyPr>
            <a:normAutofit/>
          </a:bodyPr>
          <a:lstStyle/>
          <a:p>
            <a:r>
              <a:rPr lang="en-US" dirty="0" smtClean="0"/>
              <a:t>A function </a:t>
            </a:r>
            <a:r>
              <a:rPr lang="en-US" dirty="0" smtClean="0">
                <a:latin typeface="Lucida Calligraphy"/>
              </a:rPr>
              <a:t>f</a:t>
            </a:r>
            <a:r>
              <a:rPr lang="en-US" dirty="0" smtClean="0">
                <a:latin typeface="Cambria Math" pitchFamily="18" charset="0"/>
                <a:ea typeface="Cambria Math" pitchFamily="18" charset="0"/>
              </a:rPr>
              <a:t>: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sym typeface="Wingdings" pitchFamily="2" charset="2"/>
              </a:rPr>
              <a:t>→</a:t>
            </a:r>
            <a:r>
              <a:rPr lang="en-US" dirty="0" smtClean="0">
                <a:latin typeface="Cambria Math" pitchFamily="18" charset="0"/>
                <a:ea typeface="Cambria Math" pitchFamily="18" charset="0"/>
                <a:sym typeface="Wingdings" pitchFamily="2" charset="2"/>
              </a:rPr>
              <a:t> </a:t>
            </a:r>
            <a:r>
              <a:rPr lang="en-US" i="1" dirty="0" smtClean="0">
                <a:ea typeface="Cambria Math" pitchFamily="18" charset="0"/>
                <a:sym typeface="Wingdings" pitchFamily="2" charset="2"/>
              </a:rPr>
              <a:t>B</a:t>
            </a:r>
            <a:r>
              <a:rPr lang="en-US" dirty="0" smtClean="0">
                <a:latin typeface="Cambria Math" pitchFamily="18" charset="0"/>
                <a:ea typeface="Cambria Math" pitchFamily="18" charset="0"/>
              </a:rPr>
              <a:t>  </a:t>
            </a:r>
            <a:r>
              <a:rPr lang="en-US" dirty="0" smtClean="0"/>
              <a:t>can also be defined as a subset of </a:t>
            </a:r>
            <a:r>
              <a:rPr lang="en-US" i="1" dirty="0" smtClean="0">
                <a:ea typeface="Cambria Math" pitchFamily="18" charset="0"/>
              </a:rPr>
              <a:t>A</a:t>
            </a:r>
            <a:r>
              <a:rPr lang="en-US" dirty="0" smtClean="0">
                <a:latin typeface="Cambria Math" pitchFamily="18" charset="0"/>
                <a:ea typeface="Cambria Math" pitchFamily="18" charset="0"/>
              </a:rPr>
              <a:t>×</a:t>
            </a:r>
            <a:r>
              <a:rPr lang="en-US" i="1" dirty="0" smtClean="0">
                <a:ea typeface="Cambria Math" pitchFamily="18" charset="0"/>
              </a:rPr>
              <a:t>B</a:t>
            </a:r>
            <a:r>
              <a:rPr lang="en-US" dirty="0" smtClean="0"/>
              <a:t> (a relation). This subset is restricted to be a relation where no two elements of the relation have the same first element. </a:t>
            </a:r>
          </a:p>
          <a:p>
            <a:r>
              <a:rPr lang="en-US" dirty="0" smtClean="0"/>
              <a:t>Specifically, a function </a:t>
            </a:r>
            <a:r>
              <a:rPr lang="en-US" dirty="0" smtClean="0">
                <a:latin typeface="Lucida Calligraphy"/>
              </a:rPr>
              <a:t>f</a:t>
            </a:r>
            <a:r>
              <a:rPr lang="en-US" dirty="0" smtClean="0"/>
              <a:t> from </a:t>
            </a:r>
            <a:r>
              <a:rPr lang="en-US" i="1" dirty="0" smtClean="0"/>
              <a:t>A</a:t>
            </a:r>
            <a:r>
              <a:rPr lang="en-US" dirty="0" smtClean="0"/>
              <a:t> to </a:t>
            </a:r>
            <a:r>
              <a:rPr lang="en-US" i="1" dirty="0" smtClean="0"/>
              <a:t>B </a:t>
            </a:r>
            <a:r>
              <a:rPr lang="en-US" dirty="0" smtClean="0"/>
              <a:t>contains one, and only one ordered pair (</a:t>
            </a:r>
            <a:r>
              <a:rPr lang="en-US" i="1" dirty="0" smtClean="0">
                <a:ea typeface="Cambria Math" pitchFamily="18" charset="0"/>
              </a:rPr>
              <a:t>a, b</a:t>
            </a:r>
            <a:r>
              <a:rPr lang="en-US" dirty="0" smtClean="0"/>
              <a:t>) for every element </a:t>
            </a:r>
            <a:r>
              <a:rPr lang="en-US" i="1" dirty="0" smtClean="0"/>
              <a:t>a</a:t>
            </a:r>
            <a:r>
              <a:rPr lang="en-US" dirty="0" smtClean="0">
                <a:latin typeface="Cambria Math"/>
                <a:ea typeface="Cambria Math"/>
              </a:rPr>
              <a:t>∈</a:t>
            </a:r>
            <a:r>
              <a:rPr lang="en-US" dirty="0" smtClean="0"/>
              <a:t> </a:t>
            </a:r>
            <a:r>
              <a:rPr lang="en-US" i="1" dirty="0" smtClean="0"/>
              <a:t>A</a:t>
            </a:r>
            <a:r>
              <a:rPr lang="en-US" dirty="0" smtClean="0"/>
              <a:t>. </a:t>
            </a:r>
          </a:p>
          <a:p>
            <a:endParaRPr lang="en-US" dirty="0" smtClean="0"/>
          </a:p>
          <a:p>
            <a:pPr>
              <a:buNone/>
            </a:pPr>
            <a:r>
              <a:rPr lang="en-US" dirty="0" smtClean="0"/>
              <a:t> and</a:t>
            </a:r>
          </a:p>
          <a:p>
            <a:pPr>
              <a:buNone/>
            </a:pPr>
            <a:r>
              <a:rPr kumimoji="1" lang="en-US" altLang="zh-CN" dirty="0" smtClean="0">
                <a:effectLst>
                  <a:outerShdw blurRad="38100" dist="38100" dir="2700000" algn="tl">
                    <a:srgbClr val="C0C0C0"/>
                  </a:outerShdw>
                </a:effectLst>
                <a:latin typeface="Symbol" pitchFamily="18" charset="2"/>
                <a:ea typeface="宋体" pitchFamily="2" charset="-122"/>
                <a:sym typeface="Symbol" pitchFamily="18" charset="2"/>
              </a:rPr>
              <a:t>              </a:t>
            </a:r>
            <a:endParaRPr lang="en-US" dirty="0" smtClean="0"/>
          </a:p>
          <a:p>
            <a:pPr>
              <a:buNone/>
            </a:pPr>
            <a:endParaRPr lang="en-US" dirty="0" smtClean="0"/>
          </a:p>
          <a:p>
            <a:pPr>
              <a:buNone/>
            </a:pPr>
            <a:endParaRPr lang="en-US" dirty="0"/>
          </a:p>
        </p:txBody>
      </p:sp>
      <p:pic>
        <p:nvPicPr>
          <p:cNvPr id="7" name="Picture 6" descr="addin_tmp.png"/>
          <p:cNvPicPr>
            <a:picLocks noChangeAspect="1"/>
          </p:cNvPicPr>
          <p:nvPr>
            <p:custDataLst>
              <p:tags r:id="rId1"/>
            </p:custDataLst>
          </p:nvPr>
        </p:nvPicPr>
        <p:blipFill>
          <a:blip r:embed="rId3" cstate="print"/>
          <a:stretch>
            <a:fillRect/>
          </a:stretch>
        </p:blipFill>
        <p:spPr>
          <a:xfrm>
            <a:off x="1574482" y="4648200"/>
            <a:ext cx="5740718" cy="382905"/>
          </a:xfrm>
          <a:prstGeom prst="rect">
            <a:avLst/>
          </a:prstGeom>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091" y="5715000"/>
            <a:ext cx="74295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8537092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sz="2800" dirty="0" smtClean="0"/>
              <a:t>Given a function </a:t>
            </a:r>
            <a:r>
              <a:rPr lang="en-US" sz="2800" i="1" dirty="0" smtClean="0"/>
              <a:t>f</a:t>
            </a:r>
            <a:r>
              <a:rPr lang="en-US" sz="2800" dirty="0" smtClean="0">
                <a:latin typeface="Cambria Math" pitchFamily="18" charset="0"/>
                <a:ea typeface="Cambria Math" pitchFamily="18" charset="0"/>
              </a:rPr>
              <a:t>: </a:t>
            </a:r>
            <a:r>
              <a:rPr lang="en-US" sz="2800" i="1" dirty="0" smtClean="0">
                <a:ea typeface="Cambria Math" pitchFamily="18" charset="0"/>
              </a:rPr>
              <a:t>A</a:t>
            </a:r>
            <a:r>
              <a:rPr lang="en-US" sz="2800" dirty="0" smtClean="0">
                <a:latin typeface="Cambria Math" pitchFamily="18" charset="0"/>
                <a:ea typeface="Cambria Math" pitchFamily="18" charset="0"/>
              </a:rPr>
              <a:t> </a:t>
            </a:r>
            <a:r>
              <a:rPr lang="en-US" sz="2800" dirty="0" smtClean="0">
                <a:latin typeface="Cambria Math" pitchFamily="18" charset="0"/>
                <a:ea typeface="Cambria Math" pitchFamily="18" charset="0"/>
                <a:sym typeface="Wingdings" pitchFamily="2" charset="2"/>
              </a:rPr>
              <a:t>→ </a:t>
            </a:r>
            <a:r>
              <a:rPr lang="en-US" sz="2800" i="1" dirty="0" smtClean="0">
                <a:ea typeface="Cambria Math" pitchFamily="18" charset="0"/>
                <a:sym typeface="Wingdings" pitchFamily="2" charset="2"/>
              </a:rPr>
              <a:t>B</a:t>
            </a:r>
            <a:r>
              <a:rPr lang="en-US" sz="2800" b="1" dirty="0" smtClean="0">
                <a:latin typeface="Cambria Math" pitchFamily="18" charset="0"/>
                <a:ea typeface="Cambria Math" pitchFamily="18" charset="0"/>
                <a:sym typeface="Wingdings" pitchFamily="2" charset="2"/>
              </a:rPr>
              <a:t>:</a:t>
            </a:r>
            <a:r>
              <a:rPr lang="en-US" sz="2800" dirty="0" smtClean="0"/>
              <a:t> </a:t>
            </a:r>
          </a:p>
          <a:p>
            <a:r>
              <a:rPr lang="en-US" sz="2800" dirty="0" smtClean="0"/>
              <a:t>We say </a:t>
            </a:r>
            <a:r>
              <a:rPr lang="en-US" sz="2800" i="1" dirty="0" smtClean="0"/>
              <a:t>f</a:t>
            </a:r>
            <a:r>
              <a:rPr lang="en-US" sz="2800" dirty="0" smtClean="0">
                <a:latin typeface="Lucida Calligraphy"/>
              </a:rPr>
              <a:t> </a:t>
            </a:r>
            <a:r>
              <a:rPr lang="en-US" sz="2800" i="1" dirty="0" smtClean="0"/>
              <a:t>maps</a:t>
            </a:r>
            <a:r>
              <a:rPr lang="en-US" sz="2800" dirty="0" smtClean="0"/>
              <a:t> </a:t>
            </a:r>
            <a:r>
              <a:rPr lang="en-US" sz="2800" i="1" dirty="0" smtClean="0"/>
              <a:t>A</a:t>
            </a:r>
            <a:r>
              <a:rPr lang="en-US" sz="2800" dirty="0" smtClean="0"/>
              <a:t> to </a:t>
            </a:r>
            <a:r>
              <a:rPr lang="en-US" sz="2800" i="1" dirty="0" smtClean="0"/>
              <a:t>B or </a:t>
            </a:r>
          </a:p>
          <a:p>
            <a:pPr>
              <a:buNone/>
            </a:pPr>
            <a:r>
              <a:rPr lang="en-US" sz="2800" i="1" dirty="0" smtClean="0"/>
              <a:t>        f </a:t>
            </a:r>
            <a:r>
              <a:rPr lang="en-US" sz="2800" dirty="0" smtClean="0"/>
              <a:t>is a </a:t>
            </a:r>
            <a:r>
              <a:rPr lang="en-US" sz="2800" i="1" dirty="0" smtClean="0"/>
              <a:t>mapping</a:t>
            </a:r>
            <a:r>
              <a:rPr lang="en-US" sz="2800" dirty="0" smtClean="0"/>
              <a:t> from  </a:t>
            </a:r>
            <a:r>
              <a:rPr lang="en-US" sz="2800" i="1" dirty="0" smtClean="0"/>
              <a:t>A</a:t>
            </a:r>
            <a:r>
              <a:rPr lang="en-US" sz="2800" dirty="0" smtClean="0"/>
              <a:t> to </a:t>
            </a:r>
            <a:r>
              <a:rPr lang="en-US" sz="2800" i="1" dirty="0" smtClean="0"/>
              <a:t>B</a:t>
            </a:r>
            <a:r>
              <a:rPr lang="en-US" sz="2800" dirty="0" smtClean="0"/>
              <a:t>.</a:t>
            </a:r>
          </a:p>
          <a:p>
            <a:r>
              <a:rPr lang="en-US" sz="2800" i="1" dirty="0" smtClean="0"/>
              <a:t>A</a:t>
            </a:r>
            <a:r>
              <a:rPr lang="en-US" sz="2800" dirty="0" smtClean="0"/>
              <a:t> is called the </a:t>
            </a:r>
            <a:r>
              <a:rPr lang="en-US" sz="2800" i="1" dirty="0" smtClean="0"/>
              <a:t>domain</a:t>
            </a:r>
            <a:r>
              <a:rPr lang="en-US" sz="2800" dirty="0" smtClean="0"/>
              <a:t> of </a:t>
            </a:r>
            <a:r>
              <a:rPr lang="en-US" sz="2800" i="1" dirty="0" smtClean="0"/>
              <a:t>f</a:t>
            </a:r>
            <a:r>
              <a:rPr lang="en-US" sz="2800" dirty="0" smtClean="0"/>
              <a:t>.</a:t>
            </a:r>
          </a:p>
          <a:p>
            <a:r>
              <a:rPr lang="en-US" sz="2800" i="1" dirty="0" smtClean="0"/>
              <a:t>B</a:t>
            </a:r>
            <a:r>
              <a:rPr lang="en-US" sz="2800" dirty="0" smtClean="0"/>
              <a:t> is called the </a:t>
            </a:r>
            <a:r>
              <a:rPr lang="en-US" sz="2800" i="1" dirty="0" err="1" smtClean="0"/>
              <a:t>codomain</a:t>
            </a:r>
            <a:r>
              <a:rPr lang="en-US" sz="2800" dirty="0" smtClean="0"/>
              <a:t> of </a:t>
            </a:r>
            <a:r>
              <a:rPr lang="en-US" sz="2800" i="1" dirty="0" smtClean="0"/>
              <a:t>f</a:t>
            </a:r>
            <a:r>
              <a:rPr lang="en-US" sz="2800" dirty="0" smtClean="0"/>
              <a:t>.</a:t>
            </a:r>
          </a:p>
          <a:p>
            <a:r>
              <a:rPr lang="en-US" sz="2800" dirty="0" smtClean="0"/>
              <a:t>If </a:t>
            </a:r>
            <a:r>
              <a:rPr lang="en-US" sz="2800" i="1" dirty="0" smtClean="0"/>
              <a:t>f</a:t>
            </a:r>
            <a:r>
              <a:rPr lang="en-US" sz="2800" dirty="0" smtClean="0"/>
              <a:t>(</a:t>
            </a:r>
            <a:r>
              <a:rPr lang="en-US" sz="2800" i="1" dirty="0" smtClean="0">
                <a:ea typeface="Cambria Math" pitchFamily="18" charset="0"/>
              </a:rPr>
              <a:t>a</a:t>
            </a:r>
            <a:r>
              <a:rPr lang="en-US" sz="2800" dirty="0" smtClean="0"/>
              <a:t>)</a:t>
            </a:r>
            <a:r>
              <a:rPr lang="en-US" sz="2800" i="1" dirty="0" smtClean="0"/>
              <a:t> = </a:t>
            </a:r>
            <a:r>
              <a:rPr lang="en-US" sz="2800" i="1" dirty="0" smtClean="0">
                <a:ea typeface="Cambria Math" pitchFamily="18" charset="0"/>
              </a:rPr>
              <a:t>b</a:t>
            </a:r>
            <a:r>
              <a:rPr lang="en-US" sz="2800" dirty="0" smtClean="0"/>
              <a:t>, </a:t>
            </a:r>
          </a:p>
          <a:p>
            <a:pPr lvl="1"/>
            <a:r>
              <a:rPr lang="en-US" sz="2800" dirty="0" smtClean="0"/>
              <a:t>then </a:t>
            </a:r>
            <a:r>
              <a:rPr lang="en-US" sz="2800" i="1" dirty="0" smtClean="0">
                <a:ea typeface="Cambria Math" pitchFamily="18" charset="0"/>
              </a:rPr>
              <a:t>b</a:t>
            </a:r>
            <a:r>
              <a:rPr lang="en-US" sz="2800" dirty="0" smtClean="0">
                <a:latin typeface="Cambria Math" pitchFamily="18" charset="0"/>
                <a:ea typeface="Cambria Math" pitchFamily="18" charset="0"/>
              </a:rPr>
              <a:t> </a:t>
            </a:r>
            <a:r>
              <a:rPr lang="en-US" sz="2800" dirty="0" smtClean="0"/>
              <a:t>is called the </a:t>
            </a:r>
            <a:r>
              <a:rPr lang="en-US" sz="2800" i="1" dirty="0" smtClean="0"/>
              <a:t>image</a:t>
            </a:r>
            <a:r>
              <a:rPr lang="en-US" sz="2800" dirty="0" smtClean="0"/>
              <a:t> of </a:t>
            </a:r>
            <a:r>
              <a:rPr lang="en-US" sz="2800" i="1" dirty="0" smtClean="0">
                <a:ea typeface="Cambria Math" pitchFamily="18" charset="0"/>
              </a:rPr>
              <a:t>a</a:t>
            </a:r>
            <a:r>
              <a:rPr lang="en-US" sz="2800" i="1" dirty="0" smtClean="0">
                <a:latin typeface="Cambria Math" pitchFamily="18" charset="0"/>
                <a:ea typeface="Cambria Math" pitchFamily="18" charset="0"/>
              </a:rPr>
              <a:t> </a:t>
            </a:r>
            <a:r>
              <a:rPr lang="en-US" sz="2800" dirty="0" smtClean="0"/>
              <a:t>under </a:t>
            </a:r>
            <a:r>
              <a:rPr lang="en-US" sz="2800" i="1" dirty="0" smtClean="0"/>
              <a:t>f</a:t>
            </a:r>
            <a:r>
              <a:rPr lang="en-US" sz="2800" dirty="0" smtClean="0"/>
              <a:t>.</a:t>
            </a:r>
          </a:p>
          <a:p>
            <a:pPr lvl="1"/>
            <a:r>
              <a:rPr lang="en-US" sz="2800" i="1" dirty="0" smtClean="0">
                <a:ea typeface="Cambria Math" pitchFamily="18" charset="0"/>
              </a:rPr>
              <a:t>a</a:t>
            </a:r>
            <a:r>
              <a:rPr lang="en-US" sz="2800" dirty="0" smtClean="0"/>
              <a:t> is called the </a:t>
            </a:r>
            <a:r>
              <a:rPr lang="en-US" sz="2800" i="1" dirty="0" err="1" smtClean="0"/>
              <a:t>preimage</a:t>
            </a:r>
            <a:r>
              <a:rPr lang="en-US" sz="2800" dirty="0" smtClean="0"/>
              <a:t> of </a:t>
            </a:r>
            <a:r>
              <a:rPr lang="en-US" sz="2800" i="1" dirty="0" smtClean="0">
                <a:latin typeface="Cambria Math" pitchFamily="18" charset="0"/>
                <a:ea typeface="Cambria Math" pitchFamily="18" charset="0"/>
              </a:rPr>
              <a:t>b.</a:t>
            </a:r>
          </a:p>
          <a:p>
            <a:r>
              <a:rPr lang="en-US" sz="2800" dirty="0" smtClean="0"/>
              <a:t>The range</a:t>
            </a:r>
            <a:r>
              <a:rPr lang="zh-CN" altLang="en-US" dirty="0" smtClean="0"/>
              <a:t>（值域）</a:t>
            </a:r>
            <a:r>
              <a:rPr lang="en-US" dirty="0" smtClean="0"/>
              <a:t> </a:t>
            </a:r>
            <a:r>
              <a:rPr lang="en-US" sz="2800" dirty="0" smtClean="0"/>
              <a:t>of </a:t>
            </a:r>
            <a:r>
              <a:rPr lang="en-US" sz="2800" i="1" dirty="0" smtClean="0">
                <a:latin typeface="Constantia" pitchFamily="18" charset="0"/>
              </a:rPr>
              <a:t>f</a:t>
            </a:r>
            <a:r>
              <a:rPr lang="en-US" sz="2800" dirty="0" smtClean="0"/>
              <a:t> is the set of all images of points in </a:t>
            </a:r>
            <a:r>
              <a:rPr lang="en-US" sz="2800" b="1" dirty="0" smtClean="0"/>
              <a:t>A</a:t>
            </a:r>
            <a:r>
              <a:rPr lang="en-US" sz="2800" dirty="0" smtClean="0"/>
              <a:t> under </a:t>
            </a:r>
            <a:r>
              <a:rPr lang="en-US" sz="2800" i="1" dirty="0" smtClean="0"/>
              <a:t>f</a:t>
            </a:r>
            <a:r>
              <a:rPr lang="en-US" sz="2800" dirty="0" smtClean="0"/>
              <a:t>. We denote it by </a:t>
            </a:r>
            <a:r>
              <a:rPr lang="en-US" sz="2800" i="1" dirty="0" smtClean="0"/>
              <a:t>f</a:t>
            </a:r>
            <a:r>
              <a:rPr lang="en-US" sz="2800" dirty="0" smtClean="0"/>
              <a:t>(</a:t>
            </a:r>
            <a:r>
              <a:rPr lang="en-US" sz="2800" i="1" dirty="0" smtClean="0"/>
              <a:t>A</a:t>
            </a:r>
            <a:r>
              <a:rPr lang="en-US" sz="2800" dirty="0" smtClean="0"/>
              <a:t>).</a:t>
            </a:r>
          </a:p>
          <a:p>
            <a:r>
              <a:rPr lang="en-US" sz="2800" dirty="0" smtClean="0"/>
              <a:t>Two functions are </a:t>
            </a:r>
            <a:r>
              <a:rPr lang="en-US" sz="2800" i="1" dirty="0" smtClean="0"/>
              <a:t>equal </a:t>
            </a:r>
            <a:r>
              <a:rPr lang="en-US" sz="2800" dirty="0" smtClean="0"/>
              <a:t>when they have the same domain, the same </a:t>
            </a:r>
            <a:r>
              <a:rPr lang="en-US" sz="2800" dirty="0" err="1" smtClean="0"/>
              <a:t>codomain</a:t>
            </a:r>
            <a:r>
              <a:rPr lang="en-US" sz="2800" dirty="0" smtClean="0"/>
              <a:t> and map each element of the domain to the same element of the </a:t>
            </a:r>
            <a:r>
              <a:rPr lang="en-US" sz="2800" dirty="0" err="1" smtClean="0"/>
              <a:t>codomain</a:t>
            </a:r>
            <a:r>
              <a:rPr lang="en-US" sz="2800" dirty="0" smtClean="0"/>
              <a:t>. </a:t>
            </a:r>
          </a:p>
          <a:p>
            <a:endParaRPr lang="en-US" sz="2800" dirty="0" smtClean="0"/>
          </a:p>
          <a:p>
            <a:endParaRPr lang="en-US" dirty="0" smtClean="0"/>
          </a:p>
          <a:p>
            <a:endParaRPr lang="en-US" dirty="0" smtClean="0"/>
          </a:p>
          <a:p>
            <a:endParaRPr lang="en-US" dirty="0" smtClean="0"/>
          </a:p>
        </p:txBody>
      </p:sp>
      <p:pic>
        <p:nvPicPr>
          <p:cNvPr id="6" name="Picture 5" descr="0213.jpg"/>
          <p:cNvPicPr>
            <a:picLocks noChangeAspect="1"/>
          </p:cNvPicPr>
          <p:nvPr/>
        </p:nvPicPr>
        <p:blipFill>
          <a:blip r:embed="rId2" cstate="print"/>
          <a:stretch>
            <a:fillRect/>
          </a:stretch>
        </p:blipFill>
        <p:spPr>
          <a:xfrm>
            <a:off x="5105400" y="1981200"/>
            <a:ext cx="2711196" cy="957072"/>
          </a:xfrm>
          <a:prstGeom prst="rect">
            <a:avLst/>
          </a:prstGeom>
        </p:spPr>
      </p:pic>
    </p:spTree>
    <p:extLst>
      <p:ext uri="{BB962C8B-B14F-4D97-AF65-F5344CB8AC3E}">
        <p14:creationId xmlns:p14="http://schemas.microsoft.com/office/powerpoint/2010/main" val="253939697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Representing Functions</a:t>
            </a:r>
            <a:endParaRPr lang="en-US" dirty="0"/>
          </a:p>
        </p:txBody>
      </p:sp>
      <p:sp>
        <p:nvSpPr>
          <p:cNvPr id="3" name="Content Placeholder 2"/>
          <p:cNvSpPr>
            <a:spLocks noGrp="1"/>
          </p:cNvSpPr>
          <p:nvPr>
            <p:ph idx="1"/>
          </p:nvPr>
        </p:nvSpPr>
        <p:spPr/>
        <p:txBody>
          <a:bodyPr/>
          <a:lstStyle/>
          <a:p>
            <a:r>
              <a:rPr lang="en-US" dirty="0" smtClean="0"/>
              <a:t>Functions may be specified in different ways:</a:t>
            </a:r>
          </a:p>
          <a:p>
            <a:pPr lvl="1"/>
            <a:r>
              <a:rPr lang="en-US" dirty="0" smtClean="0"/>
              <a:t>An explicit statement of the assignment.</a:t>
            </a:r>
          </a:p>
          <a:p>
            <a:pPr lvl="2">
              <a:buNone/>
            </a:pPr>
            <a:r>
              <a:rPr lang="en-US" dirty="0" smtClean="0"/>
              <a:t>Students and grades example.</a:t>
            </a:r>
          </a:p>
          <a:p>
            <a:pPr lvl="1"/>
            <a:r>
              <a:rPr lang="en-US" dirty="0" smtClean="0"/>
              <a:t>A formula. </a:t>
            </a:r>
          </a:p>
          <a:p>
            <a:pPr lvl="2">
              <a:buNone/>
            </a:pPr>
            <a:r>
              <a:rPr lang="en-US" i="1" dirty="0" smtClean="0">
                <a:ea typeface="Cambria Math" pitchFamily="18" charset="0"/>
              </a:rPr>
              <a:t>f</a:t>
            </a:r>
            <a:r>
              <a:rPr lang="en-US" dirty="0" smtClean="0">
                <a:latin typeface="Cambria Math" pitchFamily="18" charset="0"/>
                <a:ea typeface="Cambria Math" pitchFamily="18" charset="0"/>
              </a:rPr>
              <a:t>(</a:t>
            </a:r>
            <a:r>
              <a:rPr lang="en-US" i="1" dirty="0" smtClean="0">
                <a:ea typeface="Cambria Math" pitchFamily="18" charset="0"/>
              </a:rPr>
              <a:t>x</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 </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+ 1</a:t>
            </a:r>
            <a:endParaRPr lang="en-US" dirty="0" smtClean="0"/>
          </a:p>
          <a:p>
            <a:pPr lvl="1"/>
            <a:r>
              <a:rPr lang="en-US" dirty="0" smtClean="0"/>
              <a:t>A computer program.</a:t>
            </a:r>
          </a:p>
          <a:p>
            <a:pPr lvl="2"/>
            <a:r>
              <a:rPr lang="en-US" dirty="0" smtClean="0"/>
              <a:t>A Java program that when given an integer </a:t>
            </a:r>
            <a:r>
              <a:rPr lang="en-US" i="1" dirty="0" smtClean="0"/>
              <a:t>n</a:t>
            </a:r>
            <a:r>
              <a:rPr lang="en-US" dirty="0" smtClean="0"/>
              <a:t>, produces the </a:t>
            </a:r>
            <a:r>
              <a:rPr lang="en-US" i="1" dirty="0" smtClean="0"/>
              <a:t>n</a:t>
            </a:r>
            <a:r>
              <a:rPr lang="en-US" dirty="0" smtClean="0"/>
              <a:t>th Fibonacci Number (covered in the next section and also </a:t>
            </a:r>
            <a:r>
              <a:rPr lang="en-US" dirty="0" err="1" smtClean="0"/>
              <a:t>inChapter</a:t>
            </a:r>
            <a:r>
              <a:rPr lang="en-US" dirty="0" smtClean="0"/>
              <a:t> </a:t>
            </a:r>
            <a:r>
              <a:rPr lang="en-US" dirty="0" smtClean="0">
                <a:latin typeface="Cambria Math" pitchFamily="18" charset="0"/>
                <a:ea typeface="Cambria Math" pitchFamily="18" charset="0"/>
              </a:rPr>
              <a:t>5</a:t>
            </a:r>
            <a:r>
              <a:rPr lang="en-US" dirty="0" smtClean="0"/>
              <a:t>).</a:t>
            </a:r>
            <a:endParaRPr lang="en-US" dirty="0"/>
          </a:p>
        </p:txBody>
      </p:sp>
    </p:spTree>
    <p:extLst>
      <p:ext uri="{BB962C8B-B14F-4D97-AF65-F5344CB8AC3E}">
        <p14:creationId xmlns:p14="http://schemas.microsoft.com/office/powerpoint/2010/main" val="415622401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26" name="TextBox 25"/>
          <p:cNvSpPr txBox="1"/>
          <p:nvPr/>
        </p:nvSpPr>
        <p:spPr>
          <a:xfrm>
            <a:off x="457200" y="1905000"/>
            <a:ext cx="3886200" cy="584775"/>
          </a:xfrm>
          <a:prstGeom prst="rect">
            <a:avLst/>
          </a:prstGeom>
          <a:noFill/>
        </p:spPr>
        <p:txBody>
          <a:bodyPr wrap="square" rtlCol="0">
            <a:spAutoFit/>
          </a:bodyPr>
          <a:lstStyle/>
          <a:p>
            <a:r>
              <a:rPr lang="en-US" sz="3200" i="1" dirty="0" smtClean="0"/>
              <a:t>f</a:t>
            </a:r>
            <a:r>
              <a:rPr lang="en-US" sz="3200" dirty="0" smtClean="0"/>
              <a:t>(a) = ?</a:t>
            </a:r>
            <a:endParaRPr lang="en-US" sz="3200" dirty="0"/>
          </a:p>
        </p:txBody>
      </p:sp>
      <p:grpSp>
        <p:nvGrpSpPr>
          <p:cNvPr id="29" name="Group 28"/>
          <p:cNvGrpSpPr/>
          <p:nvPr/>
        </p:nvGrpSpPr>
        <p:grpSpPr>
          <a:xfrm>
            <a:off x="5257800" y="1752600"/>
            <a:ext cx="2667000" cy="3200400"/>
            <a:chOff x="3048000" y="1219200"/>
            <a:chExt cx="3276600" cy="3733800"/>
          </a:xfrm>
        </p:grpSpPr>
        <p:sp>
          <p:nvSpPr>
            <p:cNvPr id="9" name="Flowchart: Connector 8"/>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Connector 3"/>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Connector 4"/>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5715000" y="2438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048000" y="1219200"/>
              <a:ext cx="685800" cy="825867"/>
            </a:xfrm>
            <a:prstGeom prst="rect">
              <a:avLst/>
            </a:prstGeom>
            <a:noFill/>
          </p:spPr>
          <p:txBody>
            <a:bodyPr wrap="square" rtlCol="0">
              <a:spAutoFit/>
            </a:bodyPr>
            <a:lstStyle/>
            <a:p>
              <a:r>
                <a:rPr lang="en-US" sz="4000" i="1" dirty="0" smtClean="0"/>
                <a:t>A</a:t>
              </a:r>
              <a:endParaRPr lang="en-US" sz="4000" i="1" dirty="0"/>
            </a:p>
          </p:txBody>
        </p:sp>
        <p:sp>
          <p:nvSpPr>
            <p:cNvPr id="18" name="TextBox 17"/>
            <p:cNvSpPr txBox="1"/>
            <p:nvPr/>
          </p:nvSpPr>
          <p:spPr>
            <a:xfrm>
              <a:off x="5638800" y="1219200"/>
              <a:ext cx="685800" cy="825867"/>
            </a:xfrm>
            <a:prstGeom prst="rect">
              <a:avLst/>
            </a:prstGeom>
            <a:noFill/>
          </p:spPr>
          <p:txBody>
            <a:bodyPr wrap="square" rtlCol="0">
              <a:spAutoFit/>
            </a:bodyPr>
            <a:lstStyle/>
            <a:p>
              <a:r>
                <a:rPr lang="en-US" sz="4000" i="1" dirty="0" smtClean="0"/>
                <a:t>B</a:t>
              </a:r>
              <a:endParaRPr lang="en-US" sz="4000" i="1" dirty="0"/>
            </a:p>
          </p:txBody>
        </p:sp>
        <p:sp>
          <p:nvSpPr>
            <p:cNvPr id="19" name="TextBox 18"/>
            <p:cNvSpPr txBox="1"/>
            <p:nvPr/>
          </p:nvSpPr>
          <p:spPr>
            <a:xfrm>
              <a:off x="3200400" y="2133600"/>
              <a:ext cx="304800" cy="369332"/>
            </a:xfrm>
            <a:prstGeom prst="rect">
              <a:avLst/>
            </a:prstGeom>
            <a:noFill/>
          </p:spPr>
          <p:txBody>
            <a:bodyPr wrap="square" rtlCol="0">
              <a:spAutoFit/>
            </a:bodyPr>
            <a:lstStyle/>
            <a:p>
              <a:r>
                <a:rPr lang="en-US" dirty="0" smtClean="0"/>
                <a:t>a</a:t>
              </a:r>
              <a:endParaRPr lang="en-US" dirty="0"/>
            </a:p>
          </p:txBody>
        </p:sp>
        <p:sp>
          <p:nvSpPr>
            <p:cNvPr id="20" name="TextBox 19"/>
            <p:cNvSpPr txBox="1"/>
            <p:nvPr/>
          </p:nvSpPr>
          <p:spPr>
            <a:xfrm>
              <a:off x="3200400" y="3048000"/>
              <a:ext cx="304800" cy="369332"/>
            </a:xfrm>
            <a:prstGeom prst="rect">
              <a:avLst/>
            </a:prstGeom>
            <a:noFill/>
          </p:spPr>
          <p:txBody>
            <a:bodyPr wrap="square" rtlCol="0">
              <a:spAutoFit/>
            </a:bodyPr>
            <a:lstStyle/>
            <a:p>
              <a:r>
                <a:rPr lang="en-US" dirty="0" smtClean="0"/>
                <a:t>b</a:t>
              </a:r>
              <a:endParaRPr lang="en-US" dirty="0"/>
            </a:p>
          </p:txBody>
        </p:sp>
        <p:sp>
          <p:nvSpPr>
            <p:cNvPr id="21" name="TextBox 20"/>
            <p:cNvSpPr txBox="1"/>
            <p:nvPr/>
          </p:nvSpPr>
          <p:spPr>
            <a:xfrm>
              <a:off x="3200400" y="3810000"/>
              <a:ext cx="304800" cy="369332"/>
            </a:xfrm>
            <a:prstGeom prst="rect">
              <a:avLst/>
            </a:prstGeom>
            <a:noFill/>
          </p:spPr>
          <p:txBody>
            <a:bodyPr wrap="square" rtlCol="0">
              <a:spAutoFit/>
            </a:bodyPr>
            <a:lstStyle/>
            <a:p>
              <a:r>
                <a:rPr lang="en-US" dirty="0" smtClean="0"/>
                <a:t>c</a:t>
              </a:r>
              <a:endParaRPr lang="en-US" dirty="0"/>
            </a:p>
          </p:txBody>
        </p:sp>
        <p:sp>
          <p:nvSpPr>
            <p:cNvPr id="22" name="TextBox 21"/>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23" name="TextBox 22"/>
            <p:cNvSpPr txBox="1"/>
            <p:nvPr/>
          </p:nvSpPr>
          <p:spPr>
            <a:xfrm>
              <a:off x="5791200" y="2514600"/>
              <a:ext cx="304800" cy="430887"/>
            </a:xfrm>
            <a:prstGeom prst="rect">
              <a:avLst/>
            </a:prstGeom>
            <a:noFill/>
          </p:spPr>
          <p:txBody>
            <a:bodyPr wrap="square" rtlCol="0">
              <a:spAutoFit/>
            </a:bodyPr>
            <a:lstStyle/>
            <a:p>
              <a:r>
                <a:rPr lang="en-US" dirty="0" smtClean="0"/>
                <a:t>x</a:t>
              </a:r>
              <a:endParaRPr lang="en-US" dirty="0"/>
            </a:p>
          </p:txBody>
        </p:sp>
        <p:sp>
          <p:nvSpPr>
            <p:cNvPr id="24" name="TextBox 23"/>
            <p:cNvSpPr txBox="1"/>
            <p:nvPr/>
          </p:nvSpPr>
          <p:spPr>
            <a:xfrm>
              <a:off x="5791200" y="3352800"/>
              <a:ext cx="304800" cy="369332"/>
            </a:xfrm>
            <a:prstGeom prst="rect">
              <a:avLst/>
            </a:prstGeom>
            <a:noFill/>
          </p:spPr>
          <p:txBody>
            <a:bodyPr wrap="square" rtlCol="0">
              <a:spAutoFit/>
            </a:bodyPr>
            <a:lstStyle/>
            <a:p>
              <a:r>
                <a:rPr lang="en-US" dirty="0" smtClean="0"/>
                <a:t>y</a:t>
              </a:r>
              <a:endParaRPr lang="en-US" dirty="0"/>
            </a:p>
          </p:txBody>
        </p:sp>
        <p:sp>
          <p:nvSpPr>
            <p:cNvPr id="25" name="TextBox 24"/>
            <p:cNvSpPr txBox="1"/>
            <p:nvPr/>
          </p:nvSpPr>
          <p:spPr>
            <a:xfrm>
              <a:off x="5791200" y="4419600"/>
              <a:ext cx="304800" cy="369332"/>
            </a:xfrm>
            <a:prstGeom prst="rect">
              <a:avLst/>
            </a:prstGeom>
            <a:noFill/>
          </p:spPr>
          <p:txBody>
            <a:bodyPr wrap="square" rtlCol="0">
              <a:spAutoFit/>
            </a:bodyPr>
            <a:lstStyle/>
            <a:p>
              <a:r>
                <a:rPr lang="en-US" dirty="0" smtClean="0"/>
                <a:t>z</a:t>
              </a:r>
              <a:endParaRPr lang="en-US" dirty="0"/>
            </a:p>
          </p:txBody>
        </p:sp>
        <p:cxnSp>
          <p:nvCxnSpPr>
            <p:cNvPr id="28" name="Straight Arrow Connector 27"/>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6" idx="6"/>
            </p:cNvCxnSpPr>
            <p:nvPr/>
          </p:nvCxnSpPr>
          <p:spPr>
            <a:xfrm>
              <a:off x="3581400" y="2286000"/>
              <a:ext cx="22098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3733800" y="4038600"/>
              <a:ext cx="19050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3657600" y="4724400"/>
              <a:ext cx="1828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31" name="TextBox 30"/>
          <p:cNvSpPr txBox="1"/>
          <p:nvPr/>
        </p:nvSpPr>
        <p:spPr>
          <a:xfrm>
            <a:off x="2133600" y="1828800"/>
            <a:ext cx="2895600" cy="584775"/>
          </a:xfrm>
          <a:prstGeom prst="rect">
            <a:avLst/>
          </a:prstGeom>
          <a:noFill/>
        </p:spPr>
        <p:txBody>
          <a:bodyPr wrap="square" rtlCol="0">
            <a:spAutoFit/>
          </a:bodyPr>
          <a:lstStyle/>
          <a:p>
            <a:r>
              <a:rPr lang="en-US" sz="3200" dirty="0" smtClean="0"/>
              <a:t>z</a:t>
            </a:r>
            <a:endParaRPr lang="en-US" sz="3200" dirty="0"/>
          </a:p>
        </p:txBody>
      </p:sp>
      <p:sp>
        <p:nvSpPr>
          <p:cNvPr id="33" name="TextBox 32"/>
          <p:cNvSpPr txBox="1"/>
          <p:nvPr/>
        </p:nvSpPr>
        <p:spPr>
          <a:xfrm>
            <a:off x="152400" y="2590800"/>
            <a:ext cx="3886200" cy="584775"/>
          </a:xfrm>
          <a:prstGeom prst="rect">
            <a:avLst/>
          </a:prstGeom>
          <a:noFill/>
        </p:spPr>
        <p:txBody>
          <a:bodyPr wrap="square" rtlCol="0">
            <a:spAutoFit/>
          </a:bodyPr>
          <a:lstStyle/>
          <a:p>
            <a:r>
              <a:rPr lang="en-US" sz="3200" dirty="0" smtClean="0"/>
              <a:t>The image of d is ?</a:t>
            </a:r>
            <a:endParaRPr lang="en-US" sz="3200" dirty="0"/>
          </a:p>
        </p:txBody>
      </p:sp>
      <p:sp>
        <p:nvSpPr>
          <p:cNvPr id="35" name="TextBox 34"/>
          <p:cNvSpPr txBox="1"/>
          <p:nvPr/>
        </p:nvSpPr>
        <p:spPr>
          <a:xfrm>
            <a:off x="3733800" y="2590800"/>
            <a:ext cx="685800" cy="584775"/>
          </a:xfrm>
          <a:prstGeom prst="rect">
            <a:avLst/>
          </a:prstGeom>
          <a:noFill/>
        </p:spPr>
        <p:txBody>
          <a:bodyPr wrap="square" rtlCol="0">
            <a:spAutoFit/>
          </a:bodyPr>
          <a:lstStyle/>
          <a:p>
            <a:r>
              <a:rPr lang="en-US" sz="3200" dirty="0" smtClean="0"/>
              <a:t>z</a:t>
            </a:r>
            <a:endParaRPr lang="en-US" sz="3200" dirty="0"/>
          </a:p>
        </p:txBody>
      </p:sp>
      <p:sp>
        <p:nvSpPr>
          <p:cNvPr id="36" name="TextBox 35"/>
          <p:cNvSpPr txBox="1"/>
          <p:nvPr/>
        </p:nvSpPr>
        <p:spPr>
          <a:xfrm>
            <a:off x="304800" y="3352800"/>
            <a:ext cx="3886200" cy="584775"/>
          </a:xfrm>
          <a:prstGeom prst="rect">
            <a:avLst/>
          </a:prstGeom>
          <a:noFill/>
        </p:spPr>
        <p:txBody>
          <a:bodyPr wrap="square" rtlCol="0">
            <a:spAutoFit/>
          </a:bodyPr>
          <a:lstStyle/>
          <a:p>
            <a:r>
              <a:rPr lang="en-US" sz="3200" dirty="0" smtClean="0"/>
              <a:t>The domain of f is ?</a:t>
            </a:r>
            <a:endParaRPr lang="en-US" sz="3200" dirty="0"/>
          </a:p>
        </p:txBody>
      </p:sp>
      <p:sp>
        <p:nvSpPr>
          <p:cNvPr id="38" name="TextBox 37"/>
          <p:cNvSpPr txBox="1"/>
          <p:nvPr/>
        </p:nvSpPr>
        <p:spPr>
          <a:xfrm>
            <a:off x="3962400" y="3352800"/>
            <a:ext cx="609600" cy="584775"/>
          </a:xfrm>
          <a:prstGeom prst="rect">
            <a:avLst/>
          </a:prstGeom>
          <a:noFill/>
        </p:spPr>
        <p:txBody>
          <a:bodyPr wrap="square" rtlCol="0">
            <a:spAutoFit/>
          </a:bodyPr>
          <a:lstStyle/>
          <a:p>
            <a:r>
              <a:rPr lang="en-US" sz="3200" i="1" dirty="0" smtClean="0"/>
              <a:t>A</a:t>
            </a:r>
            <a:endParaRPr lang="en-US" sz="3200" i="1" dirty="0"/>
          </a:p>
        </p:txBody>
      </p:sp>
      <p:sp>
        <p:nvSpPr>
          <p:cNvPr id="39" name="TextBox 38"/>
          <p:cNvSpPr txBox="1"/>
          <p:nvPr/>
        </p:nvSpPr>
        <p:spPr>
          <a:xfrm>
            <a:off x="152400" y="4038600"/>
            <a:ext cx="4038600" cy="584775"/>
          </a:xfrm>
          <a:prstGeom prst="rect">
            <a:avLst/>
          </a:prstGeom>
          <a:noFill/>
        </p:spPr>
        <p:txBody>
          <a:bodyPr wrap="square" rtlCol="0">
            <a:spAutoFit/>
          </a:bodyPr>
          <a:lstStyle/>
          <a:p>
            <a:r>
              <a:rPr lang="en-US" sz="3200" dirty="0" smtClean="0"/>
              <a:t>The </a:t>
            </a:r>
            <a:r>
              <a:rPr lang="en-US" sz="3200" dirty="0" err="1" smtClean="0"/>
              <a:t>codomain</a:t>
            </a:r>
            <a:r>
              <a:rPr lang="en-US" sz="3200" dirty="0" smtClean="0"/>
              <a:t> of f is ?</a:t>
            </a:r>
            <a:endParaRPr lang="en-US" sz="3200" dirty="0"/>
          </a:p>
        </p:txBody>
      </p:sp>
      <p:sp>
        <p:nvSpPr>
          <p:cNvPr id="40" name="TextBox 39"/>
          <p:cNvSpPr txBox="1"/>
          <p:nvPr/>
        </p:nvSpPr>
        <p:spPr>
          <a:xfrm>
            <a:off x="4267200" y="4038600"/>
            <a:ext cx="381000" cy="584775"/>
          </a:xfrm>
          <a:prstGeom prst="rect">
            <a:avLst/>
          </a:prstGeom>
          <a:noFill/>
        </p:spPr>
        <p:txBody>
          <a:bodyPr wrap="square" rtlCol="0">
            <a:spAutoFit/>
          </a:bodyPr>
          <a:lstStyle/>
          <a:p>
            <a:r>
              <a:rPr lang="en-US" sz="3200" i="1" dirty="0" smtClean="0"/>
              <a:t>B</a:t>
            </a:r>
            <a:endParaRPr lang="en-US" sz="3200" i="1" dirty="0"/>
          </a:p>
        </p:txBody>
      </p:sp>
      <p:sp>
        <p:nvSpPr>
          <p:cNvPr id="41" name="TextBox 40"/>
          <p:cNvSpPr txBox="1"/>
          <p:nvPr/>
        </p:nvSpPr>
        <p:spPr>
          <a:xfrm>
            <a:off x="152400" y="4724400"/>
            <a:ext cx="4114800" cy="584775"/>
          </a:xfrm>
          <a:prstGeom prst="rect">
            <a:avLst/>
          </a:prstGeom>
          <a:noFill/>
        </p:spPr>
        <p:txBody>
          <a:bodyPr wrap="square" rtlCol="0">
            <a:spAutoFit/>
          </a:bodyPr>
          <a:lstStyle/>
          <a:p>
            <a:r>
              <a:rPr lang="en-US" sz="3200" dirty="0" smtClean="0"/>
              <a:t>The </a:t>
            </a:r>
            <a:r>
              <a:rPr lang="en-US" sz="3200" dirty="0" err="1" smtClean="0"/>
              <a:t>preimage</a:t>
            </a:r>
            <a:r>
              <a:rPr lang="en-US" sz="3200" dirty="0" smtClean="0"/>
              <a:t> of y is ?</a:t>
            </a:r>
            <a:endParaRPr lang="en-US" sz="3200" dirty="0"/>
          </a:p>
        </p:txBody>
      </p:sp>
      <p:sp>
        <p:nvSpPr>
          <p:cNvPr id="42" name="TextBox 41"/>
          <p:cNvSpPr txBox="1"/>
          <p:nvPr/>
        </p:nvSpPr>
        <p:spPr>
          <a:xfrm>
            <a:off x="4114800" y="4724400"/>
            <a:ext cx="457200" cy="584775"/>
          </a:xfrm>
          <a:prstGeom prst="rect">
            <a:avLst/>
          </a:prstGeom>
          <a:noFill/>
        </p:spPr>
        <p:txBody>
          <a:bodyPr wrap="square" rtlCol="0">
            <a:spAutoFit/>
          </a:bodyPr>
          <a:lstStyle/>
          <a:p>
            <a:r>
              <a:rPr lang="en-US" sz="3200" dirty="0" smtClean="0"/>
              <a:t>b</a:t>
            </a:r>
            <a:endParaRPr lang="en-US" sz="3200" dirty="0"/>
          </a:p>
        </p:txBody>
      </p:sp>
      <p:sp>
        <p:nvSpPr>
          <p:cNvPr id="43" name="TextBox 42"/>
          <p:cNvSpPr txBox="1"/>
          <p:nvPr/>
        </p:nvSpPr>
        <p:spPr>
          <a:xfrm>
            <a:off x="457200" y="5486400"/>
            <a:ext cx="1600200" cy="584775"/>
          </a:xfrm>
          <a:prstGeom prst="rect">
            <a:avLst/>
          </a:prstGeom>
          <a:noFill/>
        </p:spPr>
        <p:txBody>
          <a:bodyPr wrap="square" rtlCol="0">
            <a:spAutoFit/>
          </a:bodyPr>
          <a:lstStyle/>
          <a:p>
            <a:r>
              <a:rPr lang="en-US" sz="3200" i="1" dirty="0" smtClean="0"/>
              <a:t>f</a:t>
            </a:r>
            <a:r>
              <a:rPr lang="en-US" sz="3200" dirty="0" smtClean="0"/>
              <a:t>(</a:t>
            </a:r>
            <a:r>
              <a:rPr lang="en-US" sz="3200" i="1" dirty="0" smtClean="0"/>
              <a:t>A</a:t>
            </a:r>
            <a:r>
              <a:rPr lang="en-US" sz="3200" dirty="0" smtClean="0"/>
              <a:t>) = ?</a:t>
            </a:r>
            <a:endParaRPr lang="en-US" sz="3200" dirty="0"/>
          </a:p>
        </p:txBody>
      </p:sp>
      <p:sp>
        <p:nvSpPr>
          <p:cNvPr id="44" name="TextBox 43"/>
          <p:cNvSpPr txBox="1"/>
          <p:nvPr/>
        </p:nvSpPr>
        <p:spPr>
          <a:xfrm>
            <a:off x="6477000" y="6019800"/>
            <a:ext cx="2667000" cy="584775"/>
          </a:xfrm>
          <a:prstGeom prst="rect">
            <a:avLst/>
          </a:prstGeom>
          <a:noFill/>
        </p:spPr>
        <p:txBody>
          <a:bodyPr wrap="square" rtlCol="0">
            <a:spAutoFit/>
          </a:bodyPr>
          <a:lstStyle/>
          <a:p>
            <a:r>
              <a:rPr lang="en-US" sz="3200" dirty="0" smtClean="0"/>
              <a:t>{</a:t>
            </a:r>
            <a:r>
              <a:rPr lang="en-US" sz="3200" dirty="0" err="1" smtClean="0"/>
              <a:t>a,c,d</a:t>
            </a:r>
            <a:r>
              <a:rPr lang="en-US" sz="3200" dirty="0" smtClean="0"/>
              <a:t>}</a:t>
            </a:r>
            <a:endParaRPr lang="en-US" sz="3200" dirty="0"/>
          </a:p>
        </p:txBody>
      </p:sp>
      <p:sp>
        <p:nvSpPr>
          <p:cNvPr id="45" name="TextBox 44"/>
          <p:cNvSpPr txBox="1"/>
          <p:nvPr/>
        </p:nvSpPr>
        <p:spPr>
          <a:xfrm>
            <a:off x="304800" y="6096000"/>
            <a:ext cx="6019800" cy="584775"/>
          </a:xfrm>
          <a:prstGeom prst="rect">
            <a:avLst/>
          </a:prstGeom>
          <a:noFill/>
        </p:spPr>
        <p:txBody>
          <a:bodyPr wrap="square" rtlCol="0">
            <a:spAutoFit/>
          </a:bodyPr>
          <a:lstStyle/>
          <a:p>
            <a:r>
              <a:rPr lang="en-US" sz="3200" dirty="0" smtClean="0"/>
              <a:t>The </a:t>
            </a:r>
            <a:r>
              <a:rPr lang="en-US" sz="3200" dirty="0" err="1" smtClean="0"/>
              <a:t>preimage</a:t>
            </a:r>
            <a:r>
              <a:rPr lang="en-US" sz="3200" dirty="0" smtClean="0"/>
              <a:t>(s) of z is (are) ?</a:t>
            </a:r>
            <a:endParaRPr lang="en-US" sz="3200" dirty="0"/>
          </a:p>
        </p:txBody>
      </p:sp>
      <p:sp>
        <p:nvSpPr>
          <p:cNvPr id="37" name="TextBox 36"/>
          <p:cNvSpPr txBox="1"/>
          <p:nvPr/>
        </p:nvSpPr>
        <p:spPr>
          <a:xfrm>
            <a:off x="2590800" y="5471984"/>
            <a:ext cx="2667000" cy="584775"/>
          </a:xfrm>
          <a:prstGeom prst="rect">
            <a:avLst/>
          </a:prstGeom>
          <a:noFill/>
        </p:spPr>
        <p:txBody>
          <a:bodyPr wrap="square" rtlCol="0">
            <a:spAutoFit/>
          </a:bodyPr>
          <a:lstStyle/>
          <a:p>
            <a:r>
              <a:rPr lang="en-US" sz="3200" dirty="0" smtClean="0"/>
              <a:t>{</a:t>
            </a:r>
            <a:r>
              <a:rPr lang="en-US" sz="3200" dirty="0" err="1" smtClean="0"/>
              <a:t>y,z</a:t>
            </a:r>
            <a:r>
              <a:rPr lang="en-US" sz="3200" dirty="0" smtClean="0"/>
              <a:t>}</a:t>
            </a:r>
            <a:endParaRPr lang="en-US" sz="3200" dirty="0"/>
          </a:p>
        </p:txBody>
      </p:sp>
    </p:spTree>
    <p:extLst>
      <p:ext uri="{BB962C8B-B14F-4D97-AF65-F5344CB8AC3E}">
        <p14:creationId xmlns:p14="http://schemas.microsoft.com/office/powerpoint/2010/main" val="300589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P spid="35" grpId="0"/>
      <p:bldP spid="36" grpId="0"/>
      <p:bldP spid="39" grpId="0"/>
      <p:bldP spid="40" grpId="0"/>
      <p:bldP spid="41" grpId="0"/>
      <p:bldP spid="42" grpId="0"/>
      <p:bldP spid="43" grpId="0"/>
      <p:bldP spid="44" grpId="0"/>
      <p:bldP spid="45" grpId="0"/>
      <p:bldP spid="3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on Functions and Sets </a:t>
            </a:r>
            <a:endParaRPr lang="en-US" dirty="0"/>
          </a:p>
        </p:txBody>
      </p:sp>
      <p:sp>
        <p:nvSpPr>
          <p:cNvPr id="3" name="Content Placeholder 2"/>
          <p:cNvSpPr>
            <a:spLocks noGrp="1"/>
          </p:cNvSpPr>
          <p:nvPr>
            <p:ph idx="1"/>
          </p:nvPr>
        </p:nvSpPr>
        <p:spPr/>
        <p:txBody>
          <a:bodyPr/>
          <a:lstStyle/>
          <a:p>
            <a:r>
              <a:rPr lang="en-US" dirty="0" smtClean="0"/>
              <a:t>If                         and  S is a subset of A, then </a:t>
            </a:r>
          </a:p>
          <a:p>
            <a:endParaRPr lang="en-US" dirty="0" smtClean="0"/>
          </a:p>
          <a:p>
            <a:pPr>
              <a:buNone/>
            </a:pPr>
            <a:endParaRPr lang="en-US" dirty="0"/>
          </a:p>
        </p:txBody>
      </p:sp>
      <p:pic>
        <p:nvPicPr>
          <p:cNvPr id="4" name="Picture 3" descr="addin_tmp.png"/>
          <p:cNvPicPr>
            <a:picLocks noChangeAspect="1"/>
          </p:cNvPicPr>
          <p:nvPr>
            <p:custDataLst>
              <p:tags r:id="rId1"/>
            </p:custDataLst>
          </p:nvPr>
        </p:nvPicPr>
        <p:blipFill>
          <a:blip r:embed="rId4" cstate="print"/>
          <a:stretch>
            <a:fillRect/>
          </a:stretch>
        </p:blipFill>
        <p:spPr>
          <a:xfrm>
            <a:off x="2514600" y="2895600"/>
            <a:ext cx="3317558" cy="382905"/>
          </a:xfrm>
          <a:prstGeom prst="rect">
            <a:avLst/>
          </a:prstGeom>
        </p:spPr>
      </p:pic>
      <p:pic>
        <p:nvPicPr>
          <p:cNvPr id="5" name="Picture 4" descr="addin_tmp.png"/>
          <p:cNvPicPr>
            <a:picLocks noChangeAspect="1"/>
          </p:cNvPicPr>
          <p:nvPr>
            <p:custDataLst>
              <p:tags r:id="rId2"/>
            </p:custDataLst>
          </p:nvPr>
        </p:nvPicPr>
        <p:blipFill>
          <a:blip r:embed="rId5" cstate="print"/>
          <a:stretch>
            <a:fillRect/>
          </a:stretch>
        </p:blipFill>
        <p:spPr>
          <a:xfrm>
            <a:off x="1143000" y="2057400"/>
            <a:ext cx="1688783" cy="345758"/>
          </a:xfrm>
          <a:prstGeom prst="rect">
            <a:avLst/>
          </a:prstGeom>
        </p:spPr>
      </p:pic>
      <p:grpSp>
        <p:nvGrpSpPr>
          <p:cNvPr id="6" name="Group 5"/>
          <p:cNvGrpSpPr/>
          <p:nvPr/>
        </p:nvGrpSpPr>
        <p:grpSpPr>
          <a:xfrm>
            <a:off x="5943600" y="2971800"/>
            <a:ext cx="2667000" cy="3200400"/>
            <a:chOff x="3048000" y="1219200"/>
            <a:chExt cx="3276600" cy="3733800"/>
          </a:xfrm>
        </p:grpSpPr>
        <p:sp>
          <p:nvSpPr>
            <p:cNvPr id="7" name="Flowchart: Connector 6"/>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p:cNvSpPr/>
            <p:nvPr/>
          </p:nvSpPr>
          <p:spPr>
            <a:xfrm>
              <a:off x="5715000" y="2438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3048000" y="1219200"/>
              <a:ext cx="685800" cy="825867"/>
            </a:xfrm>
            <a:prstGeom prst="rect">
              <a:avLst/>
            </a:prstGeom>
            <a:noFill/>
          </p:spPr>
          <p:txBody>
            <a:bodyPr wrap="square" rtlCol="0">
              <a:spAutoFit/>
            </a:bodyPr>
            <a:lstStyle/>
            <a:p>
              <a:r>
                <a:rPr lang="en-US" sz="4000" i="1" dirty="0" smtClean="0"/>
                <a:t>A</a:t>
              </a:r>
              <a:endParaRPr lang="en-US" sz="4000" i="1" dirty="0"/>
            </a:p>
          </p:txBody>
        </p:sp>
        <p:sp>
          <p:nvSpPr>
            <p:cNvPr id="15" name="TextBox 14"/>
            <p:cNvSpPr txBox="1"/>
            <p:nvPr/>
          </p:nvSpPr>
          <p:spPr>
            <a:xfrm>
              <a:off x="5638800" y="1219200"/>
              <a:ext cx="685800" cy="825867"/>
            </a:xfrm>
            <a:prstGeom prst="rect">
              <a:avLst/>
            </a:prstGeom>
            <a:noFill/>
          </p:spPr>
          <p:txBody>
            <a:bodyPr wrap="square" rtlCol="0">
              <a:spAutoFit/>
            </a:bodyPr>
            <a:lstStyle/>
            <a:p>
              <a:r>
                <a:rPr lang="en-US" sz="4000" i="1" dirty="0" smtClean="0"/>
                <a:t>B</a:t>
              </a:r>
              <a:endParaRPr lang="en-US" sz="4000" i="1" dirty="0"/>
            </a:p>
          </p:txBody>
        </p:sp>
        <p:sp>
          <p:nvSpPr>
            <p:cNvPr id="16" name="TextBox 15"/>
            <p:cNvSpPr txBox="1"/>
            <p:nvPr/>
          </p:nvSpPr>
          <p:spPr>
            <a:xfrm>
              <a:off x="3200400" y="2133600"/>
              <a:ext cx="304800" cy="369332"/>
            </a:xfrm>
            <a:prstGeom prst="rect">
              <a:avLst/>
            </a:prstGeom>
            <a:noFill/>
          </p:spPr>
          <p:txBody>
            <a:bodyPr wrap="square" rtlCol="0">
              <a:spAutoFit/>
            </a:bodyPr>
            <a:lstStyle/>
            <a:p>
              <a:r>
                <a:rPr lang="en-US" dirty="0" smtClean="0"/>
                <a:t>a</a:t>
              </a:r>
              <a:endParaRPr lang="en-US" dirty="0"/>
            </a:p>
          </p:txBody>
        </p:sp>
        <p:sp>
          <p:nvSpPr>
            <p:cNvPr id="17" name="TextBox 16"/>
            <p:cNvSpPr txBox="1"/>
            <p:nvPr/>
          </p:nvSpPr>
          <p:spPr>
            <a:xfrm>
              <a:off x="3200400" y="3048000"/>
              <a:ext cx="304800" cy="369332"/>
            </a:xfrm>
            <a:prstGeom prst="rect">
              <a:avLst/>
            </a:prstGeom>
            <a:noFill/>
          </p:spPr>
          <p:txBody>
            <a:bodyPr wrap="square" rtlCol="0">
              <a:spAutoFit/>
            </a:bodyPr>
            <a:lstStyle/>
            <a:p>
              <a:r>
                <a:rPr lang="en-US" dirty="0" smtClean="0"/>
                <a:t>b</a:t>
              </a:r>
              <a:endParaRPr lang="en-US" dirty="0"/>
            </a:p>
          </p:txBody>
        </p:sp>
        <p:sp>
          <p:nvSpPr>
            <p:cNvPr id="18" name="TextBox 17"/>
            <p:cNvSpPr txBox="1"/>
            <p:nvPr/>
          </p:nvSpPr>
          <p:spPr>
            <a:xfrm>
              <a:off x="3200400" y="3810000"/>
              <a:ext cx="304800" cy="369332"/>
            </a:xfrm>
            <a:prstGeom prst="rect">
              <a:avLst/>
            </a:prstGeom>
            <a:noFill/>
          </p:spPr>
          <p:txBody>
            <a:bodyPr wrap="square" rtlCol="0">
              <a:spAutoFit/>
            </a:bodyPr>
            <a:lstStyle/>
            <a:p>
              <a:r>
                <a:rPr lang="en-US" dirty="0" smtClean="0"/>
                <a:t>c</a:t>
              </a:r>
              <a:endParaRPr lang="en-US" dirty="0"/>
            </a:p>
          </p:txBody>
        </p:sp>
        <p:sp>
          <p:nvSpPr>
            <p:cNvPr id="19" name="TextBox 18"/>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20" name="TextBox 19"/>
            <p:cNvSpPr txBox="1"/>
            <p:nvPr/>
          </p:nvSpPr>
          <p:spPr>
            <a:xfrm>
              <a:off x="5791200" y="2514600"/>
              <a:ext cx="304800" cy="369332"/>
            </a:xfrm>
            <a:prstGeom prst="rect">
              <a:avLst/>
            </a:prstGeom>
            <a:noFill/>
          </p:spPr>
          <p:txBody>
            <a:bodyPr wrap="square" rtlCol="0">
              <a:spAutoFit/>
            </a:bodyPr>
            <a:lstStyle/>
            <a:p>
              <a:r>
                <a:rPr lang="en-US" dirty="0" smtClean="0"/>
                <a:t>x</a:t>
              </a:r>
              <a:endParaRPr lang="en-US" dirty="0"/>
            </a:p>
          </p:txBody>
        </p:sp>
        <p:sp>
          <p:nvSpPr>
            <p:cNvPr id="21" name="TextBox 20"/>
            <p:cNvSpPr txBox="1"/>
            <p:nvPr/>
          </p:nvSpPr>
          <p:spPr>
            <a:xfrm>
              <a:off x="5791200" y="3352800"/>
              <a:ext cx="304800" cy="369332"/>
            </a:xfrm>
            <a:prstGeom prst="rect">
              <a:avLst/>
            </a:prstGeom>
            <a:noFill/>
          </p:spPr>
          <p:txBody>
            <a:bodyPr wrap="square" rtlCol="0">
              <a:spAutoFit/>
            </a:bodyPr>
            <a:lstStyle/>
            <a:p>
              <a:r>
                <a:rPr lang="en-US" dirty="0" smtClean="0"/>
                <a:t>y</a:t>
              </a:r>
              <a:endParaRPr lang="en-US" dirty="0"/>
            </a:p>
          </p:txBody>
        </p:sp>
        <p:sp>
          <p:nvSpPr>
            <p:cNvPr id="22" name="TextBox 21"/>
            <p:cNvSpPr txBox="1"/>
            <p:nvPr/>
          </p:nvSpPr>
          <p:spPr>
            <a:xfrm>
              <a:off x="5791200" y="4419600"/>
              <a:ext cx="304800" cy="369332"/>
            </a:xfrm>
            <a:prstGeom prst="rect">
              <a:avLst/>
            </a:prstGeom>
            <a:noFill/>
          </p:spPr>
          <p:txBody>
            <a:bodyPr wrap="square" rtlCol="0">
              <a:spAutoFit/>
            </a:bodyPr>
            <a:lstStyle/>
            <a:p>
              <a:r>
                <a:rPr lang="en-US" dirty="0" smtClean="0"/>
                <a:t>z</a:t>
              </a:r>
              <a:endParaRPr lang="en-US" dirty="0"/>
            </a:p>
          </p:txBody>
        </p:sp>
        <p:cxnSp>
          <p:nvCxnSpPr>
            <p:cNvPr id="23" name="Straight Arrow Connector 22"/>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0" idx="6"/>
            </p:cNvCxnSpPr>
            <p:nvPr/>
          </p:nvCxnSpPr>
          <p:spPr>
            <a:xfrm>
              <a:off x="3581400" y="2286000"/>
              <a:ext cx="22098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733800" y="4038600"/>
              <a:ext cx="19050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3657600" y="4724400"/>
              <a:ext cx="1828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7" name="TextBox 26"/>
          <p:cNvSpPr txBox="1"/>
          <p:nvPr/>
        </p:nvSpPr>
        <p:spPr>
          <a:xfrm>
            <a:off x="1524000" y="4648200"/>
            <a:ext cx="2514600" cy="584775"/>
          </a:xfrm>
          <a:prstGeom prst="rect">
            <a:avLst/>
          </a:prstGeom>
          <a:noFill/>
        </p:spPr>
        <p:txBody>
          <a:bodyPr wrap="square" rtlCol="0">
            <a:spAutoFit/>
          </a:bodyPr>
          <a:lstStyle/>
          <a:p>
            <a:r>
              <a:rPr lang="en-US" sz="3200" i="1" dirty="0" smtClean="0"/>
              <a:t>f </a:t>
            </a:r>
            <a:r>
              <a:rPr lang="en-US" sz="3200" dirty="0" smtClean="0"/>
              <a:t>{</a:t>
            </a:r>
            <a:r>
              <a:rPr lang="en-US" sz="3200" dirty="0" err="1" smtClean="0"/>
              <a:t>c,d</a:t>
            </a:r>
            <a:r>
              <a:rPr lang="en-US" sz="3200" dirty="0" smtClean="0"/>
              <a:t>} is ?</a:t>
            </a:r>
            <a:endParaRPr lang="en-US" sz="3200" dirty="0"/>
          </a:p>
        </p:txBody>
      </p:sp>
      <p:sp>
        <p:nvSpPr>
          <p:cNvPr id="28" name="TextBox 27"/>
          <p:cNvSpPr txBox="1"/>
          <p:nvPr/>
        </p:nvSpPr>
        <p:spPr>
          <a:xfrm>
            <a:off x="3962400" y="3810000"/>
            <a:ext cx="1066800" cy="461665"/>
          </a:xfrm>
          <a:prstGeom prst="rect">
            <a:avLst/>
          </a:prstGeom>
          <a:noFill/>
        </p:spPr>
        <p:txBody>
          <a:bodyPr wrap="square" rtlCol="0">
            <a:spAutoFit/>
          </a:bodyPr>
          <a:lstStyle/>
          <a:p>
            <a:r>
              <a:rPr lang="en-US" sz="2400" dirty="0" smtClean="0"/>
              <a:t>{</a:t>
            </a:r>
            <a:r>
              <a:rPr lang="en-US" sz="2400" dirty="0" err="1" smtClean="0"/>
              <a:t>y,z</a:t>
            </a:r>
            <a:r>
              <a:rPr lang="en-US" sz="2400" dirty="0" smtClean="0"/>
              <a:t>}</a:t>
            </a:r>
            <a:endParaRPr lang="en-US" sz="2400" dirty="0"/>
          </a:p>
        </p:txBody>
      </p:sp>
      <p:sp>
        <p:nvSpPr>
          <p:cNvPr id="29" name="TextBox 28"/>
          <p:cNvSpPr txBox="1"/>
          <p:nvPr/>
        </p:nvSpPr>
        <p:spPr>
          <a:xfrm>
            <a:off x="1524000" y="3733800"/>
            <a:ext cx="2514600" cy="584775"/>
          </a:xfrm>
          <a:prstGeom prst="rect">
            <a:avLst/>
          </a:prstGeom>
          <a:noFill/>
        </p:spPr>
        <p:txBody>
          <a:bodyPr wrap="square" rtlCol="0">
            <a:spAutoFit/>
          </a:bodyPr>
          <a:lstStyle/>
          <a:p>
            <a:r>
              <a:rPr lang="en-US" sz="3200" i="1" dirty="0" smtClean="0"/>
              <a:t>f </a:t>
            </a:r>
            <a:r>
              <a:rPr lang="en-US" sz="3200" dirty="0" smtClean="0"/>
              <a:t>{</a:t>
            </a:r>
            <a:r>
              <a:rPr lang="en-US" sz="3200" dirty="0" err="1" smtClean="0"/>
              <a:t>a,b,c</a:t>
            </a:r>
            <a:r>
              <a:rPr lang="en-US" sz="3200" dirty="0" smtClean="0"/>
              <a:t>,} is ?</a:t>
            </a:r>
            <a:endParaRPr lang="en-US" sz="3200" dirty="0"/>
          </a:p>
        </p:txBody>
      </p:sp>
      <p:sp>
        <p:nvSpPr>
          <p:cNvPr id="30" name="TextBox 29"/>
          <p:cNvSpPr txBox="1"/>
          <p:nvPr/>
        </p:nvSpPr>
        <p:spPr>
          <a:xfrm>
            <a:off x="4038600" y="4724400"/>
            <a:ext cx="609600" cy="461665"/>
          </a:xfrm>
          <a:prstGeom prst="rect">
            <a:avLst/>
          </a:prstGeom>
          <a:noFill/>
        </p:spPr>
        <p:txBody>
          <a:bodyPr wrap="square" rtlCol="0">
            <a:spAutoFit/>
          </a:bodyPr>
          <a:lstStyle/>
          <a:p>
            <a:r>
              <a:rPr lang="en-US" sz="2400" dirty="0" smtClean="0"/>
              <a:t>{</a:t>
            </a:r>
            <a:r>
              <a:rPr lang="en-US" sz="2400" i="1" dirty="0" smtClean="0"/>
              <a:t>z</a:t>
            </a:r>
            <a:r>
              <a:rPr lang="en-US" sz="2400" dirty="0" smtClean="0"/>
              <a:t>}</a:t>
            </a:r>
            <a:endParaRPr lang="en-US" sz="2400" dirty="0"/>
          </a:p>
        </p:txBody>
      </p:sp>
    </p:spTree>
    <p:extLst>
      <p:ext uri="{BB962C8B-B14F-4D97-AF65-F5344CB8AC3E}">
        <p14:creationId xmlns:p14="http://schemas.microsoft.com/office/powerpoint/2010/main" val="211919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Injections</a:t>
            </a:r>
            <a:endParaRPr lang="en-US" dirty="0"/>
          </a:p>
        </p:txBody>
      </p:sp>
      <p:sp>
        <p:nvSpPr>
          <p:cNvPr id="5" name="Content Placeholder 4"/>
          <p:cNvSpPr>
            <a:spLocks noGrp="1"/>
          </p:cNvSpPr>
          <p:nvPr>
            <p:ph idx="1"/>
          </p:nvPr>
        </p:nvSpPr>
        <p:spPr/>
        <p:txBody>
          <a:bodyPr/>
          <a:lstStyle/>
          <a:p>
            <a:pPr>
              <a:buNone/>
            </a:pPr>
            <a:r>
              <a:rPr lang="en-US" b="1" dirty="0" smtClean="0"/>
              <a:t>   Definition</a:t>
            </a:r>
            <a:r>
              <a:rPr lang="en-US" dirty="0" smtClean="0"/>
              <a:t>: A function f is said to be </a:t>
            </a:r>
            <a:r>
              <a:rPr lang="en-US" i="1" dirty="0" smtClean="0"/>
              <a:t>one-to-one</a:t>
            </a:r>
            <a:r>
              <a:rPr lang="en-US" dirty="0" smtClean="0"/>
              <a:t> ,  or </a:t>
            </a:r>
            <a:r>
              <a:rPr lang="en-US" i="1" dirty="0" smtClean="0"/>
              <a:t>injective</a:t>
            </a:r>
            <a:r>
              <a:rPr lang="en-US" dirty="0" smtClean="0"/>
              <a:t>, if and only if </a:t>
            </a:r>
            <a:r>
              <a:rPr lang="en-US" i="1" dirty="0" smtClean="0"/>
              <a:t>f</a:t>
            </a:r>
            <a:r>
              <a:rPr lang="en-US" dirty="0" smtClean="0"/>
              <a:t>(</a:t>
            </a:r>
            <a:r>
              <a:rPr lang="en-US" i="1" dirty="0" smtClean="0"/>
              <a:t>a</a:t>
            </a:r>
            <a:r>
              <a:rPr lang="en-US" dirty="0" smtClean="0"/>
              <a:t>) = </a:t>
            </a:r>
            <a:r>
              <a:rPr lang="en-US" i="1" dirty="0" smtClean="0"/>
              <a:t>f</a:t>
            </a:r>
            <a:r>
              <a:rPr lang="en-US" dirty="0" smtClean="0"/>
              <a:t>(</a:t>
            </a:r>
            <a:r>
              <a:rPr lang="en-US" i="1" dirty="0" smtClean="0"/>
              <a:t>b</a:t>
            </a:r>
            <a:r>
              <a:rPr lang="en-US" dirty="0" smtClean="0"/>
              <a:t>) implies that  </a:t>
            </a:r>
            <a:r>
              <a:rPr lang="en-US" i="1" dirty="0" smtClean="0"/>
              <a:t>a</a:t>
            </a:r>
            <a:r>
              <a:rPr lang="en-US" dirty="0" smtClean="0"/>
              <a:t> = </a:t>
            </a:r>
            <a:r>
              <a:rPr lang="en-US" i="1" dirty="0" smtClean="0"/>
              <a:t>b</a:t>
            </a:r>
            <a:r>
              <a:rPr lang="en-US" dirty="0" smtClean="0"/>
              <a:t> for all </a:t>
            </a:r>
            <a:r>
              <a:rPr lang="en-US" i="1" dirty="0" smtClean="0"/>
              <a:t>a</a:t>
            </a:r>
            <a:r>
              <a:rPr lang="en-US" dirty="0" smtClean="0"/>
              <a:t> and </a:t>
            </a:r>
            <a:r>
              <a:rPr lang="en-US" i="1" dirty="0" smtClean="0"/>
              <a:t>b</a:t>
            </a:r>
            <a:r>
              <a:rPr lang="en-US" dirty="0" smtClean="0"/>
              <a:t> in the domain of </a:t>
            </a:r>
            <a:r>
              <a:rPr lang="en-US" i="1" dirty="0" smtClean="0"/>
              <a:t>f</a:t>
            </a:r>
            <a:r>
              <a:rPr lang="en-US" dirty="0" smtClean="0"/>
              <a:t>. A function is said to be an </a:t>
            </a:r>
            <a:r>
              <a:rPr lang="en-US" i="1" dirty="0" smtClean="0"/>
              <a:t>injection</a:t>
            </a:r>
            <a:r>
              <a:rPr lang="en-US" dirty="0" smtClean="0"/>
              <a:t> if it is one-to-one.</a:t>
            </a:r>
            <a:endParaRPr lang="en-US" dirty="0"/>
          </a:p>
        </p:txBody>
      </p:sp>
      <p:grpSp>
        <p:nvGrpSpPr>
          <p:cNvPr id="7" name="Group 6"/>
          <p:cNvGrpSpPr/>
          <p:nvPr/>
        </p:nvGrpSpPr>
        <p:grpSpPr>
          <a:xfrm>
            <a:off x="5638800" y="3352800"/>
            <a:ext cx="2438400" cy="3276600"/>
            <a:chOff x="3048000" y="1219200"/>
            <a:chExt cx="3429000" cy="4495800"/>
          </a:xfrm>
        </p:grpSpPr>
        <p:sp>
          <p:nvSpPr>
            <p:cNvPr id="8" name="Flowchart: Connector 7"/>
            <p:cNvSpPr/>
            <p:nvPr/>
          </p:nvSpPr>
          <p:spPr>
            <a:xfrm>
              <a:off x="5791200" y="19812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867400" y="2743200"/>
              <a:ext cx="304800" cy="369332"/>
            </a:xfrm>
            <a:prstGeom prst="rect">
              <a:avLst/>
            </a:prstGeom>
            <a:noFill/>
          </p:spPr>
          <p:txBody>
            <a:bodyPr wrap="square" rtlCol="0">
              <a:spAutoFit/>
            </a:bodyPr>
            <a:lstStyle/>
            <a:p>
              <a:r>
                <a:rPr lang="en-US" dirty="0" smtClean="0"/>
                <a:t>v</a:t>
              </a:r>
              <a:endParaRPr lang="en-US" dirty="0"/>
            </a:p>
          </p:txBody>
        </p:sp>
        <p:sp>
          <p:nvSpPr>
            <p:cNvPr id="10" name="Flowchart: Connector 9"/>
            <p:cNvSpPr/>
            <p:nvPr/>
          </p:nvSpPr>
          <p:spPr>
            <a:xfrm>
              <a:off x="5791200" y="5257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867400" y="5334000"/>
              <a:ext cx="304800" cy="369332"/>
            </a:xfrm>
            <a:prstGeom prst="rect">
              <a:avLst/>
            </a:prstGeom>
            <a:noFill/>
          </p:spPr>
          <p:txBody>
            <a:bodyPr wrap="square" rtlCol="0">
              <a:spAutoFit/>
            </a:bodyPr>
            <a:lstStyle/>
            <a:p>
              <a:r>
                <a:rPr lang="en-US" dirty="0" smtClean="0"/>
                <a:t>w</a:t>
              </a:r>
              <a:endParaRPr lang="en-US" dirty="0"/>
            </a:p>
          </p:txBody>
        </p:sp>
        <p:grpSp>
          <p:nvGrpSpPr>
            <p:cNvPr id="12" name="Group 34"/>
            <p:cNvGrpSpPr/>
            <p:nvPr/>
          </p:nvGrpSpPr>
          <p:grpSpPr>
            <a:xfrm>
              <a:off x="3048000" y="1219200"/>
              <a:ext cx="3429000" cy="4114800"/>
              <a:chOff x="3048000" y="1219200"/>
              <a:chExt cx="3429000" cy="4114800"/>
            </a:xfrm>
          </p:grpSpPr>
          <p:sp>
            <p:nvSpPr>
              <p:cNvPr id="13" name="Flowchart: Connector 12"/>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Connector 13"/>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6"/>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Connector 17"/>
              <p:cNvSpPr/>
              <p:nvPr/>
            </p:nvSpPr>
            <p:spPr>
              <a:xfrm>
                <a:off x="5791200" y="41910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3048000" y="1219200"/>
                <a:ext cx="685800" cy="707886"/>
              </a:xfrm>
              <a:prstGeom prst="rect">
                <a:avLst/>
              </a:prstGeom>
              <a:noFill/>
            </p:spPr>
            <p:txBody>
              <a:bodyPr wrap="square" rtlCol="0">
                <a:spAutoFit/>
              </a:bodyPr>
              <a:lstStyle/>
              <a:p>
                <a:r>
                  <a:rPr lang="en-US" sz="4000" b="1" dirty="0" smtClean="0"/>
                  <a:t>A</a:t>
                </a:r>
                <a:endParaRPr lang="en-US" sz="4000" b="1" dirty="0"/>
              </a:p>
            </p:txBody>
          </p:sp>
          <p:sp>
            <p:nvSpPr>
              <p:cNvPr id="20" name="TextBox 19"/>
              <p:cNvSpPr txBox="1"/>
              <p:nvPr/>
            </p:nvSpPr>
            <p:spPr>
              <a:xfrm>
                <a:off x="5791200" y="1219200"/>
                <a:ext cx="685800" cy="707886"/>
              </a:xfrm>
              <a:prstGeom prst="rect">
                <a:avLst/>
              </a:prstGeom>
              <a:noFill/>
            </p:spPr>
            <p:txBody>
              <a:bodyPr wrap="square" rtlCol="0">
                <a:spAutoFit/>
              </a:bodyPr>
              <a:lstStyle/>
              <a:p>
                <a:r>
                  <a:rPr lang="en-US" sz="4000" b="1" dirty="0" smtClean="0"/>
                  <a:t>B</a:t>
                </a:r>
                <a:endParaRPr lang="en-US" sz="4000" b="1" dirty="0"/>
              </a:p>
            </p:txBody>
          </p:sp>
          <p:sp>
            <p:nvSpPr>
              <p:cNvPr id="21" name="TextBox 20"/>
              <p:cNvSpPr txBox="1"/>
              <p:nvPr/>
            </p:nvSpPr>
            <p:spPr>
              <a:xfrm>
                <a:off x="3200400" y="2133600"/>
                <a:ext cx="304800" cy="369332"/>
              </a:xfrm>
              <a:prstGeom prst="rect">
                <a:avLst/>
              </a:prstGeom>
              <a:noFill/>
            </p:spPr>
            <p:txBody>
              <a:bodyPr wrap="square" rtlCol="0">
                <a:spAutoFit/>
              </a:bodyPr>
              <a:lstStyle/>
              <a:p>
                <a:r>
                  <a:rPr lang="en-US" dirty="0" smtClean="0"/>
                  <a:t>a</a:t>
                </a:r>
                <a:endParaRPr lang="en-US" dirty="0"/>
              </a:p>
            </p:txBody>
          </p:sp>
          <p:sp>
            <p:nvSpPr>
              <p:cNvPr id="22" name="TextBox 21"/>
              <p:cNvSpPr txBox="1"/>
              <p:nvPr/>
            </p:nvSpPr>
            <p:spPr>
              <a:xfrm>
                <a:off x="3200400" y="3048000"/>
                <a:ext cx="304800" cy="369332"/>
              </a:xfrm>
              <a:prstGeom prst="rect">
                <a:avLst/>
              </a:prstGeom>
              <a:noFill/>
            </p:spPr>
            <p:txBody>
              <a:bodyPr wrap="square" rtlCol="0">
                <a:spAutoFit/>
              </a:bodyPr>
              <a:lstStyle/>
              <a:p>
                <a:r>
                  <a:rPr lang="en-US" dirty="0" smtClean="0"/>
                  <a:t>b</a:t>
                </a:r>
                <a:endParaRPr lang="en-US" dirty="0"/>
              </a:p>
            </p:txBody>
          </p:sp>
          <p:sp>
            <p:nvSpPr>
              <p:cNvPr id="23" name="TextBox 22"/>
              <p:cNvSpPr txBox="1"/>
              <p:nvPr/>
            </p:nvSpPr>
            <p:spPr>
              <a:xfrm>
                <a:off x="3200400" y="3810000"/>
                <a:ext cx="304800" cy="369332"/>
              </a:xfrm>
              <a:prstGeom prst="rect">
                <a:avLst/>
              </a:prstGeom>
              <a:noFill/>
            </p:spPr>
            <p:txBody>
              <a:bodyPr wrap="square" rtlCol="0">
                <a:spAutoFit/>
              </a:bodyPr>
              <a:lstStyle/>
              <a:p>
                <a:r>
                  <a:rPr lang="en-US" dirty="0" smtClean="0"/>
                  <a:t>c</a:t>
                </a:r>
                <a:endParaRPr lang="en-US" dirty="0"/>
              </a:p>
            </p:txBody>
          </p:sp>
          <p:sp>
            <p:nvSpPr>
              <p:cNvPr id="24" name="TextBox 23"/>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25" name="TextBox 24"/>
              <p:cNvSpPr txBox="1"/>
              <p:nvPr/>
            </p:nvSpPr>
            <p:spPr>
              <a:xfrm>
                <a:off x="5867400" y="2057400"/>
                <a:ext cx="304800" cy="369332"/>
              </a:xfrm>
              <a:prstGeom prst="rect">
                <a:avLst/>
              </a:prstGeom>
              <a:noFill/>
            </p:spPr>
            <p:txBody>
              <a:bodyPr wrap="square" rtlCol="0">
                <a:spAutoFit/>
              </a:bodyPr>
              <a:lstStyle/>
              <a:p>
                <a:r>
                  <a:rPr lang="en-US" dirty="0" smtClean="0"/>
                  <a:t>x</a:t>
                </a:r>
                <a:endParaRPr lang="en-US" dirty="0"/>
              </a:p>
            </p:txBody>
          </p:sp>
          <p:sp>
            <p:nvSpPr>
              <p:cNvPr id="26" name="TextBox 25"/>
              <p:cNvSpPr txBox="1"/>
              <p:nvPr/>
            </p:nvSpPr>
            <p:spPr>
              <a:xfrm>
                <a:off x="5791200" y="3352800"/>
                <a:ext cx="304800" cy="369332"/>
              </a:xfrm>
              <a:prstGeom prst="rect">
                <a:avLst/>
              </a:prstGeom>
              <a:noFill/>
            </p:spPr>
            <p:txBody>
              <a:bodyPr wrap="square" rtlCol="0">
                <a:spAutoFit/>
              </a:bodyPr>
              <a:lstStyle/>
              <a:p>
                <a:r>
                  <a:rPr lang="en-US" dirty="0" smtClean="0"/>
                  <a:t>y</a:t>
                </a:r>
                <a:endParaRPr lang="en-US" dirty="0"/>
              </a:p>
            </p:txBody>
          </p:sp>
          <p:sp>
            <p:nvSpPr>
              <p:cNvPr id="27" name="TextBox 26"/>
              <p:cNvSpPr txBox="1"/>
              <p:nvPr/>
            </p:nvSpPr>
            <p:spPr>
              <a:xfrm>
                <a:off x="5867400" y="4267200"/>
                <a:ext cx="304800" cy="369332"/>
              </a:xfrm>
              <a:prstGeom prst="rect">
                <a:avLst/>
              </a:prstGeom>
              <a:noFill/>
            </p:spPr>
            <p:txBody>
              <a:bodyPr wrap="square" rtlCol="0">
                <a:spAutoFit/>
              </a:bodyPr>
              <a:lstStyle/>
              <a:p>
                <a:r>
                  <a:rPr lang="en-US" dirty="0" smtClean="0"/>
                  <a:t>z</a:t>
                </a:r>
                <a:endParaRPr lang="en-US" dirty="0"/>
              </a:p>
            </p:txBody>
          </p:sp>
          <p:cxnSp>
            <p:nvCxnSpPr>
              <p:cNvPr id="28" name="Straight Arrow Connector 27"/>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5" idx="6"/>
              </p:cNvCxnSpPr>
              <p:nvPr/>
            </p:nvCxnSpPr>
            <p:spPr>
              <a:xfrm>
                <a:off x="3581400" y="2286000"/>
                <a:ext cx="22098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Flowchart: Connector 29"/>
              <p:cNvSpPr/>
              <p:nvPr/>
            </p:nvSpPr>
            <p:spPr>
              <a:xfrm>
                <a:off x="5791200" y="26670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p:cNvCxnSpPr/>
              <p:nvPr/>
            </p:nvCxnSpPr>
            <p:spPr>
              <a:xfrm flipV="1">
                <a:off x="3657600" y="2286000"/>
                <a:ext cx="20574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3657600" y="4724400"/>
                <a:ext cx="20574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pic>
        <p:nvPicPr>
          <p:cNvPr id="2050" name="Picture 2" descr="C:\Documents and Settings\Richard Scherl\Local Settings\Temporary Internet Files\Content.IE5\X53FR289\MC900347475[1].wmf"/>
          <p:cNvPicPr>
            <a:picLocks noChangeAspect="1" noChangeArrowheads="1"/>
          </p:cNvPicPr>
          <p:nvPr/>
        </p:nvPicPr>
        <p:blipFill>
          <a:blip r:embed="rId2" cstate="print"/>
          <a:srcRect/>
          <a:stretch>
            <a:fillRect/>
          </a:stretch>
        </p:blipFill>
        <p:spPr bwMode="auto">
          <a:xfrm>
            <a:off x="914400" y="4343400"/>
            <a:ext cx="1806854" cy="1752905"/>
          </a:xfrm>
          <a:prstGeom prst="rect">
            <a:avLst/>
          </a:prstGeom>
          <a:noFill/>
        </p:spPr>
      </p:pic>
    </p:spTree>
    <p:extLst>
      <p:ext uri="{BB962C8B-B14F-4D97-AF65-F5344CB8AC3E}">
        <p14:creationId xmlns:p14="http://schemas.microsoft.com/office/powerpoint/2010/main" val="367999735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Surjections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A function </a:t>
            </a:r>
            <a:r>
              <a:rPr lang="en-US" i="1" dirty="0" smtClean="0"/>
              <a:t>f</a:t>
            </a:r>
            <a:r>
              <a:rPr lang="en-US" dirty="0" smtClean="0"/>
              <a:t> from </a:t>
            </a:r>
            <a:r>
              <a:rPr lang="en-US" i="1" dirty="0" smtClean="0"/>
              <a:t>A</a:t>
            </a:r>
            <a:r>
              <a:rPr lang="en-US" dirty="0" smtClean="0"/>
              <a:t> to </a:t>
            </a:r>
            <a:r>
              <a:rPr lang="en-US" i="1" dirty="0" smtClean="0"/>
              <a:t>B</a:t>
            </a:r>
            <a:r>
              <a:rPr lang="en-US" dirty="0" smtClean="0"/>
              <a:t> is called </a:t>
            </a:r>
            <a:r>
              <a:rPr lang="en-US" i="1" dirty="0" smtClean="0"/>
              <a:t>onto</a:t>
            </a:r>
            <a:r>
              <a:rPr lang="en-US" dirty="0" smtClean="0"/>
              <a:t> or </a:t>
            </a:r>
            <a:r>
              <a:rPr lang="en-US" i="1" dirty="0" err="1" smtClean="0"/>
              <a:t>surjective</a:t>
            </a:r>
            <a:r>
              <a:rPr lang="en-US" dirty="0" smtClean="0"/>
              <a:t>, if and only if for every element               there is an element               with                   .  A function </a:t>
            </a:r>
            <a:r>
              <a:rPr lang="en-US" i="1" dirty="0" smtClean="0"/>
              <a:t>f</a:t>
            </a:r>
            <a:r>
              <a:rPr lang="en-US" b="1" dirty="0" smtClean="0"/>
              <a:t> </a:t>
            </a:r>
            <a:r>
              <a:rPr lang="en-US" dirty="0" smtClean="0"/>
              <a:t>is called a </a:t>
            </a:r>
            <a:r>
              <a:rPr lang="en-US" i="1" dirty="0" smtClean="0"/>
              <a:t>surjection</a:t>
            </a:r>
            <a:r>
              <a:rPr lang="en-US" dirty="0" smtClean="0"/>
              <a:t> if it is onto.</a:t>
            </a:r>
            <a:endParaRPr lang="en-US" dirty="0"/>
          </a:p>
        </p:txBody>
      </p:sp>
      <p:pic>
        <p:nvPicPr>
          <p:cNvPr id="4" name="Picture 3" descr="addin_tmp.png"/>
          <p:cNvPicPr>
            <a:picLocks noChangeAspect="1"/>
          </p:cNvPicPr>
          <p:nvPr>
            <p:custDataLst>
              <p:tags r:id="rId1"/>
            </p:custDataLst>
          </p:nvPr>
        </p:nvPicPr>
        <p:blipFill>
          <a:blip r:embed="rId5" cstate="print"/>
          <a:stretch>
            <a:fillRect/>
          </a:stretch>
        </p:blipFill>
        <p:spPr>
          <a:xfrm>
            <a:off x="6934200" y="2438400"/>
            <a:ext cx="900113" cy="282893"/>
          </a:xfrm>
          <a:prstGeom prst="rect">
            <a:avLst/>
          </a:prstGeom>
        </p:spPr>
      </p:pic>
      <p:pic>
        <p:nvPicPr>
          <p:cNvPr id="5" name="Picture 4" descr="addin_tmp.png"/>
          <p:cNvPicPr>
            <a:picLocks noChangeAspect="1"/>
          </p:cNvPicPr>
          <p:nvPr>
            <p:custDataLst>
              <p:tags r:id="rId2"/>
            </p:custDataLst>
          </p:nvPr>
        </p:nvPicPr>
        <p:blipFill>
          <a:blip r:embed="rId6" cstate="print"/>
          <a:stretch>
            <a:fillRect/>
          </a:stretch>
        </p:blipFill>
        <p:spPr>
          <a:xfrm>
            <a:off x="3657600" y="2819400"/>
            <a:ext cx="925830" cy="285750"/>
          </a:xfrm>
          <a:prstGeom prst="rect">
            <a:avLst/>
          </a:prstGeom>
        </p:spPr>
      </p:pic>
      <p:pic>
        <p:nvPicPr>
          <p:cNvPr id="6" name="Picture 5" descr="addin_tmp.png"/>
          <p:cNvPicPr>
            <a:picLocks noChangeAspect="1"/>
          </p:cNvPicPr>
          <p:nvPr>
            <p:custDataLst>
              <p:tags r:id="rId3"/>
            </p:custDataLst>
          </p:nvPr>
        </p:nvPicPr>
        <p:blipFill>
          <a:blip r:embed="rId7" cstate="print"/>
          <a:stretch>
            <a:fillRect/>
          </a:stretch>
        </p:blipFill>
        <p:spPr>
          <a:xfrm>
            <a:off x="5486400" y="2819400"/>
            <a:ext cx="1365885" cy="382905"/>
          </a:xfrm>
          <a:prstGeom prst="rect">
            <a:avLst/>
          </a:prstGeom>
        </p:spPr>
      </p:pic>
      <p:grpSp>
        <p:nvGrpSpPr>
          <p:cNvPr id="7" name="Group 6"/>
          <p:cNvGrpSpPr/>
          <p:nvPr/>
        </p:nvGrpSpPr>
        <p:grpSpPr>
          <a:xfrm>
            <a:off x="4724400" y="3886200"/>
            <a:ext cx="2575560" cy="2590800"/>
            <a:chOff x="3048000" y="985838"/>
            <a:chExt cx="3408829" cy="3967162"/>
          </a:xfrm>
        </p:grpSpPr>
        <p:sp>
          <p:nvSpPr>
            <p:cNvPr id="8" name="Flowchart: Connector 7"/>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p:cNvSpPr/>
            <p:nvPr/>
          </p:nvSpPr>
          <p:spPr>
            <a:xfrm>
              <a:off x="5791200" y="19812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Connector 13"/>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3048000" y="985838"/>
              <a:ext cx="685800" cy="707886"/>
            </a:xfrm>
            <a:prstGeom prst="rect">
              <a:avLst/>
            </a:prstGeom>
            <a:noFill/>
          </p:spPr>
          <p:txBody>
            <a:bodyPr wrap="square" rtlCol="0">
              <a:spAutoFit/>
            </a:bodyPr>
            <a:lstStyle/>
            <a:p>
              <a:r>
                <a:rPr lang="en-US" sz="4000" b="1" dirty="0" smtClean="0"/>
                <a:t>A</a:t>
              </a:r>
              <a:endParaRPr lang="en-US" sz="4000" b="1" dirty="0"/>
            </a:p>
          </p:txBody>
        </p:sp>
        <p:sp>
          <p:nvSpPr>
            <p:cNvPr id="16" name="TextBox 15"/>
            <p:cNvSpPr txBox="1"/>
            <p:nvPr/>
          </p:nvSpPr>
          <p:spPr>
            <a:xfrm>
              <a:off x="5771029" y="985838"/>
              <a:ext cx="685800" cy="707886"/>
            </a:xfrm>
            <a:prstGeom prst="rect">
              <a:avLst/>
            </a:prstGeom>
            <a:noFill/>
          </p:spPr>
          <p:txBody>
            <a:bodyPr wrap="square" rtlCol="0">
              <a:spAutoFit/>
            </a:bodyPr>
            <a:lstStyle/>
            <a:p>
              <a:r>
                <a:rPr lang="en-US" sz="4000" b="1" dirty="0" smtClean="0"/>
                <a:t>B</a:t>
              </a:r>
              <a:endParaRPr lang="en-US" sz="4000" b="1" dirty="0"/>
            </a:p>
          </p:txBody>
        </p:sp>
        <p:sp>
          <p:nvSpPr>
            <p:cNvPr id="17" name="TextBox 16"/>
            <p:cNvSpPr txBox="1"/>
            <p:nvPr/>
          </p:nvSpPr>
          <p:spPr>
            <a:xfrm>
              <a:off x="3148853" y="2035969"/>
              <a:ext cx="304800" cy="369331"/>
            </a:xfrm>
            <a:prstGeom prst="rect">
              <a:avLst/>
            </a:prstGeom>
            <a:noFill/>
          </p:spPr>
          <p:txBody>
            <a:bodyPr wrap="square" rtlCol="0">
              <a:spAutoFit/>
            </a:bodyPr>
            <a:lstStyle/>
            <a:p>
              <a:r>
                <a:rPr lang="en-US" dirty="0" smtClean="0"/>
                <a:t>a</a:t>
              </a:r>
              <a:endParaRPr lang="en-US" dirty="0"/>
            </a:p>
          </p:txBody>
        </p:sp>
        <p:sp>
          <p:nvSpPr>
            <p:cNvPr id="18" name="TextBox 17"/>
            <p:cNvSpPr txBox="1"/>
            <p:nvPr/>
          </p:nvSpPr>
          <p:spPr>
            <a:xfrm>
              <a:off x="3148853" y="2969419"/>
              <a:ext cx="304800" cy="369331"/>
            </a:xfrm>
            <a:prstGeom prst="rect">
              <a:avLst/>
            </a:prstGeom>
            <a:noFill/>
          </p:spPr>
          <p:txBody>
            <a:bodyPr wrap="square" rtlCol="0">
              <a:spAutoFit/>
            </a:bodyPr>
            <a:lstStyle/>
            <a:p>
              <a:r>
                <a:rPr lang="en-US" dirty="0" smtClean="0"/>
                <a:t>b</a:t>
              </a:r>
              <a:endParaRPr lang="en-US" dirty="0"/>
            </a:p>
          </p:txBody>
        </p:sp>
        <p:sp>
          <p:nvSpPr>
            <p:cNvPr id="19" name="TextBox 18"/>
            <p:cNvSpPr txBox="1"/>
            <p:nvPr/>
          </p:nvSpPr>
          <p:spPr>
            <a:xfrm>
              <a:off x="3148853" y="3669506"/>
              <a:ext cx="304800" cy="565540"/>
            </a:xfrm>
            <a:prstGeom prst="rect">
              <a:avLst/>
            </a:prstGeom>
            <a:noFill/>
          </p:spPr>
          <p:txBody>
            <a:bodyPr wrap="square" rtlCol="0">
              <a:spAutoFit/>
            </a:bodyPr>
            <a:lstStyle/>
            <a:p>
              <a:r>
                <a:rPr lang="en-US" dirty="0" smtClean="0"/>
                <a:t>c</a:t>
              </a:r>
              <a:endParaRPr lang="en-US" dirty="0"/>
            </a:p>
          </p:txBody>
        </p:sp>
        <p:sp>
          <p:nvSpPr>
            <p:cNvPr id="20" name="TextBox 19"/>
            <p:cNvSpPr txBox="1"/>
            <p:nvPr/>
          </p:nvSpPr>
          <p:spPr>
            <a:xfrm>
              <a:off x="3148853" y="4486275"/>
              <a:ext cx="304800" cy="369331"/>
            </a:xfrm>
            <a:prstGeom prst="rect">
              <a:avLst/>
            </a:prstGeom>
            <a:noFill/>
          </p:spPr>
          <p:txBody>
            <a:bodyPr wrap="square" rtlCol="0">
              <a:spAutoFit/>
            </a:bodyPr>
            <a:lstStyle/>
            <a:p>
              <a:r>
                <a:rPr lang="en-US" dirty="0" smtClean="0"/>
                <a:t>d</a:t>
              </a:r>
              <a:endParaRPr lang="en-US" dirty="0"/>
            </a:p>
          </p:txBody>
        </p:sp>
        <p:sp>
          <p:nvSpPr>
            <p:cNvPr id="21" name="TextBox 20"/>
            <p:cNvSpPr txBox="1"/>
            <p:nvPr/>
          </p:nvSpPr>
          <p:spPr>
            <a:xfrm>
              <a:off x="5871882" y="1919288"/>
              <a:ext cx="304800" cy="369331"/>
            </a:xfrm>
            <a:prstGeom prst="rect">
              <a:avLst/>
            </a:prstGeom>
            <a:noFill/>
          </p:spPr>
          <p:txBody>
            <a:bodyPr wrap="square" rtlCol="0">
              <a:spAutoFit/>
            </a:bodyPr>
            <a:lstStyle/>
            <a:p>
              <a:r>
                <a:rPr lang="en-US" dirty="0" smtClean="0"/>
                <a:t>x</a:t>
              </a:r>
              <a:endParaRPr lang="en-US" dirty="0"/>
            </a:p>
          </p:txBody>
        </p:sp>
        <p:sp>
          <p:nvSpPr>
            <p:cNvPr id="22" name="TextBox 21"/>
            <p:cNvSpPr txBox="1"/>
            <p:nvPr/>
          </p:nvSpPr>
          <p:spPr>
            <a:xfrm>
              <a:off x="5771029" y="3202781"/>
              <a:ext cx="304800" cy="369331"/>
            </a:xfrm>
            <a:prstGeom prst="rect">
              <a:avLst/>
            </a:prstGeom>
            <a:noFill/>
          </p:spPr>
          <p:txBody>
            <a:bodyPr wrap="square" rtlCol="0">
              <a:spAutoFit/>
            </a:bodyPr>
            <a:lstStyle/>
            <a:p>
              <a:r>
                <a:rPr lang="en-US" dirty="0" smtClean="0"/>
                <a:t>y</a:t>
              </a:r>
              <a:endParaRPr lang="en-US" dirty="0"/>
            </a:p>
          </p:txBody>
        </p:sp>
        <p:sp>
          <p:nvSpPr>
            <p:cNvPr id="23" name="TextBox 22"/>
            <p:cNvSpPr txBox="1"/>
            <p:nvPr/>
          </p:nvSpPr>
          <p:spPr>
            <a:xfrm>
              <a:off x="5771029" y="4252913"/>
              <a:ext cx="304800" cy="369331"/>
            </a:xfrm>
            <a:prstGeom prst="rect">
              <a:avLst/>
            </a:prstGeom>
            <a:noFill/>
          </p:spPr>
          <p:txBody>
            <a:bodyPr wrap="square" rtlCol="0">
              <a:spAutoFit/>
            </a:bodyPr>
            <a:lstStyle/>
            <a:p>
              <a:r>
                <a:rPr lang="en-US" dirty="0" smtClean="0"/>
                <a:t>z</a:t>
              </a:r>
              <a:endParaRPr lang="en-US" dirty="0"/>
            </a:p>
          </p:txBody>
        </p:sp>
        <p:cxnSp>
          <p:nvCxnSpPr>
            <p:cNvPr id="24" name="Straight Arrow Connector 23"/>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0" idx="6"/>
            </p:cNvCxnSpPr>
            <p:nvPr/>
          </p:nvCxnSpPr>
          <p:spPr>
            <a:xfrm>
              <a:off x="3581400" y="2286000"/>
              <a:ext cx="22098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3657600" y="2286000"/>
              <a:ext cx="20574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3657600" y="4572000"/>
              <a:ext cx="19812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49103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Bijections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A function f is a </a:t>
            </a:r>
            <a:r>
              <a:rPr lang="en-US" i="1" dirty="0" smtClean="0"/>
              <a:t>one-to-one correspondence</a:t>
            </a:r>
            <a:r>
              <a:rPr lang="en-US" dirty="0" smtClean="0"/>
              <a:t>, or a </a:t>
            </a:r>
            <a:r>
              <a:rPr lang="en-US" i="1" dirty="0" err="1" smtClean="0"/>
              <a:t>bijection</a:t>
            </a:r>
            <a:r>
              <a:rPr lang="en-US" dirty="0" smtClean="0"/>
              <a:t>, if it is both one-to-one and onto (</a:t>
            </a:r>
            <a:r>
              <a:rPr lang="en-US" dirty="0" err="1" smtClean="0"/>
              <a:t>surjective</a:t>
            </a:r>
            <a:r>
              <a:rPr lang="en-US" dirty="0" smtClean="0"/>
              <a:t> and injective).</a:t>
            </a:r>
            <a:endParaRPr lang="en-US" dirty="0"/>
          </a:p>
        </p:txBody>
      </p:sp>
      <p:grpSp>
        <p:nvGrpSpPr>
          <p:cNvPr id="4" name="Group 3"/>
          <p:cNvGrpSpPr/>
          <p:nvPr/>
        </p:nvGrpSpPr>
        <p:grpSpPr>
          <a:xfrm>
            <a:off x="4648200" y="3429000"/>
            <a:ext cx="2956560" cy="3048000"/>
            <a:chOff x="3048000" y="1219200"/>
            <a:chExt cx="3411415" cy="4495800"/>
          </a:xfrm>
        </p:grpSpPr>
        <p:sp>
          <p:nvSpPr>
            <p:cNvPr id="5" name="Flowchart: Connector 4"/>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5773615" y="211836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048000" y="1219200"/>
              <a:ext cx="685800" cy="707886"/>
            </a:xfrm>
            <a:prstGeom prst="rect">
              <a:avLst/>
            </a:prstGeom>
            <a:noFill/>
          </p:spPr>
          <p:txBody>
            <a:bodyPr wrap="square" rtlCol="0">
              <a:spAutoFit/>
            </a:bodyPr>
            <a:lstStyle/>
            <a:p>
              <a:r>
                <a:rPr lang="en-US" sz="4000" b="1" dirty="0" smtClean="0"/>
                <a:t>A</a:t>
              </a:r>
              <a:endParaRPr lang="en-US" sz="4000" b="1" dirty="0"/>
            </a:p>
          </p:txBody>
        </p:sp>
        <p:sp>
          <p:nvSpPr>
            <p:cNvPr id="13" name="TextBox 12"/>
            <p:cNvSpPr txBox="1"/>
            <p:nvPr/>
          </p:nvSpPr>
          <p:spPr>
            <a:xfrm>
              <a:off x="5773615" y="1219200"/>
              <a:ext cx="685800" cy="707886"/>
            </a:xfrm>
            <a:prstGeom prst="rect">
              <a:avLst/>
            </a:prstGeom>
            <a:noFill/>
          </p:spPr>
          <p:txBody>
            <a:bodyPr wrap="square" rtlCol="0">
              <a:spAutoFit/>
            </a:bodyPr>
            <a:lstStyle/>
            <a:p>
              <a:r>
                <a:rPr lang="en-US" sz="4000" b="1" dirty="0" smtClean="0"/>
                <a:t>B</a:t>
              </a:r>
              <a:endParaRPr lang="en-US" sz="4000" b="1" dirty="0"/>
            </a:p>
          </p:txBody>
        </p:sp>
        <p:sp>
          <p:nvSpPr>
            <p:cNvPr id="14" name="TextBox 13"/>
            <p:cNvSpPr txBox="1"/>
            <p:nvPr/>
          </p:nvSpPr>
          <p:spPr>
            <a:xfrm>
              <a:off x="3135923" y="2005965"/>
              <a:ext cx="304800" cy="369333"/>
            </a:xfrm>
            <a:prstGeom prst="rect">
              <a:avLst/>
            </a:prstGeom>
            <a:noFill/>
          </p:spPr>
          <p:txBody>
            <a:bodyPr wrap="square" rtlCol="0">
              <a:spAutoFit/>
            </a:bodyPr>
            <a:lstStyle/>
            <a:p>
              <a:r>
                <a:rPr lang="en-US" dirty="0" smtClean="0"/>
                <a:t>a</a:t>
              </a:r>
              <a:endParaRPr lang="en-US" dirty="0"/>
            </a:p>
          </p:txBody>
        </p:sp>
        <p:sp>
          <p:nvSpPr>
            <p:cNvPr id="15" name="TextBox 14"/>
            <p:cNvSpPr txBox="1"/>
            <p:nvPr/>
          </p:nvSpPr>
          <p:spPr>
            <a:xfrm>
              <a:off x="3223846" y="3017520"/>
              <a:ext cx="304800" cy="369333"/>
            </a:xfrm>
            <a:prstGeom prst="rect">
              <a:avLst/>
            </a:prstGeom>
            <a:noFill/>
          </p:spPr>
          <p:txBody>
            <a:bodyPr wrap="square" rtlCol="0">
              <a:spAutoFit/>
            </a:bodyPr>
            <a:lstStyle/>
            <a:p>
              <a:r>
                <a:rPr lang="en-US" dirty="0" smtClean="0"/>
                <a:t>b</a:t>
              </a:r>
              <a:endParaRPr lang="en-US" dirty="0"/>
            </a:p>
          </p:txBody>
        </p:sp>
        <p:sp>
          <p:nvSpPr>
            <p:cNvPr id="16" name="TextBox 15"/>
            <p:cNvSpPr txBox="1"/>
            <p:nvPr/>
          </p:nvSpPr>
          <p:spPr>
            <a:xfrm>
              <a:off x="3223846" y="3691890"/>
              <a:ext cx="304800" cy="369333"/>
            </a:xfrm>
            <a:prstGeom prst="rect">
              <a:avLst/>
            </a:prstGeom>
            <a:noFill/>
          </p:spPr>
          <p:txBody>
            <a:bodyPr wrap="square" rtlCol="0">
              <a:spAutoFit/>
            </a:bodyPr>
            <a:lstStyle/>
            <a:p>
              <a:r>
                <a:rPr lang="en-US" dirty="0" smtClean="0"/>
                <a:t>c</a:t>
              </a:r>
              <a:endParaRPr lang="en-US" dirty="0"/>
            </a:p>
          </p:txBody>
        </p:sp>
        <p:sp>
          <p:nvSpPr>
            <p:cNvPr id="17" name="TextBox 16"/>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18" name="TextBox 17"/>
            <p:cNvSpPr txBox="1"/>
            <p:nvPr/>
          </p:nvSpPr>
          <p:spPr>
            <a:xfrm>
              <a:off x="5861538" y="2005965"/>
              <a:ext cx="304800" cy="369333"/>
            </a:xfrm>
            <a:prstGeom prst="rect">
              <a:avLst/>
            </a:prstGeom>
            <a:noFill/>
          </p:spPr>
          <p:txBody>
            <a:bodyPr wrap="square" rtlCol="0">
              <a:spAutoFit/>
            </a:bodyPr>
            <a:lstStyle/>
            <a:p>
              <a:r>
                <a:rPr lang="en-US" dirty="0" smtClean="0"/>
                <a:t>x</a:t>
              </a:r>
              <a:endParaRPr lang="en-US" dirty="0"/>
            </a:p>
          </p:txBody>
        </p:sp>
        <p:sp>
          <p:nvSpPr>
            <p:cNvPr id="19" name="TextBox 18"/>
            <p:cNvSpPr txBox="1"/>
            <p:nvPr/>
          </p:nvSpPr>
          <p:spPr>
            <a:xfrm>
              <a:off x="5773615" y="3242310"/>
              <a:ext cx="304800" cy="369333"/>
            </a:xfrm>
            <a:prstGeom prst="rect">
              <a:avLst/>
            </a:prstGeom>
            <a:noFill/>
          </p:spPr>
          <p:txBody>
            <a:bodyPr wrap="square" rtlCol="0">
              <a:spAutoFit/>
            </a:bodyPr>
            <a:lstStyle/>
            <a:p>
              <a:r>
                <a:rPr lang="en-US" dirty="0" smtClean="0"/>
                <a:t>y</a:t>
              </a:r>
              <a:endParaRPr lang="en-US" dirty="0"/>
            </a:p>
          </p:txBody>
        </p:sp>
        <p:sp>
          <p:nvSpPr>
            <p:cNvPr id="20" name="TextBox 19"/>
            <p:cNvSpPr txBox="1"/>
            <p:nvPr/>
          </p:nvSpPr>
          <p:spPr>
            <a:xfrm>
              <a:off x="5773615" y="4366260"/>
              <a:ext cx="304800" cy="369333"/>
            </a:xfrm>
            <a:prstGeom prst="rect">
              <a:avLst/>
            </a:prstGeom>
            <a:noFill/>
          </p:spPr>
          <p:txBody>
            <a:bodyPr wrap="square" rtlCol="0">
              <a:spAutoFit/>
            </a:bodyPr>
            <a:lstStyle/>
            <a:p>
              <a:r>
                <a:rPr lang="en-US" dirty="0" smtClean="0"/>
                <a:t>z</a:t>
              </a:r>
              <a:endParaRPr lang="en-US" dirty="0"/>
            </a:p>
          </p:txBody>
        </p:sp>
        <p:cxnSp>
          <p:nvCxnSpPr>
            <p:cNvPr id="21" name="Straight Arrow Connector 20"/>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7" idx="6"/>
            </p:cNvCxnSpPr>
            <p:nvPr/>
          </p:nvCxnSpPr>
          <p:spPr>
            <a:xfrm>
              <a:off x="3581400" y="2286000"/>
              <a:ext cx="22098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Flowchart: Connector 22"/>
            <p:cNvSpPr/>
            <p:nvPr/>
          </p:nvSpPr>
          <p:spPr>
            <a:xfrm>
              <a:off x="5791200" y="5257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861538" y="5265420"/>
              <a:ext cx="304800" cy="369333"/>
            </a:xfrm>
            <a:prstGeom prst="rect">
              <a:avLst/>
            </a:prstGeom>
            <a:noFill/>
          </p:spPr>
          <p:txBody>
            <a:bodyPr wrap="square" rtlCol="0">
              <a:spAutoFit/>
            </a:bodyPr>
            <a:lstStyle/>
            <a:p>
              <a:r>
                <a:rPr lang="en-US" dirty="0" smtClean="0"/>
                <a:t>w</a:t>
              </a:r>
              <a:endParaRPr lang="en-US" dirty="0"/>
            </a:p>
          </p:txBody>
        </p:sp>
        <p:cxnSp>
          <p:nvCxnSpPr>
            <p:cNvPr id="25" name="Straight Arrow Connector 24"/>
            <p:cNvCxnSpPr/>
            <p:nvPr/>
          </p:nvCxnSpPr>
          <p:spPr>
            <a:xfrm flipV="1">
              <a:off x="3657600" y="2286000"/>
              <a:ext cx="20574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3657600" y="4724400"/>
              <a:ext cx="20574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951518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Showing that </a:t>
            </a:r>
            <a:r>
              <a:rPr lang="en-US" sz="4000" i="1" dirty="0" smtClean="0"/>
              <a:t>f</a:t>
            </a:r>
            <a:r>
              <a:rPr lang="en-US" sz="4000" dirty="0" smtClean="0"/>
              <a:t> is one-to-one or onto</a:t>
            </a:r>
            <a:endParaRPr lang="en-US" sz="4000" dirty="0"/>
          </a:p>
        </p:txBody>
      </p:sp>
      <p:pic>
        <p:nvPicPr>
          <p:cNvPr id="4" name="Content Placeholder 3" descr="Rosen_page_145_screen.jpg"/>
          <p:cNvPicPr>
            <a:picLocks noGrp="1" noChangeAspect="1"/>
          </p:cNvPicPr>
          <p:nvPr>
            <p:ph idx="1"/>
          </p:nvPr>
        </p:nvPicPr>
        <p:blipFill>
          <a:blip r:embed="rId2" cstate="print"/>
          <a:stretch>
            <a:fillRect/>
          </a:stretch>
        </p:blipFill>
        <p:spPr>
          <a:xfrm>
            <a:off x="381000" y="2514600"/>
            <a:ext cx="8319232" cy="3160173"/>
          </a:xfrm>
        </p:spPr>
      </p:pic>
    </p:spTree>
    <p:extLst>
      <p:ext uri="{BB962C8B-B14F-4D97-AF65-F5344CB8AC3E}">
        <p14:creationId xmlns:p14="http://schemas.microsoft.com/office/powerpoint/2010/main" val="379259269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Showing that </a:t>
            </a:r>
            <a:r>
              <a:rPr lang="en-US" sz="4000" i="1" dirty="0" smtClean="0"/>
              <a:t>f</a:t>
            </a:r>
            <a:r>
              <a:rPr lang="en-US" sz="4000" dirty="0" smtClean="0"/>
              <a:t> is one-to-one or onto</a:t>
            </a:r>
            <a:endParaRPr lang="en-US" sz="4000" dirty="0"/>
          </a:p>
        </p:txBody>
      </p:sp>
      <p:sp>
        <p:nvSpPr>
          <p:cNvPr id="5" name="Content Placeholder 4"/>
          <p:cNvSpPr>
            <a:spLocks noGrp="1"/>
          </p:cNvSpPr>
          <p:nvPr>
            <p:ph idx="1"/>
          </p:nvPr>
        </p:nvSpPr>
        <p:spPr/>
        <p:txBody>
          <a:bodyPr>
            <a:normAutofit lnSpcReduction="10000"/>
          </a:bodyPr>
          <a:lstStyle/>
          <a:p>
            <a:pPr>
              <a:buNone/>
            </a:pPr>
            <a:r>
              <a:rPr lang="en-US" dirty="0" smtClean="0"/>
              <a:t>   </a:t>
            </a:r>
            <a:r>
              <a:rPr lang="en-US" b="1" dirty="0" smtClean="0"/>
              <a:t>Example </a:t>
            </a:r>
            <a:r>
              <a:rPr lang="en-US" b="1" dirty="0" smtClean="0">
                <a:latin typeface="Cambria Math" pitchFamily="18" charset="0"/>
                <a:ea typeface="Cambria Math" pitchFamily="18" charset="0"/>
              </a:rPr>
              <a:t>1</a:t>
            </a:r>
            <a:r>
              <a:rPr lang="en-US" dirty="0" smtClean="0"/>
              <a:t>: Let </a:t>
            </a:r>
            <a:r>
              <a:rPr lang="en-US" i="1" dirty="0" smtClean="0"/>
              <a:t>f </a:t>
            </a:r>
            <a:r>
              <a:rPr lang="en-US" dirty="0" smtClean="0"/>
              <a:t>be the function from {</a:t>
            </a:r>
            <a:r>
              <a:rPr lang="en-US" i="1" dirty="0" err="1" smtClean="0"/>
              <a:t>a,b,c,d</a:t>
            </a:r>
            <a:r>
              <a:rPr lang="en-US" dirty="0" smtClean="0"/>
              <a:t>} to {</a:t>
            </a:r>
            <a:r>
              <a:rPr lang="en-US" dirty="0" smtClean="0">
                <a:latin typeface="Cambria Math" pitchFamily="18" charset="0"/>
                <a:ea typeface="Cambria Math" pitchFamily="18" charset="0"/>
              </a:rPr>
              <a:t>1,2,3</a:t>
            </a:r>
            <a:r>
              <a:rPr lang="en-US" dirty="0" smtClean="0"/>
              <a:t>} defined by </a:t>
            </a:r>
            <a:r>
              <a:rPr lang="en-US" i="1" dirty="0" smtClean="0"/>
              <a:t>f</a:t>
            </a:r>
            <a:r>
              <a:rPr lang="en-US" dirty="0" smtClean="0"/>
              <a:t>(</a:t>
            </a:r>
            <a:r>
              <a:rPr lang="en-US" i="1" dirty="0" smtClean="0"/>
              <a:t>a</a:t>
            </a:r>
            <a:r>
              <a:rPr lang="en-US" dirty="0" smtClean="0"/>
              <a:t>) = </a:t>
            </a:r>
            <a:r>
              <a:rPr lang="en-US" dirty="0" smtClean="0">
                <a:latin typeface="Cambria Math" pitchFamily="18" charset="0"/>
                <a:ea typeface="Cambria Math" pitchFamily="18" charset="0"/>
              </a:rPr>
              <a:t>3</a:t>
            </a:r>
            <a:r>
              <a:rPr lang="en-US" dirty="0" smtClean="0"/>
              <a:t>, </a:t>
            </a:r>
            <a:r>
              <a:rPr lang="en-US" i="1" dirty="0" smtClean="0"/>
              <a:t>f</a:t>
            </a:r>
            <a:r>
              <a:rPr lang="en-US" dirty="0" smtClean="0"/>
              <a:t>(</a:t>
            </a:r>
            <a:r>
              <a:rPr lang="en-US" i="1" dirty="0" smtClean="0"/>
              <a:t>b</a:t>
            </a:r>
            <a:r>
              <a:rPr lang="en-US" dirty="0" smtClean="0"/>
              <a:t>) = </a:t>
            </a:r>
            <a:r>
              <a:rPr lang="en-US" dirty="0" smtClean="0">
                <a:latin typeface="Cambria Math" pitchFamily="18" charset="0"/>
                <a:ea typeface="Cambria Math" pitchFamily="18" charset="0"/>
              </a:rPr>
              <a:t>2</a:t>
            </a:r>
            <a:r>
              <a:rPr lang="en-US" dirty="0" smtClean="0"/>
              <a:t>, </a:t>
            </a:r>
            <a:r>
              <a:rPr lang="en-US" i="1" dirty="0" smtClean="0"/>
              <a:t>f</a:t>
            </a:r>
            <a:r>
              <a:rPr lang="en-US" dirty="0" smtClean="0"/>
              <a:t>(</a:t>
            </a:r>
            <a:r>
              <a:rPr lang="en-US" i="1" dirty="0" smtClean="0"/>
              <a:t>c</a:t>
            </a:r>
            <a:r>
              <a:rPr lang="en-US" dirty="0" smtClean="0"/>
              <a:t>) = </a:t>
            </a:r>
            <a:r>
              <a:rPr lang="en-US" dirty="0" smtClean="0">
                <a:latin typeface="Cambria Math" pitchFamily="18" charset="0"/>
                <a:ea typeface="Cambria Math" pitchFamily="18" charset="0"/>
              </a:rPr>
              <a:t>1</a:t>
            </a:r>
            <a:r>
              <a:rPr lang="en-US" dirty="0" smtClean="0"/>
              <a:t>, and </a:t>
            </a:r>
            <a:r>
              <a:rPr lang="en-US" i="1" dirty="0" smtClean="0"/>
              <a:t>f</a:t>
            </a:r>
            <a:r>
              <a:rPr lang="en-US" dirty="0" smtClean="0"/>
              <a:t>(</a:t>
            </a:r>
            <a:r>
              <a:rPr lang="en-US" i="1" dirty="0" smtClean="0"/>
              <a:t>d</a:t>
            </a:r>
            <a:r>
              <a:rPr lang="en-US" dirty="0" smtClean="0"/>
              <a:t>) = </a:t>
            </a:r>
            <a:r>
              <a:rPr lang="en-US" dirty="0" smtClean="0">
                <a:latin typeface="Cambria Math" pitchFamily="18" charset="0"/>
                <a:ea typeface="Cambria Math" pitchFamily="18" charset="0"/>
              </a:rPr>
              <a:t>3</a:t>
            </a:r>
            <a:r>
              <a:rPr lang="en-US" dirty="0" smtClean="0"/>
              <a:t>. Is </a:t>
            </a:r>
            <a:r>
              <a:rPr lang="en-US" i="1" dirty="0" smtClean="0"/>
              <a:t>f</a:t>
            </a:r>
            <a:r>
              <a:rPr lang="en-US" dirty="0" smtClean="0"/>
              <a:t> an onto function?</a:t>
            </a:r>
          </a:p>
          <a:p>
            <a:pPr>
              <a:buNone/>
            </a:pPr>
            <a:r>
              <a:rPr lang="en-US" dirty="0" smtClean="0"/>
              <a:t>    </a:t>
            </a:r>
            <a:r>
              <a:rPr lang="en-US" b="1" dirty="0" smtClean="0"/>
              <a:t>Solution</a:t>
            </a:r>
            <a:r>
              <a:rPr lang="en-US" dirty="0" smtClean="0"/>
              <a:t>: Yes, </a:t>
            </a:r>
            <a:r>
              <a:rPr lang="en-US" i="1" dirty="0" smtClean="0"/>
              <a:t>f </a:t>
            </a:r>
            <a:r>
              <a:rPr lang="en-US" dirty="0" smtClean="0"/>
              <a:t>is onto since all three elements of the </a:t>
            </a:r>
            <a:r>
              <a:rPr lang="en-US" dirty="0" err="1" smtClean="0"/>
              <a:t>codomain</a:t>
            </a:r>
            <a:r>
              <a:rPr lang="en-US" dirty="0" smtClean="0"/>
              <a:t> are images of elements in the domain. If the </a:t>
            </a:r>
            <a:r>
              <a:rPr lang="en-US" dirty="0" err="1" smtClean="0"/>
              <a:t>codomain</a:t>
            </a:r>
            <a:r>
              <a:rPr lang="en-US" dirty="0" smtClean="0"/>
              <a:t> were changed to {</a:t>
            </a:r>
            <a:r>
              <a:rPr lang="en-US" dirty="0" smtClean="0">
                <a:latin typeface="Cambria Math" pitchFamily="18" charset="0"/>
                <a:ea typeface="Cambria Math" pitchFamily="18" charset="0"/>
              </a:rPr>
              <a:t>1,2,3,4</a:t>
            </a:r>
            <a:r>
              <a:rPr lang="en-US" dirty="0" smtClean="0"/>
              <a:t>}, </a:t>
            </a:r>
            <a:r>
              <a:rPr lang="en-US" i="1" dirty="0" smtClean="0"/>
              <a:t>f  </a:t>
            </a:r>
            <a:r>
              <a:rPr lang="en-US" dirty="0" smtClean="0"/>
              <a:t>would not be onto. </a:t>
            </a:r>
          </a:p>
          <a:p>
            <a:pPr>
              <a:buNone/>
            </a:pPr>
            <a:r>
              <a:rPr lang="en-US" b="1" dirty="0" smtClean="0"/>
              <a:t>   Example </a:t>
            </a:r>
            <a:r>
              <a:rPr lang="en-US" b="1" dirty="0" smtClean="0">
                <a:latin typeface="Cambria Math" pitchFamily="18" charset="0"/>
                <a:ea typeface="Cambria Math" pitchFamily="18" charset="0"/>
              </a:rPr>
              <a:t>2</a:t>
            </a:r>
            <a:r>
              <a:rPr lang="en-US" dirty="0" smtClean="0"/>
              <a:t>: Is the function  </a:t>
            </a:r>
            <a:r>
              <a:rPr lang="en-US" i="1" dirty="0" smtClean="0"/>
              <a:t>f</a:t>
            </a:r>
            <a:r>
              <a:rPr lang="en-US" dirty="0" smtClean="0"/>
              <a:t>(</a:t>
            </a:r>
            <a:r>
              <a:rPr lang="en-US" i="1" dirty="0" smtClean="0"/>
              <a:t>x</a:t>
            </a:r>
            <a:r>
              <a:rPr lang="en-US" dirty="0" smtClean="0"/>
              <a:t>)</a:t>
            </a:r>
            <a:r>
              <a:rPr lang="en-US" i="1" dirty="0" smtClean="0"/>
              <a:t> = x</a:t>
            </a:r>
            <a:r>
              <a:rPr lang="en-US" baseline="30000" dirty="0" smtClean="0"/>
              <a:t>2</a:t>
            </a:r>
            <a:r>
              <a:rPr lang="en-US" i="1" baseline="30000" dirty="0" smtClean="0"/>
              <a:t>   </a:t>
            </a:r>
            <a:r>
              <a:rPr lang="en-US" dirty="0" smtClean="0"/>
              <a:t> from the set of integers onto?  </a:t>
            </a:r>
          </a:p>
          <a:p>
            <a:pPr>
              <a:buNone/>
            </a:pPr>
            <a:r>
              <a:rPr lang="en-US" b="1" dirty="0" smtClean="0"/>
              <a:t>   Solution</a:t>
            </a:r>
            <a:r>
              <a:rPr lang="en-US" dirty="0" smtClean="0"/>
              <a:t>: No, </a:t>
            </a:r>
            <a:r>
              <a:rPr lang="en-US" i="1" dirty="0" smtClean="0"/>
              <a:t>f</a:t>
            </a:r>
            <a:r>
              <a:rPr lang="en-US" dirty="0" smtClean="0"/>
              <a:t> is  not onto because there is no integer </a:t>
            </a:r>
            <a:r>
              <a:rPr lang="en-US" i="1" dirty="0" smtClean="0"/>
              <a:t>x </a:t>
            </a:r>
            <a:r>
              <a:rPr lang="en-US" dirty="0" smtClean="0"/>
              <a:t>with </a:t>
            </a:r>
            <a:r>
              <a:rPr lang="en-US" i="1" dirty="0" smtClean="0"/>
              <a:t>x</a:t>
            </a:r>
            <a:r>
              <a:rPr lang="en-US" baseline="30000" dirty="0" smtClean="0"/>
              <a:t>2</a:t>
            </a:r>
            <a:r>
              <a:rPr lang="en-US" i="1" baseline="30000" dirty="0" smtClean="0"/>
              <a:t>  </a:t>
            </a:r>
            <a:r>
              <a:rPr lang="en-US" dirty="0" smtClean="0"/>
              <a:t>= </a:t>
            </a:r>
            <a:r>
              <a:rPr lang="en-US" dirty="0" smtClean="0">
                <a:latin typeface="Cambria Math"/>
                <a:ea typeface="Cambria Math"/>
              </a:rPr>
              <a:t>−</a:t>
            </a:r>
            <a:r>
              <a:rPr lang="en-US" dirty="0" smtClean="0">
                <a:latin typeface="Cambria Math" pitchFamily="18" charset="0"/>
                <a:ea typeface="Cambria Math" pitchFamily="18" charset="0"/>
              </a:rPr>
              <a:t>1, for example. </a:t>
            </a:r>
            <a:endParaRPr lang="en-US" i="1" dirty="0"/>
          </a:p>
        </p:txBody>
      </p:sp>
    </p:spTree>
    <p:extLst>
      <p:ext uri="{BB962C8B-B14F-4D97-AF65-F5344CB8AC3E}">
        <p14:creationId xmlns:p14="http://schemas.microsoft.com/office/powerpoint/2010/main" val="304062002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Inverse Functions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Let </a:t>
            </a:r>
            <a:r>
              <a:rPr lang="en-US" i="1" dirty="0" smtClean="0"/>
              <a:t>f</a:t>
            </a:r>
            <a:r>
              <a:rPr lang="en-US" dirty="0" smtClean="0"/>
              <a:t> be a </a:t>
            </a:r>
            <a:r>
              <a:rPr lang="en-US" dirty="0" err="1" smtClean="0"/>
              <a:t>bijection</a:t>
            </a:r>
            <a:r>
              <a:rPr lang="en-US" dirty="0" smtClean="0"/>
              <a:t> from </a:t>
            </a:r>
            <a:r>
              <a:rPr lang="en-US" i="1" dirty="0" smtClean="0"/>
              <a:t>A</a:t>
            </a:r>
            <a:r>
              <a:rPr lang="en-US" dirty="0" smtClean="0"/>
              <a:t> to </a:t>
            </a:r>
            <a:r>
              <a:rPr lang="en-US" i="1" dirty="0" smtClean="0"/>
              <a:t>B</a:t>
            </a:r>
            <a:r>
              <a:rPr lang="en-US" dirty="0" smtClean="0"/>
              <a:t>. Then the </a:t>
            </a:r>
            <a:r>
              <a:rPr lang="en-US" i="1" dirty="0" smtClean="0"/>
              <a:t>inverse</a:t>
            </a:r>
            <a:r>
              <a:rPr lang="en-US" dirty="0" smtClean="0"/>
              <a:t> of </a:t>
            </a:r>
            <a:r>
              <a:rPr lang="en-US" i="1" dirty="0" smtClean="0"/>
              <a:t>f</a:t>
            </a:r>
            <a:r>
              <a:rPr lang="en-US" dirty="0" smtClean="0"/>
              <a:t>, denoted          , is the function from </a:t>
            </a:r>
            <a:r>
              <a:rPr lang="en-US" i="1" dirty="0" smtClean="0"/>
              <a:t>B</a:t>
            </a:r>
            <a:r>
              <a:rPr lang="en-US" dirty="0" smtClean="0"/>
              <a:t> to </a:t>
            </a:r>
            <a:r>
              <a:rPr lang="en-US" i="1" dirty="0" smtClean="0"/>
              <a:t>A</a:t>
            </a:r>
            <a:r>
              <a:rPr lang="en-US" b="1" dirty="0" smtClean="0"/>
              <a:t> </a:t>
            </a:r>
            <a:r>
              <a:rPr lang="en-US" dirty="0" smtClean="0"/>
              <a:t>defined as</a:t>
            </a:r>
            <a:endParaRPr lang="en-US" b="1" dirty="0" smtClean="0"/>
          </a:p>
          <a:p>
            <a:pPr>
              <a:buNone/>
            </a:pPr>
            <a:r>
              <a:rPr lang="en-US" dirty="0" smtClean="0"/>
              <a:t>   No inverse exists unless </a:t>
            </a:r>
            <a:r>
              <a:rPr lang="en-US" i="1" dirty="0" smtClean="0"/>
              <a:t>f</a:t>
            </a:r>
            <a:r>
              <a:rPr lang="en-US" dirty="0" smtClean="0"/>
              <a:t> is a </a:t>
            </a:r>
            <a:r>
              <a:rPr lang="en-US" dirty="0" err="1" smtClean="0"/>
              <a:t>bijection</a:t>
            </a:r>
            <a:r>
              <a:rPr lang="en-US" dirty="0" smtClean="0"/>
              <a:t>. Why?</a:t>
            </a:r>
          </a:p>
          <a:p>
            <a:pPr>
              <a:buNone/>
            </a:pPr>
            <a:r>
              <a:rPr lang="en-US" dirty="0" smtClean="0"/>
              <a:t>      </a:t>
            </a:r>
            <a:endParaRPr lang="en-US" dirty="0"/>
          </a:p>
        </p:txBody>
      </p:sp>
      <p:pic>
        <p:nvPicPr>
          <p:cNvPr id="5" name="Picture 4" descr="addin_tmp.png"/>
          <p:cNvPicPr>
            <a:picLocks noChangeAspect="1"/>
          </p:cNvPicPr>
          <p:nvPr>
            <p:custDataLst>
              <p:tags r:id="rId1"/>
            </p:custDataLst>
          </p:nvPr>
        </p:nvPicPr>
        <p:blipFill>
          <a:blip r:embed="rId4" cstate="print"/>
          <a:stretch>
            <a:fillRect/>
          </a:stretch>
        </p:blipFill>
        <p:spPr>
          <a:xfrm>
            <a:off x="3886200" y="2438400"/>
            <a:ext cx="571500" cy="388620"/>
          </a:xfrm>
          <a:prstGeom prst="rect">
            <a:avLst/>
          </a:prstGeom>
        </p:spPr>
      </p:pic>
      <p:pic>
        <p:nvPicPr>
          <p:cNvPr id="7" name="Picture 6" descr="addin_tmp.png"/>
          <p:cNvPicPr>
            <a:picLocks noChangeAspect="1"/>
          </p:cNvPicPr>
          <p:nvPr>
            <p:custDataLst>
              <p:tags r:id="rId2"/>
            </p:custDataLst>
          </p:nvPr>
        </p:nvPicPr>
        <p:blipFill>
          <a:blip r:embed="rId5" cstate="print"/>
          <a:stretch>
            <a:fillRect/>
          </a:stretch>
        </p:blipFill>
        <p:spPr>
          <a:xfrm>
            <a:off x="2743200" y="2819400"/>
            <a:ext cx="3803333" cy="408623"/>
          </a:xfrm>
          <a:prstGeom prst="rect">
            <a:avLst/>
          </a:prstGeom>
        </p:spPr>
      </p:pic>
      <p:pic>
        <p:nvPicPr>
          <p:cNvPr id="6" name="Picture 5" descr="0217.jpg"/>
          <p:cNvPicPr>
            <a:picLocks noChangeAspect="1"/>
          </p:cNvPicPr>
          <p:nvPr/>
        </p:nvPicPr>
        <p:blipFill>
          <a:blip r:embed="rId6" cstate="print"/>
          <a:stretch>
            <a:fillRect/>
          </a:stretch>
        </p:blipFill>
        <p:spPr>
          <a:xfrm>
            <a:off x="2743200" y="4038600"/>
            <a:ext cx="4495800" cy="2197729"/>
          </a:xfrm>
          <a:prstGeom prst="rect">
            <a:avLst/>
          </a:prstGeom>
        </p:spPr>
      </p:pic>
    </p:spTree>
    <p:extLst>
      <p:ext uri="{BB962C8B-B14F-4D97-AF65-F5344CB8AC3E}">
        <p14:creationId xmlns:p14="http://schemas.microsoft.com/office/powerpoint/2010/main" val="365386605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Inverse Functions </a:t>
            </a:r>
            <a:endParaRPr lang="en-US" dirty="0"/>
          </a:p>
        </p:txBody>
      </p:sp>
      <p:grpSp>
        <p:nvGrpSpPr>
          <p:cNvPr id="3" name="Group 44"/>
          <p:cNvGrpSpPr/>
          <p:nvPr/>
        </p:nvGrpSpPr>
        <p:grpSpPr>
          <a:xfrm>
            <a:off x="533400" y="1905000"/>
            <a:ext cx="3429000" cy="4495800"/>
            <a:chOff x="3048000" y="1219200"/>
            <a:chExt cx="3429000" cy="4495800"/>
          </a:xfrm>
        </p:grpSpPr>
        <p:sp>
          <p:nvSpPr>
            <p:cNvPr id="4" name="Flowchart: Connector 3"/>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Connector 4"/>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5791200" y="19812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048000" y="1219200"/>
              <a:ext cx="685800" cy="707886"/>
            </a:xfrm>
            <a:prstGeom prst="rect">
              <a:avLst/>
            </a:prstGeom>
            <a:noFill/>
          </p:spPr>
          <p:txBody>
            <a:bodyPr wrap="square" rtlCol="0">
              <a:spAutoFit/>
            </a:bodyPr>
            <a:lstStyle/>
            <a:p>
              <a:r>
                <a:rPr lang="en-US" sz="4000" b="1" dirty="0" smtClean="0"/>
                <a:t>A</a:t>
              </a:r>
              <a:endParaRPr lang="en-US" sz="4000" b="1" dirty="0"/>
            </a:p>
          </p:txBody>
        </p:sp>
        <p:sp>
          <p:nvSpPr>
            <p:cNvPr id="18" name="TextBox 17"/>
            <p:cNvSpPr txBox="1"/>
            <p:nvPr/>
          </p:nvSpPr>
          <p:spPr>
            <a:xfrm>
              <a:off x="5791200" y="1219200"/>
              <a:ext cx="685800" cy="707886"/>
            </a:xfrm>
            <a:prstGeom prst="rect">
              <a:avLst/>
            </a:prstGeom>
            <a:noFill/>
          </p:spPr>
          <p:txBody>
            <a:bodyPr wrap="square" rtlCol="0">
              <a:spAutoFit/>
            </a:bodyPr>
            <a:lstStyle/>
            <a:p>
              <a:r>
                <a:rPr lang="en-US" sz="4000" b="1" dirty="0" smtClean="0"/>
                <a:t>B</a:t>
              </a:r>
              <a:endParaRPr lang="en-US" sz="4000" b="1" dirty="0"/>
            </a:p>
          </p:txBody>
        </p:sp>
        <p:sp>
          <p:nvSpPr>
            <p:cNvPr id="19" name="TextBox 18"/>
            <p:cNvSpPr txBox="1"/>
            <p:nvPr/>
          </p:nvSpPr>
          <p:spPr>
            <a:xfrm>
              <a:off x="3200400" y="2133600"/>
              <a:ext cx="304800" cy="369332"/>
            </a:xfrm>
            <a:prstGeom prst="rect">
              <a:avLst/>
            </a:prstGeom>
            <a:noFill/>
          </p:spPr>
          <p:txBody>
            <a:bodyPr wrap="square" rtlCol="0">
              <a:spAutoFit/>
            </a:bodyPr>
            <a:lstStyle/>
            <a:p>
              <a:r>
                <a:rPr lang="en-US" dirty="0" smtClean="0"/>
                <a:t>a</a:t>
              </a:r>
              <a:endParaRPr lang="en-US" dirty="0"/>
            </a:p>
          </p:txBody>
        </p:sp>
        <p:sp>
          <p:nvSpPr>
            <p:cNvPr id="20" name="TextBox 19"/>
            <p:cNvSpPr txBox="1"/>
            <p:nvPr/>
          </p:nvSpPr>
          <p:spPr>
            <a:xfrm>
              <a:off x="3200400" y="3048000"/>
              <a:ext cx="304800" cy="369332"/>
            </a:xfrm>
            <a:prstGeom prst="rect">
              <a:avLst/>
            </a:prstGeom>
            <a:noFill/>
          </p:spPr>
          <p:txBody>
            <a:bodyPr wrap="square" rtlCol="0">
              <a:spAutoFit/>
            </a:bodyPr>
            <a:lstStyle/>
            <a:p>
              <a:r>
                <a:rPr lang="en-US" dirty="0" smtClean="0"/>
                <a:t>b</a:t>
              </a:r>
              <a:endParaRPr lang="en-US" dirty="0"/>
            </a:p>
          </p:txBody>
        </p:sp>
        <p:sp>
          <p:nvSpPr>
            <p:cNvPr id="21" name="TextBox 20"/>
            <p:cNvSpPr txBox="1"/>
            <p:nvPr/>
          </p:nvSpPr>
          <p:spPr>
            <a:xfrm>
              <a:off x="3200400" y="3810000"/>
              <a:ext cx="304800" cy="369332"/>
            </a:xfrm>
            <a:prstGeom prst="rect">
              <a:avLst/>
            </a:prstGeom>
            <a:noFill/>
          </p:spPr>
          <p:txBody>
            <a:bodyPr wrap="square" rtlCol="0">
              <a:spAutoFit/>
            </a:bodyPr>
            <a:lstStyle/>
            <a:p>
              <a:r>
                <a:rPr lang="en-US" dirty="0" smtClean="0"/>
                <a:t>c</a:t>
              </a:r>
              <a:endParaRPr lang="en-US" dirty="0"/>
            </a:p>
          </p:txBody>
        </p:sp>
        <p:sp>
          <p:nvSpPr>
            <p:cNvPr id="22" name="TextBox 21"/>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23" name="TextBox 22"/>
            <p:cNvSpPr txBox="1"/>
            <p:nvPr/>
          </p:nvSpPr>
          <p:spPr>
            <a:xfrm>
              <a:off x="5867400" y="2057400"/>
              <a:ext cx="304800" cy="369332"/>
            </a:xfrm>
            <a:prstGeom prst="rect">
              <a:avLst/>
            </a:prstGeom>
            <a:noFill/>
          </p:spPr>
          <p:txBody>
            <a:bodyPr wrap="square" rtlCol="0">
              <a:spAutoFit/>
            </a:bodyPr>
            <a:lstStyle/>
            <a:p>
              <a:r>
                <a:rPr lang="en-US" dirty="0"/>
                <a:t>V</a:t>
              </a:r>
              <a:endParaRPr lang="en-US" dirty="0" smtClean="0"/>
            </a:p>
          </p:txBody>
        </p:sp>
        <p:sp>
          <p:nvSpPr>
            <p:cNvPr id="24" name="TextBox 23"/>
            <p:cNvSpPr txBox="1"/>
            <p:nvPr/>
          </p:nvSpPr>
          <p:spPr>
            <a:xfrm>
              <a:off x="5791200" y="3352800"/>
              <a:ext cx="304800" cy="369332"/>
            </a:xfrm>
            <a:prstGeom prst="rect">
              <a:avLst/>
            </a:prstGeom>
            <a:noFill/>
          </p:spPr>
          <p:txBody>
            <a:bodyPr wrap="square" rtlCol="0">
              <a:spAutoFit/>
            </a:bodyPr>
            <a:lstStyle/>
            <a:p>
              <a:r>
                <a:rPr lang="en-US" dirty="0" smtClean="0"/>
                <a:t>W</a:t>
              </a:r>
              <a:endParaRPr lang="en-US" dirty="0"/>
            </a:p>
          </p:txBody>
        </p:sp>
        <p:sp>
          <p:nvSpPr>
            <p:cNvPr id="25" name="TextBox 24"/>
            <p:cNvSpPr txBox="1"/>
            <p:nvPr/>
          </p:nvSpPr>
          <p:spPr>
            <a:xfrm>
              <a:off x="5791200" y="4419600"/>
              <a:ext cx="304800" cy="369332"/>
            </a:xfrm>
            <a:prstGeom prst="rect">
              <a:avLst/>
            </a:prstGeom>
            <a:noFill/>
          </p:spPr>
          <p:txBody>
            <a:bodyPr wrap="square" rtlCol="0">
              <a:spAutoFit/>
            </a:bodyPr>
            <a:lstStyle/>
            <a:p>
              <a:r>
                <a:rPr lang="en-US" dirty="0" smtClean="0"/>
                <a:t>X</a:t>
              </a:r>
              <a:endParaRPr lang="en-US" dirty="0"/>
            </a:p>
          </p:txBody>
        </p:sp>
        <p:cxnSp>
          <p:nvCxnSpPr>
            <p:cNvPr id="28" name="Straight Arrow Connector 27"/>
            <p:cNvCxnSpPr/>
            <p:nvPr/>
          </p:nvCxnSpPr>
          <p:spPr>
            <a:xfrm>
              <a:off x="3657600" y="32004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Flowchart: Connector 26"/>
            <p:cNvSpPr/>
            <p:nvPr/>
          </p:nvSpPr>
          <p:spPr>
            <a:xfrm>
              <a:off x="5791200" y="5257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5867400" y="5334000"/>
              <a:ext cx="304800" cy="369332"/>
            </a:xfrm>
            <a:prstGeom prst="rect">
              <a:avLst/>
            </a:prstGeom>
            <a:noFill/>
          </p:spPr>
          <p:txBody>
            <a:bodyPr wrap="square" rtlCol="0">
              <a:spAutoFit/>
            </a:bodyPr>
            <a:lstStyle/>
            <a:p>
              <a:r>
                <a:rPr lang="en-US" dirty="0" smtClean="0"/>
                <a:t>Y</a:t>
              </a:r>
              <a:endParaRPr lang="en-US" dirty="0"/>
            </a:p>
          </p:txBody>
        </p:sp>
        <p:cxnSp>
          <p:nvCxnSpPr>
            <p:cNvPr id="31" name="Straight Arrow Connector 30"/>
            <p:cNvCxnSpPr/>
            <p:nvPr/>
          </p:nvCxnSpPr>
          <p:spPr>
            <a:xfrm rot="16200000" flipH="1">
              <a:off x="3352800" y="2819400"/>
              <a:ext cx="2743200" cy="2133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3619500" y="2476500"/>
              <a:ext cx="2286000" cy="2209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657600" y="3962400"/>
              <a:ext cx="1981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3657600" y="1524000"/>
              <a:ext cx="1981200" cy="1588"/>
            </a:xfrm>
            <a:prstGeom prst="straightConnector1">
              <a:avLst/>
            </a:prstGeom>
            <a:ln w="28575">
              <a:prstDash val="sysDot"/>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4419600" y="1600200"/>
              <a:ext cx="533400" cy="461665"/>
            </a:xfrm>
            <a:prstGeom prst="rect">
              <a:avLst/>
            </a:prstGeom>
            <a:noFill/>
          </p:spPr>
          <p:txBody>
            <a:bodyPr wrap="square" rtlCol="0">
              <a:spAutoFit/>
            </a:bodyPr>
            <a:lstStyle/>
            <a:p>
              <a:r>
                <a:rPr lang="en-US" sz="2400" i="1" dirty="0" smtClean="0"/>
                <a:t>f</a:t>
              </a:r>
              <a:endParaRPr lang="en-US" sz="2400" i="1" dirty="0"/>
            </a:p>
          </p:txBody>
        </p:sp>
      </p:grpSp>
      <p:grpSp>
        <p:nvGrpSpPr>
          <p:cNvPr id="10" name="Group 45"/>
          <p:cNvGrpSpPr/>
          <p:nvPr/>
        </p:nvGrpSpPr>
        <p:grpSpPr>
          <a:xfrm>
            <a:off x="4876800" y="1981200"/>
            <a:ext cx="3429000" cy="4495800"/>
            <a:chOff x="3048000" y="1219200"/>
            <a:chExt cx="3429000" cy="4495800"/>
          </a:xfrm>
        </p:grpSpPr>
        <p:sp>
          <p:nvSpPr>
            <p:cNvPr id="47" name="Flowchart: Connector 46"/>
            <p:cNvSpPr/>
            <p:nvPr/>
          </p:nvSpPr>
          <p:spPr>
            <a:xfrm>
              <a:off x="3124200" y="2971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lowchart: Connector 47"/>
            <p:cNvSpPr/>
            <p:nvPr/>
          </p:nvSpPr>
          <p:spPr>
            <a:xfrm>
              <a:off x="3124200" y="3733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lowchart: Connector 48"/>
            <p:cNvSpPr/>
            <p:nvPr/>
          </p:nvSpPr>
          <p:spPr>
            <a:xfrm>
              <a:off x="3124200" y="2057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Connector 49"/>
            <p:cNvSpPr/>
            <p:nvPr/>
          </p:nvSpPr>
          <p:spPr>
            <a:xfrm>
              <a:off x="3124200" y="4495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lowchart: Connector 50"/>
            <p:cNvSpPr/>
            <p:nvPr/>
          </p:nvSpPr>
          <p:spPr>
            <a:xfrm>
              <a:off x="5791200" y="19812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owchart: Connector 51"/>
            <p:cNvSpPr/>
            <p:nvPr/>
          </p:nvSpPr>
          <p:spPr>
            <a:xfrm>
              <a:off x="5715000" y="32766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Connector 52"/>
            <p:cNvSpPr/>
            <p:nvPr/>
          </p:nvSpPr>
          <p:spPr>
            <a:xfrm>
              <a:off x="5715000" y="43434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p:cNvSpPr txBox="1"/>
            <p:nvPr/>
          </p:nvSpPr>
          <p:spPr>
            <a:xfrm>
              <a:off x="3048000" y="1219200"/>
              <a:ext cx="685800" cy="707886"/>
            </a:xfrm>
            <a:prstGeom prst="rect">
              <a:avLst/>
            </a:prstGeom>
            <a:noFill/>
          </p:spPr>
          <p:txBody>
            <a:bodyPr wrap="square" rtlCol="0">
              <a:spAutoFit/>
            </a:bodyPr>
            <a:lstStyle/>
            <a:p>
              <a:r>
                <a:rPr lang="en-US" sz="4000" b="1" dirty="0" smtClean="0"/>
                <a:t>A</a:t>
              </a:r>
              <a:endParaRPr lang="en-US" sz="4000" b="1" dirty="0"/>
            </a:p>
          </p:txBody>
        </p:sp>
        <p:sp>
          <p:nvSpPr>
            <p:cNvPr id="55" name="TextBox 54"/>
            <p:cNvSpPr txBox="1"/>
            <p:nvPr/>
          </p:nvSpPr>
          <p:spPr>
            <a:xfrm>
              <a:off x="5791200" y="1219200"/>
              <a:ext cx="685800" cy="707886"/>
            </a:xfrm>
            <a:prstGeom prst="rect">
              <a:avLst/>
            </a:prstGeom>
            <a:noFill/>
          </p:spPr>
          <p:txBody>
            <a:bodyPr wrap="square" rtlCol="0">
              <a:spAutoFit/>
            </a:bodyPr>
            <a:lstStyle/>
            <a:p>
              <a:r>
                <a:rPr lang="en-US" sz="4000" b="1" dirty="0" smtClean="0"/>
                <a:t>B</a:t>
              </a:r>
              <a:endParaRPr lang="en-US" sz="4000" b="1" dirty="0"/>
            </a:p>
          </p:txBody>
        </p:sp>
        <p:sp>
          <p:nvSpPr>
            <p:cNvPr id="56" name="TextBox 55"/>
            <p:cNvSpPr txBox="1"/>
            <p:nvPr/>
          </p:nvSpPr>
          <p:spPr>
            <a:xfrm>
              <a:off x="3200400" y="2133600"/>
              <a:ext cx="304800" cy="369332"/>
            </a:xfrm>
            <a:prstGeom prst="rect">
              <a:avLst/>
            </a:prstGeom>
            <a:noFill/>
          </p:spPr>
          <p:txBody>
            <a:bodyPr wrap="square" rtlCol="0">
              <a:spAutoFit/>
            </a:bodyPr>
            <a:lstStyle/>
            <a:p>
              <a:r>
                <a:rPr lang="en-US" dirty="0" smtClean="0"/>
                <a:t>a</a:t>
              </a:r>
              <a:endParaRPr lang="en-US" dirty="0"/>
            </a:p>
          </p:txBody>
        </p:sp>
        <p:sp>
          <p:nvSpPr>
            <p:cNvPr id="57" name="TextBox 56"/>
            <p:cNvSpPr txBox="1"/>
            <p:nvPr/>
          </p:nvSpPr>
          <p:spPr>
            <a:xfrm>
              <a:off x="3200400" y="3048000"/>
              <a:ext cx="304800" cy="369332"/>
            </a:xfrm>
            <a:prstGeom prst="rect">
              <a:avLst/>
            </a:prstGeom>
            <a:noFill/>
          </p:spPr>
          <p:txBody>
            <a:bodyPr wrap="square" rtlCol="0">
              <a:spAutoFit/>
            </a:bodyPr>
            <a:lstStyle/>
            <a:p>
              <a:r>
                <a:rPr lang="en-US" dirty="0" smtClean="0"/>
                <a:t>b</a:t>
              </a:r>
              <a:endParaRPr lang="en-US" dirty="0"/>
            </a:p>
          </p:txBody>
        </p:sp>
        <p:sp>
          <p:nvSpPr>
            <p:cNvPr id="58" name="TextBox 57"/>
            <p:cNvSpPr txBox="1"/>
            <p:nvPr/>
          </p:nvSpPr>
          <p:spPr>
            <a:xfrm>
              <a:off x="3200400" y="3810000"/>
              <a:ext cx="304800" cy="369332"/>
            </a:xfrm>
            <a:prstGeom prst="rect">
              <a:avLst/>
            </a:prstGeom>
            <a:noFill/>
          </p:spPr>
          <p:txBody>
            <a:bodyPr wrap="square" rtlCol="0">
              <a:spAutoFit/>
            </a:bodyPr>
            <a:lstStyle/>
            <a:p>
              <a:r>
                <a:rPr lang="en-US" dirty="0" smtClean="0"/>
                <a:t>c</a:t>
              </a:r>
              <a:endParaRPr lang="en-US" dirty="0"/>
            </a:p>
          </p:txBody>
        </p:sp>
        <p:sp>
          <p:nvSpPr>
            <p:cNvPr id="59" name="TextBox 58"/>
            <p:cNvSpPr txBox="1"/>
            <p:nvPr/>
          </p:nvSpPr>
          <p:spPr>
            <a:xfrm>
              <a:off x="3200400" y="4495800"/>
              <a:ext cx="304800" cy="369332"/>
            </a:xfrm>
            <a:prstGeom prst="rect">
              <a:avLst/>
            </a:prstGeom>
            <a:noFill/>
          </p:spPr>
          <p:txBody>
            <a:bodyPr wrap="square" rtlCol="0">
              <a:spAutoFit/>
            </a:bodyPr>
            <a:lstStyle/>
            <a:p>
              <a:r>
                <a:rPr lang="en-US" dirty="0" smtClean="0"/>
                <a:t>d</a:t>
              </a:r>
              <a:endParaRPr lang="en-US" dirty="0"/>
            </a:p>
          </p:txBody>
        </p:sp>
        <p:sp>
          <p:nvSpPr>
            <p:cNvPr id="60" name="TextBox 59"/>
            <p:cNvSpPr txBox="1"/>
            <p:nvPr/>
          </p:nvSpPr>
          <p:spPr>
            <a:xfrm>
              <a:off x="5867400" y="2057400"/>
              <a:ext cx="304800" cy="369332"/>
            </a:xfrm>
            <a:prstGeom prst="rect">
              <a:avLst/>
            </a:prstGeom>
            <a:noFill/>
          </p:spPr>
          <p:txBody>
            <a:bodyPr wrap="square" rtlCol="0">
              <a:spAutoFit/>
            </a:bodyPr>
            <a:lstStyle/>
            <a:p>
              <a:r>
                <a:rPr lang="en-US" dirty="0"/>
                <a:t>V</a:t>
              </a:r>
              <a:endParaRPr lang="en-US" dirty="0" smtClean="0"/>
            </a:p>
          </p:txBody>
        </p:sp>
        <p:sp>
          <p:nvSpPr>
            <p:cNvPr id="61" name="TextBox 60"/>
            <p:cNvSpPr txBox="1"/>
            <p:nvPr/>
          </p:nvSpPr>
          <p:spPr>
            <a:xfrm>
              <a:off x="5791200" y="3352800"/>
              <a:ext cx="304800" cy="369332"/>
            </a:xfrm>
            <a:prstGeom prst="rect">
              <a:avLst/>
            </a:prstGeom>
            <a:noFill/>
          </p:spPr>
          <p:txBody>
            <a:bodyPr wrap="square" rtlCol="0">
              <a:spAutoFit/>
            </a:bodyPr>
            <a:lstStyle/>
            <a:p>
              <a:r>
                <a:rPr lang="en-US" dirty="0" smtClean="0"/>
                <a:t>W</a:t>
              </a:r>
              <a:endParaRPr lang="en-US" dirty="0"/>
            </a:p>
          </p:txBody>
        </p:sp>
        <p:sp>
          <p:nvSpPr>
            <p:cNvPr id="62" name="TextBox 61"/>
            <p:cNvSpPr txBox="1"/>
            <p:nvPr/>
          </p:nvSpPr>
          <p:spPr>
            <a:xfrm>
              <a:off x="5791200" y="4419600"/>
              <a:ext cx="304800" cy="369332"/>
            </a:xfrm>
            <a:prstGeom prst="rect">
              <a:avLst/>
            </a:prstGeom>
            <a:noFill/>
          </p:spPr>
          <p:txBody>
            <a:bodyPr wrap="square" rtlCol="0">
              <a:spAutoFit/>
            </a:bodyPr>
            <a:lstStyle/>
            <a:p>
              <a:r>
                <a:rPr lang="en-US" dirty="0" smtClean="0"/>
                <a:t>X</a:t>
              </a:r>
              <a:endParaRPr lang="en-US" dirty="0"/>
            </a:p>
          </p:txBody>
        </p:sp>
        <p:cxnSp>
          <p:nvCxnSpPr>
            <p:cNvPr id="63" name="Straight Arrow Connector 62"/>
            <p:cNvCxnSpPr/>
            <p:nvPr/>
          </p:nvCxnSpPr>
          <p:spPr>
            <a:xfrm>
              <a:off x="3657600" y="3200400"/>
              <a:ext cx="1981200" cy="304800"/>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Flowchart: Connector 63"/>
            <p:cNvSpPr/>
            <p:nvPr/>
          </p:nvSpPr>
          <p:spPr>
            <a:xfrm>
              <a:off x="5791200" y="5257800"/>
              <a:ext cx="457200" cy="45720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5867400" y="5334000"/>
              <a:ext cx="304800" cy="369332"/>
            </a:xfrm>
            <a:prstGeom prst="rect">
              <a:avLst/>
            </a:prstGeom>
            <a:noFill/>
          </p:spPr>
          <p:txBody>
            <a:bodyPr wrap="square" rtlCol="0">
              <a:spAutoFit/>
            </a:bodyPr>
            <a:lstStyle/>
            <a:p>
              <a:r>
                <a:rPr lang="en-US" dirty="0" smtClean="0"/>
                <a:t>Y</a:t>
              </a:r>
              <a:endParaRPr lang="en-US" dirty="0"/>
            </a:p>
          </p:txBody>
        </p:sp>
        <p:cxnSp>
          <p:nvCxnSpPr>
            <p:cNvPr id="66" name="Straight Arrow Connector 65"/>
            <p:cNvCxnSpPr/>
            <p:nvPr/>
          </p:nvCxnSpPr>
          <p:spPr>
            <a:xfrm rot="16200000" flipH="1">
              <a:off x="3352800" y="2819400"/>
              <a:ext cx="2743200" cy="2133600"/>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rot="5400000" flipH="1" flipV="1">
              <a:off x="3619500" y="2476500"/>
              <a:ext cx="2286000" cy="2209800"/>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3657600" y="3962400"/>
              <a:ext cx="1981200" cy="457200"/>
            </a:xfrm>
            <a:prstGeom prst="straightConnector1">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3657600" y="1524000"/>
              <a:ext cx="1981200" cy="1588"/>
            </a:xfrm>
            <a:prstGeom prst="straightConnector1">
              <a:avLst/>
            </a:prstGeom>
            <a:ln w="28575">
              <a:prstDash val="sysDot"/>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4419600" y="1600200"/>
              <a:ext cx="533400" cy="461665"/>
            </a:xfrm>
            <a:prstGeom prst="rect">
              <a:avLst/>
            </a:prstGeom>
            <a:noFill/>
          </p:spPr>
          <p:txBody>
            <a:bodyPr wrap="square" rtlCol="0">
              <a:spAutoFit/>
            </a:bodyPr>
            <a:lstStyle/>
            <a:p>
              <a:endParaRPr lang="en-US" sz="2400" i="1" dirty="0"/>
            </a:p>
          </p:txBody>
        </p:sp>
      </p:grpSp>
      <p:pic>
        <p:nvPicPr>
          <p:cNvPr id="71" name="Picture 70" descr="addin_tmp.png"/>
          <p:cNvPicPr>
            <a:picLocks noChangeAspect="1"/>
          </p:cNvPicPr>
          <p:nvPr>
            <p:custDataLst>
              <p:tags r:id="rId1"/>
            </p:custDataLst>
          </p:nvPr>
        </p:nvPicPr>
        <p:blipFill>
          <a:blip r:embed="rId3" cstate="print"/>
          <a:stretch>
            <a:fillRect/>
          </a:stretch>
        </p:blipFill>
        <p:spPr>
          <a:xfrm>
            <a:off x="6324600" y="1905000"/>
            <a:ext cx="571500" cy="388620"/>
          </a:xfrm>
          <a:prstGeom prst="rect">
            <a:avLst/>
          </a:prstGeom>
        </p:spPr>
      </p:pic>
    </p:spTree>
    <p:extLst>
      <p:ext uri="{BB962C8B-B14F-4D97-AF65-F5344CB8AC3E}">
        <p14:creationId xmlns:p14="http://schemas.microsoft.com/office/powerpoint/2010/main" val="119645591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1</a:t>
            </a:r>
            <a:r>
              <a:rPr lang="en-US" dirty="0" smtClean="0"/>
              <a:t>: Let </a:t>
            </a:r>
            <a:r>
              <a:rPr lang="en-US" i="1" dirty="0" smtClean="0"/>
              <a:t>f</a:t>
            </a:r>
            <a:r>
              <a:rPr lang="en-US" dirty="0" smtClean="0"/>
              <a:t> be the function from {</a:t>
            </a:r>
            <a:r>
              <a:rPr lang="en-US" i="1" dirty="0" err="1" smtClean="0"/>
              <a:t>a,b,c</a:t>
            </a:r>
            <a:r>
              <a:rPr lang="en-US" dirty="0" smtClean="0"/>
              <a:t>} to {1,2,3} such that </a:t>
            </a:r>
            <a:r>
              <a:rPr lang="en-US" i="1" dirty="0" smtClean="0"/>
              <a:t>f</a:t>
            </a:r>
            <a:r>
              <a:rPr lang="en-US" dirty="0" smtClean="0"/>
              <a:t>(</a:t>
            </a:r>
            <a:r>
              <a:rPr lang="en-US" i="1" dirty="0" smtClean="0"/>
              <a:t>a</a:t>
            </a:r>
            <a:r>
              <a:rPr lang="en-US" dirty="0" smtClean="0"/>
              <a:t>)</a:t>
            </a:r>
            <a:r>
              <a:rPr lang="en-US" i="1" dirty="0" smtClean="0"/>
              <a:t> = </a:t>
            </a:r>
            <a:r>
              <a:rPr lang="en-US" dirty="0" smtClean="0">
                <a:latin typeface="Cambria Math" pitchFamily="18" charset="0"/>
                <a:ea typeface="Cambria Math" pitchFamily="18" charset="0"/>
              </a:rPr>
              <a:t>2</a:t>
            </a:r>
            <a:r>
              <a:rPr lang="en-US" dirty="0" smtClean="0"/>
              <a:t>, </a:t>
            </a:r>
            <a:r>
              <a:rPr lang="en-US" i="1" dirty="0" smtClean="0"/>
              <a:t>f</a:t>
            </a:r>
            <a:r>
              <a:rPr lang="en-US" dirty="0" smtClean="0"/>
              <a:t>(</a:t>
            </a:r>
            <a:r>
              <a:rPr lang="en-US" i="1" dirty="0" smtClean="0"/>
              <a:t>b</a:t>
            </a:r>
            <a:r>
              <a:rPr lang="en-US" dirty="0" smtClean="0"/>
              <a:t>) </a:t>
            </a:r>
            <a:r>
              <a:rPr lang="en-US" i="1" dirty="0" smtClean="0"/>
              <a:t>= </a:t>
            </a:r>
            <a:r>
              <a:rPr lang="en-US" dirty="0" smtClean="0">
                <a:latin typeface="Cambria Math" pitchFamily="18" charset="0"/>
                <a:ea typeface="Cambria Math" pitchFamily="18" charset="0"/>
              </a:rPr>
              <a:t>3</a:t>
            </a:r>
            <a:r>
              <a:rPr lang="en-US" dirty="0" smtClean="0"/>
              <a:t>, and </a:t>
            </a:r>
            <a:r>
              <a:rPr lang="en-US" i="1" dirty="0" smtClean="0"/>
              <a:t>f</a:t>
            </a:r>
            <a:r>
              <a:rPr lang="en-US" dirty="0" smtClean="0"/>
              <a:t>(</a:t>
            </a:r>
            <a:r>
              <a:rPr lang="en-US" i="1" dirty="0" smtClean="0"/>
              <a:t>c</a:t>
            </a:r>
            <a:r>
              <a:rPr lang="en-US" dirty="0" smtClean="0"/>
              <a:t>)</a:t>
            </a:r>
            <a:r>
              <a:rPr lang="en-US" i="1" dirty="0" smtClean="0"/>
              <a:t> = </a:t>
            </a:r>
            <a:r>
              <a:rPr lang="en-US" dirty="0" smtClean="0">
                <a:latin typeface="Cambria Math" pitchFamily="18" charset="0"/>
                <a:ea typeface="Cambria Math" pitchFamily="18" charset="0"/>
              </a:rPr>
              <a:t>1</a:t>
            </a:r>
            <a:r>
              <a:rPr lang="en-US" dirty="0" smtClean="0"/>
              <a:t>. Is f invertible and if so what is its inverse?</a:t>
            </a:r>
            <a:endParaRPr lang="en-US" dirty="0"/>
          </a:p>
        </p:txBody>
      </p:sp>
      <p:sp>
        <p:nvSpPr>
          <p:cNvPr id="4" name="TextBox 3"/>
          <p:cNvSpPr txBox="1"/>
          <p:nvPr/>
        </p:nvSpPr>
        <p:spPr>
          <a:xfrm>
            <a:off x="1600200" y="4114800"/>
            <a:ext cx="5410200" cy="1200329"/>
          </a:xfrm>
          <a:prstGeom prst="rect">
            <a:avLst/>
          </a:prstGeom>
          <a:noFill/>
        </p:spPr>
        <p:txBody>
          <a:bodyPr wrap="square" rtlCol="0">
            <a:spAutoFit/>
          </a:bodyPr>
          <a:lstStyle/>
          <a:p>
            <a:r>
              <a:rPr lang="en-US" b="1" dirty="0" smtClean="0"/>
              <a:t>Solution</a:t>
            </a:r>
            <a:r>
              <a:rPr lang="en-US" dirty="0" smtClean="0"/>
              <a:t>: The function </a:t>
            </a:r>
            <a:r>
              <a:rPr lang="en-US" i="1" dirty="0" smtClean="0"/>
              <a:t>f</a:t>
            </a:r>
            <a:r>
              <a:rPr lang="en-US" dirty="0" smtClean="0"/>
              <a:t> is invertible because it is a one-to-one correspondence. The inverse function </a:t>
            </a:r>
            <a:r>
              <a:rPr lang="en-US" i="1" dirty="0" smtClean="0"/>
              <a:t>f</a:t>
            </a:r>
            <a:r>
              <a:rPr lang="en-US" i="1" baseline="30000" dirty="0" smtClean="0"/>
              <a:t>-1</a:t>
            </a:r>
            <a:r>
              <a:rPr lang="en-US" baseline="30000" dirty="0" smtClean="0"/>
              <a:t> </a:t>
            </a:r>
            <a:r>
              <a:rPr lang="en-US" dirty="0" smtClean="0"/>
              <a:t> reverses the correspondence given by </a:t>
            </a:r>
            <a:r>
              <a:rPr lang="en-US" i="1" dirty="0" smtClean="0"/>
              <a:t>f</a:t>
            </a:r>
            <a:r>
              <a:rPr lang="en-US" dirty="0" smtClean="0"/>
              <a:t>, so </a:t>
            </a:r>
            <a:r>
              <a:rPr lang="en-US" i="1" dirty="0" smtClean="0">
                <a:ea typeface="Cambria Math" pitchFamily="18" charset="0"/>
              </a:rPr>
              <a:t>f</a:t>
            </a:r>
            <a:r>
              <a:rPr lang="en-US" i="1" baseline="30000" dirty="0" smtClean="0">
                <a:ea typeface="Cambria Math" pitchFamily="18" charset="0"/>
              </a:rPr>
              <a:t>-</a:t>
            </a:r>
            <a:r>
              <a:rPr lang="en-US" baseline="30000" dirty="0" smtClean="0">
                <a:ea typeface="Cambria Math" pitchFamily="18" charset="0"/>
              </a:rPr>
              <a:t>1</a:t>
            </a:r>
            <a:r>
              <a:rPr lang="en-US" i="1" baseline="30000" dirty="0" smtClean="0">
                <a:ea typeface="Cambria Math" pitchFamily="18" charset="0"/>
              </a:rPr>
              <a:t> </a:t>
            </a:r>
            <a:r>
              <a:rPr lang="en-US" dirty="0" smtClean="0">
                <a:ea typeface="Cambria Math" pitchFamily="18" charset="0"/>
              </a:rPr>
              <a:t>(</a:t>
            </a:r>
            <a:r>
              <a:rPr lang="en-US" dirty="0" smtClean="0">
                <a:latin typeface="Cambria Math" pitchFamily="18" charset="0"/>
                <a:ea typeface="Cambria Math" pitchFamily="18" charset="0"/>
              </a:rPr>
              <a:t>1</a:t>
            </a:r>
            <a:r>
              <a:rPr lang="en-US" dirty="0" smtClean="0">
                <a:ea typeface="Cambria Math" pitchFamily="18" charset="0"/>
              </a:rPr>
              <a:t>) </a:t>
            </a:r>
            <a:r>
              <a:rPr lang="en-US" i="1" dirty="0" smtClean="0">
                <a:ea typeface="Cambria Math" pitchFamily="18" charset="0"/>
              </a:rPr>
              <a:t>= c</a:t>
            </a:r>
            <a:r>
              <a:rPr lang="en-US" dirty="0" smtClean="0">
                <a:latin typeface="Cambria Math" pitchFamily="18" charset="0"/>
                <a:ea typeface="Cambria Math" pitchFamily="18" charset="0"/>
              </a:rPr>
              <a:t>,    </a:t>
            </a:r>
            <a:r>
              <a:rPr lang="en-US" i="1" dirty="0" smtClean="0"/>
              <a:t>f</a:t>
            </a:r>
            <a:r>
              <a:rPr lang="en-US" i="1" baseline="30000" dirty="0" smtClean="0"/>
              <a:t>-</a:t>
            </a:r>
            <a:r>
              <a:rPr lang="en-US" baseline="30000" dirty="0" smtClean="0"/>
              <a:t>1</a:t>
            </a:r>
            <a:r>
              <a:rPr lang="en-US" i="1" baseline="30000" dirty="0" smtClean="0"/>
              <a:t> </a:t>
            </a:r>
            <a:r>
              <a:rPr lang="en-US" i="1" dirty="0" smtClean="0"/>
              <a:t>(</a:t>
            </a:r>
            <a:r>
              <a:rPr lang="en-US" dirty="0" smtClean="0">
                <a:latin typeface="Cambria Math" pitchFamily="18" charset="0"/>
                <a:ea typeface="Cambria Math" pitchFamily="18" charset="0"/>
              </a:rPr>
              <a:t>2</a:t>
            </a:r>
            <a:r>
              <a:rPr lang="en-US" dirty="0" smtClean="0"/>
              <a:t>)</a:t>
            </a:r>
            <a:r>
              <a:rPr lang="en-US" i="1" dirty="0" smtClean="0"/>
              <a:t> = a,  </a:t>
            </a:r>
            <a:r>
              <a:rPr lang="en-US" dirty="0" smtClean="0"/>
              <a:t>and</a:t>
            </a:r>
            <a:r>
              <a:rPr lang="en-US" i="1" dirty="0" smtClean="0"/>
              <a:t> f</a:t>
            </a:r>
            <a:r>
              <a:rPr lang="en-US" i="1" baseline="30000" dirty="0" smtClean="0"/>
              <a:t>-</a:t>
            </a:r>
            <a:r>
              <a:rPr lang="en-US" baseline="30000" dirty="0" smtClean="0"/>
              <a:t>1</a:t>
            </a:r>
            <a:r>
              <a:rPr lang="en-US" i="1" baseline="30000" dirty="0" smtClean="0"/>
              <a:t> </a:t>
            </a:r>
            <a:r>
              <a:rPr lang="en-US" i="1" dirty="0" smtClean="0"/>
              <a:t>(</a:t>
            </a:r>
            <a:r>
              <a:rPr lang="en-US" dirty="0" smtClean="0">
                <a:latin typeface="Cambria Math" pitchFamily="18" charset="0"/>
                <a:ea typeface="Cambria Math" pitchFamily="18" charset="0"/>
              </a:rPr>
              <a:t>3</a:t>
            </a:r>
            <a:r>
              <a:rPr lang="en-US" dirty="0" smtClean="0"/>
              <a:t>)</a:t>
            </a:r>
            <a:r>
              <a:rPr lang="en-US" i="1" dirty="0" smtClean="0"/>
              <a:t> = b.</a:t>
            </a:r>
            <a:endParaRPr lang="en-US" dirty="0"/>
          </a:p>
        </p:txBody>
      </p:sp>
    </p:spTree>
    <p:extLst>
      <p:ext uri="{BB962C8B-B14F-4D97-AF65-F5344CB8AC3E}">
        <p14:creationId xmlns:p14="http://schemas.microsoft.com/office/powerpoint/2010/main" val="181052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2</a:t>
            </a:r>
            <a:r>
              <a:rPr lang="en-US" dirty="0" smtClean="0">
                <a:latin typeface="Cambria Math" pitchFamily="18" charset="0"/>
                <a:ea typeface="Cambria Math" pitchFamily="18" charset="0"/>
              </a:rPr>
              <a:t>:</a:t>
            </a:r>
            <a:r>
              <a:rPr lang="en-US" b="1" dirty="0" smtClean="0">
                <a:latin typeface="Cambria Math" pitchFamily="18" charset="0"/>
                <a:ea typeface="Cambria Math" pitchFamily="18" charset="0"/>
              </a:rPr>
              <a:t> </a:t>
            </a:r>
            <a:r>
              <a:rPr lang="en-US" dirty="0" smtClean="0"/>
              <a:t>Let </a:t>
            </a:r>
            <a:r>
              <a:rPr lang="en-US" i="1" dirty="0" smtClean="0"/>
              <a:t>f: </a:t>
            </a:r>
            <a:r>
              <a:rPr lang="en-US" b="1" dirty="0" smtClean="0"/>
              <a:t>Z </a:t>
            </a:r>
            <a:r>
              <a:rPr lang="en-US" i="1" dirty="0" smtClean="0">
                <a:sym typeface="Wingdings" pitchFamily="2" charset="2"/>
              </a:rPr>
              <a:t> </a:t>
            </a:r>
            <a:r>
              <a:rPr lang="en-US" b="1" dirty="0" smtClean="0">
                <a:sym typeface="Wingdings" pitchFamily="2" charset="2"/>
              </a:rPr>
              <a:t>Z</a:t>
            </a:r>
            <a:r>
              <a:rPr lang="en-US" i="1" dirty="0" smtClean="0">
                <a:sym typeface="Wingdings" pitchFamily="2" charset="2"/>
              </a:rPr>
              <a:t> </a:t>
            </a:r>
            <a:r>
              <a:rPr lang="en-US" dirty="0" smtClean="0">
                <a:sym typeface="Wingdings" pitchFamily="2" charset="2"/>
              </a:rPr>
              <a:t>be such that </a:t>
            </a:r>
            <a:r>
              <a:rPr lang="en-US" i="1" dirty="0" smtClean="0">
                <a:sym typeface="Wingdings" pitchFamily="2" charset="2"/>
              </a:rPr>
              <a:t>f(x) = x + </a:t>
            </a:r>
            <a:r>
              <a:rPr lang="en-US" dirty="0" smtClean="0">
                <a:latin typeface="Cambria Math" pitchFamily="18" charset="0"/>
                <a:ea typeface="Cambria Math" pitchFamily="18" charset="0"/>
                <a:sym typeface="Wingdings" pitchFamily="2" charset="2"/>
              </a:rPr>
              <a:t>1</a:t>
            </a:r>
            <a:r>
              <a:rPr lang="en-US" dirty="0" smtClean="0">
                <a:sym typeface="Wingdings" pitchFamily="2" charset="2"/>
              </a:rPr>
              <a:t>. Is </a:t>
            </a:r>
            <a:r>
              <a:rPr lang="en-US" i="1" dirty="0" smtClean="0">
                <a:sym typeface="Wingdings" pitchFamily="2" charset="2"/>
              </a:rPr>
              <a:t>f</a:t>
            </a:r>
            <a:r>
              <a:rPr lang="en-US" dirty="0" smtClean="0">
                <a:sym typeface="Wingdings" pitchFamily="2" charset="2"/>
              </a:rPr>
              <a:t> invertible, and if so, what is its inverse? </a:t>
            </a:r>
            <a:endParaRPr lang="en-US" dirty="0"/>
          </a:p>
        </p:txBody>
      </p:sp>
      <p:sp>
        <p:nvSpPr>
          <p:cNvPr id="4" name="TextBox 3"/>
          <p:cNvSpPr txBox="1"/>
          <p:nvPr/>
        </p:nvSpPr>
        <p:spPr>
          <a:xfrm>
            <a:off x="1600200" y="4114800"/>
            <a:ext cx="5410200" cy="923330"/>
          </a:xfrm>
          <a:prstGeom prst="rect">
            <a:avLst/>
          </a:prstGeom>
          <a:noFill/>
        </p:spPr>
        <p:txBody>
          <a:bodyPr wrap="square" rtlCol="0">
            <a:spAutoFit/>
          </a:bodyPr>
          <a:lstStyle/>
          <a:p>
            <a:r>
              <a:rPr lang="en-US" b="1" dirty="0" smtClean="0"/>
              <a:t>Solution</a:t>
            </a:r>
            <a:r>
              <a:rPr lang="en-US" dirty="0" smtClean="0"/>
              <a:t>: The function </a:t>
            </a:r>
            <a:r>
              <a:rPr lang="en-US" i="1" dirty="0" smtClean="0"/>
              <a:t>f</a:t>
            </a:r>
            <a:r>
              <a:rPr lang="en-US" dirty="0" smtClean="0"/>
              <a:t> is invertible because it is a one-to-one correspondence. The inverse function </a:t>
            </a:r>
            <a:r>
              <a:rPr lang="en-US" i="1" dirty="0" smtClean="0"/>
              <a:t>f</a:t>
            </a:r>
            <a:r>
              <a:rPr lang="en-US" i="1" baseline="30000" dirty="0" smtClean="0"/>
              <a:t>-1</a:t>
            </a:r>
            <a:r>
              <a:rPr lang="en-US" baseline="30000" dirty="0" smtClean="0"/>
              <a:t> </a:t>
            </a:r>
            <a:r>
              <a:rPr lang="en-US" dirty="0" smtClean="0"/>
              <a:t> reverses the correspondence  so </a:t>
            </a:r>
            <a:r>
              <a:rPr lang="en-US" i="1" dirty="0" smtClean="0">
                <a:ea typeface="Cambria Math" pitchFamily="18" charset="0"/>
              </a:rPr>
              <a:t>f</a:t>
            </a:r>
            <a:r>
              <a:rPr lang="en-US" i="1" baseline="30000" dirty="0" smtClean="0">
                <a:ea typeface="Cambria Math" pitchFamily="18" charset="0"/>
              </a:rPr>
              <a:t>-</a:t>
            </a:r>
            <a:r>
              <a:rPr lang="en-US" baseline="30000" dirty="0" smtClean="0">
                <a:ea typeface="Cambria Math" pitchFamily="18" charset="0"/>
              </a:rPr>
              <a:t>1</a:t>
            </a:r>
            <a:r>
              <a:rPr lang="en-US" i="1" baseline="30000" dirty="0" smtClean="0">
                <a:ea typeface="Cambria Math" pitchFamily="18" charset="0"/>
              </a:rPr>
              <a:t> </a:t>
            </a:r>
            <a:r>
              <a:rPr lang="en-US" i="1" dirty="0" smtClean="0">
                <a:ea typeface="Cambria Math" pitchFamily="18" charset="0"/>
              </a:rPr>
              <a:t>(y) = y – </a:t>
            </a:r>
            <a:r>
              <a:rPr lang="en-US" dirty="0" smtClean="0">
                <a:latin typeface="Cambria Math" pitchFamily="18" charset="0"/>
                <a:ea typeface="Cambria Math" pitchFamily="18" charset="0"/>
              </a:rPr>
              <a:t>1.   </a:t>
            </a:r>
            <a:endParaRPr lang="en-US" dirty="0"/>
          </a:p>
        </p:txBody>
      </p:sp>
    </p:spTree>
    <p:extLst>
      <p:ext uri="{BB962C8B-B14F-4D97-AF65-F5344CB8AC3E}">
        <p14:creationId xmlns:p14="http://schemas.microsoft.com/office/powerpoint/2010/main" val="2537345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3</a:t>
            </a:r>
            <a:r>
              <a:rPr lang="en-US" dirty="0" smtClean="0">
                <a:latin typeface="Cambria Math" pitchFamily="18" charset="0"/>
                <a:ea typeface="Cambria Math" pitchFamily="18" charset="0"/>
              </a:rPr>
              <a:t>: </a:t>
            </a:r>
            <a:r>
              <a:rPr lang="en-US" dirty="0" smtClean="0"/>
              <a:t>Let </a:t>
            </a:r>
            <a:r>
              <a:rPr lang="en-US" i="1" dirty="0" smtClean="0"/>
              <a:t>f: </a:t>
            </a:r>
            <a:r>
              <a:rPr lang="en-US" b="1" dirty="0" smtClean="0"/>
              <a:t>R</a:t>
            </a:r>
            <a:r>
              <a:rPr lang="en-US" i="1" dirty="0" smtClean="0"/>
              <a:t> </a:t>
            </a:r>
            <a:r>
              <a:rPr lang="en-US" i="1" dirty="0" smtClean="0">
                <a:latin typeface="Cambria Math"/>
                <a:ea typeface="Cambria Math"/>
                <a:sym typeface="Wingdings" pitchFamily="2" charset="2"/>
              </a:rPr>
              <a:t>→</a:t>
            </a:r>
            <a:r>
              <a:rPr lang="en-US" i="1" dirty="0" smtClean="0">
                <a:sym typeface="Wingdings" pitchFamily="2" charset="2"/>
              </a:rPr>
              <a:t> </a:t>
            </a:r>
            <a:r>
              <a:rPr lang="en-US" b="1" dirty="0" smtClean="0">
                <a:sym typeface="Wingdings" pitchFamily="2" charset="2"/>
              </a:rPr>
              <a:t>R</a:t>
            </a:r>
            <a:r>
              <a:rPr lang="en-US" i="1" dirty="0" smtClean="0">
                <a:sym typeface="Wingdings" pitchFamily="2" charset="2"/>
              </a:rPr>
              <a:t> </a:t>
            </a:r>
            <a:r>
              <a:rPr lang="en-US" dirty="0" smtClean="0">
                <a:sym typeface="Wingdings" pitchFamily="2" charset="2"/>
              </a:rPr>
              <a:t>be such that </a:t>
            </a:r>
            <a:r>
              <a:rPr lang="en-US" i="1" dirty="0" smtClean="0">
                <a:sym typeface="Wingdings" pitchFamily="2" charset="2"/>
              </a:rPr>
              <a:t>                   </a:t>
            </a:r>
            <a:r>
              <a:rPr lang="en-US" dirty="0" smtClean="0">
                <a:sym typeface="Wingdings" pitchFamily="2" charset="2"/>
              </a:rPr>
              <a:t>.    Is </a:t>
            </a:r>
            <a:r>
              <a:rPr lang="en-US" i="1" dirty="0" smtClean="0">
                <a:sym typeface="Wingdings" pitchFamily="2" charset="2"/>
              </a:rPr>
              <a:t>f</a:t>
            </a:r>
            <a:r>
              <a:rPr lang="en-US" dirty="0" smtClean="0">
                <a:sym typeface="Wingdings" pitchFamily="2" charset="2"/>
              </a:rPr>
              <a:t> invertible, and if so, what is its inverse? </a:t>
            </a:r>
            <a:endParaRPr lang="en-US" dirty="0"/>
          </a:p>
        </p:txBody>
      </p:sp>
      <p:pic>
        <p:nvPicPr>
          <p:cNvPr id="5" name="Picture 4" descr="addin_tmp.png"/>
          <p:cNvPicPr>
            <a:picLocks noChangeAspect="1"/>
          </p:cNvPicPr>
          <p:nvPr>
            <p:custDataLst>
              <p:tags r:id="rId1"/>
            </p:custDataLst>
          </p:nvPr>
        </p:nvPicPr>
        <p:blipFill>
          <a:blip r:embed="rId3" cstate="print"/>
          <a:stretch>
            <a:fillRect/>
          </a:stretch>
        </p:blipFill>
        <p:spPr>
          <a:xfrm>
            <a:off x="6172200" y="1981200"/>
            <a:ext cx="1577340" cy="408623"/>
          </a:xfrm>
          <a:prstGeom prst="rect">
            <a:avLst/>
          </a:prstGeom>
        </p:spPr>
      </p:pic>
      <p:sp>
        <p:nvSpPr>
          <p:cNvPr id="6" name="TextBox 5"/>
          <p:cNvSpPr txBox="1"/>
          <p:nvPr/>
        </p:nvSpPr>
        <p:spPr>
          <a:xfrm>
            <a:off x="1600200" y="4114800"/>
            <a:ext cx="5410200" cy="646331"/>
          </a:xfrm>
          <a:prstGeom prst="rect">
            <a:avLst/>
          </a:prstGeom>
          <a:noFill/>
        </p:spPr>
        <p:txBody>
          <a:bodyPr wrap="square" rtlCol="0">
            <a:spAutoFit/>
          </a:bodyPr>
          <a:lstStyle/>
          <a:p>
            <a:r>
              <a:rPr lang="en-US" b="1" dirty="0" smtClean="0"/>
              <a:t>Solution</a:t>
            </a:r>
            <a:r>
              <a:rPr lang="en-US" dirty="0" smtClean="0"/>
              <a:t>: The function </a:t>
            </a:r>
            <a:r>
              <a:rPr lang="en-US" i="1" dirty="0" smtClean="0"/>
              <a:t>f</a:t>
            </a:r>
            <a:r>
              <a:rPr lang="en-US" dirty="0" smtClean="0"/>
              <a:t> is not invertible because it is not one-to-one . </a:t>
            </a:r>
            <a:endParaRPr lang="en-US" dirty="0"/>
          </a:p>
        </p:txBody>
      </p:sp>
    </p:spTree>
    <p:extLst>
      <p:ext uri="{BB962C8B-B14F-4D97-AF65-F5344CB8AC3E}">
        <p14:creationId xmlns:p14="http://schemas.microsoft.com/office/powerpoint/2010/main" val="236463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a:t>
            </a:r>
            <a:endParaRPr lang="en-US" dirty="0"/>
          </a:p>
        </p:txBody>
      </p:sp>
      <p:sp>
        <p:nvSpPr>
          <p:cNvPr id="3" name="Content Placeholder 2"/>
          <p:cNvSpPr>
            <a:spLocks noGrp="1"/>
          </p:cNvSpPr>
          <p:nvPr>
            <p:ph idx="1"/>
          </p:nvPr>
        </p:nvSpPr>
        <p:spPr/>
        <p:txBody>
          <a:bodyPr/>
          <a:lstStyle/>
          <a:p>
            <a:r>
              <a:rPr lang="en-US" b="1" dirty="0" smtClean="0"/>
              <a:t>Definition</a:t>
            </a:r>
            <a:r>
              <a:rPr lang="en-US" dirty="0" smtClean="0"/>
              <a:t>: Let </a:t>
            </a:r>
            <a:r>
              <a:rPr lang="en-US" i="1" dirty="0" smtClean="0"/>
              <a:t>f</a:t>
            </a:r>
            <a:r>
              <a:rPr lang="en-US" dirty="0" smtClean="0"/>
              <a:t>: </a:t>
            </a:r>
            <a:r>
              <a:rPr lang="en-US" i="1" dirty="0" smtClean="0"/>
              <a:t>B</a:t>
            </a:r>
            <a:r>
              <a:rPr lang="en-US" dirty="0" smtClean="0"/>
              <a:t> </a:t>
            </a:r>
            <a:r>
              <a:rPr lang="en-US" dirty="0" smtClean="0">
                <a:latin typeface="Cambria Math"/>
                <a:ea typeface="Cambria Math"/>
              </a:rPr>
              <a:t>→</a:t>
            </a:r>
            <a:r>
              <a:rPr lang="en-US" dirty="0" smtClean="0">
                <a:sym typeface="Wingdings" pitchFamily="2" charset="2"/>
              </a:rPr>
              <a:t> </a:t>
            </a:r>
            <a:r>
              <a:rPr lang="en-US" i="1" dirty="0" smtClean="0">
                <a:sym typeface="Wingdings" pitchFamily="2" charset="2"/>
              </a:rPr>
              <a:t>C</a:t>
            </a:r>
            <a:r>
              <a:rPr lang="en-US" dirty="0" smtClean="0">
                <a:sym typeface="Wingdings" pitchFamily="2" charset="2"/>
              </a:rPr>
              <a:t>, </a:t>
            </a:r>
            <a:r>
              <a:rPr lang="en-US" i="1" dirty="0" smtClean="0">
                <a:sym typeface="Wingdings" pitchFamily="2" charset="2"/>
              </a:rPr>
              <a:t>g</a:t>
            </a:r>
            <a:r>
              <a:rPr lang="en-US" dirty="0" smtClean="0">
                <a:sym typeface="Wingdings" pitchFamily="2" charset="2"/>
              </a:rPr>
              <a:t>: </a:t>
            </a:r>
            <a:r>
              <a:rPr lang="en-US" i="1" dirty="0" smtClean="0">
                <a:sym typeface="Wingdings" pitchFamily="2" charset="2"/>
              </a:rPr>
              <a:t>A</a:t>
            </a:r>
            <a:r>
              <a:rPr lang="en-US" dirty="0" smtClean="0">
                <a:sym typeface="Wingdings" pitchFamily="2" charset="2"/>
              </a:rPr>
              <a:t> </a:t>
            </a:r>
            <a:r>
              <a:rPr lang="en-US" dirty="0" smtClean="0">
                <a:latin typeface="Cambria Math"/>
                <a:ea typeface="Cambria Math"/>
              </a:rPr>
              <a:t>→</a:t>
            </a:r>
            <a:r>
              <a:rPr lang="en-US" dirty="0" smtClean="0">
                <a:sym typeface="Wingdings" pitchFamily="2" charset="2"/>
              </a:rPr>
              <a:t> </a:t>
            </a:r>
            <a:r>
              <a:rPr lang="en-US" i="1" dirty="0" smtClean="0">
                <a:sym typeface="Wingdings" pitchFamily="2" charset="2"/>
              </a:rPr>
              <a:t>B</a:t>
            </a:r>
            <a:r>
              <a:rPr lang="en-US" dirty="0" smtClean="0">
                <a:sym typeface="Wingdings" pitchFamily="2" charset="2"/>
              </a:rPr>
              <a:t>. The </a:t>
            </a:r>
            <a:r>
              <a:rPr lang="en-US" i="1" dirty="0" smtClean="0">
                <a:sym typeface="Wingdings" pitchFamily="2" charset="2"/>
              </a:rPr>
              <a:t>composition of f with g</a:t>
            </a:r>
            <a:r>
              <a:rPr lang="en-US" dirty="0" smtClean="0">
                <a:sym typeface="Wingdings" pitchFamily="2" charset="2"/>
              </a:rPr>
              <a:t>, denoted            is the function from </a:t>
            </a:r>
            <a:r>
              <a:rPr lang="en-US" i="1" dirty="0" smtClean="0">
                <a:sym typeface="Wingdings" pitchFamily="2" charset="2"/>
              </a:rPr>
              <a:t>A</a:t>
            </a:r>
            <a:r>
              <a:rPr lang="en-US" dirty="0" smtClean="0">
                <a:sym typeface="Wingdings" pitchFamily="2" charset="2"/>
              </a:rPr>
              <a:t> to </a:t>
            </a:r>
            <a:r>
              <a:rPr lang="en-US" i="1" dirty="0" smtClean="0">
                <a:sym typeface="Wingdings" pitchFamily="2" charset="2"/>
              </a:rPr>
              <a:t>C </a:t>
            </a:r>
            <a:r>
              <a:rPr lang="en-US" dirty="0" smtClean="0">
                <a:sym typeface="Wingdings" pitchFamily="2" charset="2"/>
              </a:rPr>
              <a:t>defined by</a:t>
            </a:r>
          </a:p>
          <a:p>
            <a:pPr>
              <a:buNone/>
            </a:pPr>
            <a:endParaRPr lang="en-US" dirty="0"/>
          </a:p>
        </p:txBody>
      </p:sp>
      <p:pic>
        <p:nvPicPr>
          <p:cNvPr id="4" name="Picture 3" descr="addin_tmp.png"/>
          <p:cNvPicPr>
            <a:picLocks noChangeAspect="1"/>
          </p:cNvPicPr>
          <p:nvPr>
            <p:custDataLst>
              <p:tags r:id="rId1"/>
            </p:custDataLst>
          </p:nvPr>
        </p:nvPicPr>
        <p:blipFill>
          <a:blip r:embed="rId4" cstate="print"/>
          <a:stretch>
            <a:fillRect/>
          </a:stretch>
        </p:blipFill>
        <p:spPr>
          <a:xfrm>
            <a:off x="3276600" y="2438400"/>
            <a:ext cx="745808" cy="345758"/>
          </a:xfrm>
          <a:prstGeom prst="rect">
            <a:avLst/>
          </a:prstGeom>
        </p:spPr>
      </p:pic>
      <p:pic>
        <p:nvPicPr>
          <p:cNvPr id="5" name="Picture 4" descr="addin_tmp.png"/>
          <p:cNvPicPr>
            <a:picLocks noChangeAspect="1"/>
          </p:cNvPicPr>
          <p:nvPr>
            <p:custDataLst>
              <p:tags r:id="rId2"/>
            </p:custDataLst>
          </p:nvPr>
        </p:nvPicPr>
        <p:blipFill>
          <a:blip r:embed="rId5" cstate="print"/>
          <a:stretch>
            <a:fillRect/>
          </a:stretch>
        </p:blipFill>
        <p:spPr>
          <a:xfrm>
            <a:off x="2819400" y="2971800"/>
            <a:ext cx="3186113" cy="382905"/>
          </a:xfrm>
          <a:prstGeom prst="rect">
            <a:avLst/>
          </a:prstGeom>
        </p:spPr>
      </p:pic>
      <p:pic>
        <p:nvPicPr>
          <p:cNvPr id="6" name="Picture 5" descr="0218.jpg"/>
          <p:cNvPicPr>
            <a:picLocks noChangeAspect="1"/>
          </p:cNvPicPr>
          <p:nvPr/>
        </p:nvPicPr>
        <p:blipFill>
          <a:blip r:embed="rId6" cstate="print"/>
          <a:stretch>
            <a:fillRect/>
          </a:stretch>
        </p:blipFill>
        <p:spPr>
          <a:xfrm>
            <a:off x="2438400" y="3810000"/>
            <a:ext cx="5410200" cy="2590800"/>
          </a:xfrm>
          <a:prstGeom prst="rect">
            <a:avLst/>
          </a:prstGeom>
        </p:spPr>
      </p:pic>
    </p:spTree>
    <p:extLst>
      <p:ext uri="{BB962C8B-B14F-4D97-AF65-F5344CB8AC3E}">
        <p14:creationId xmlns:p14="http://schemas.microsoft.com/office/powerpoint/2010/main" val="73714152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smtClean="0"/>
              <a:t>Composition </a:t>
            </a:r>
            <a:endParaRPr lang="en-US" dirty="0"/>
          </a:p>
        </p:txBody>
      </p:sp>
      <p:sp>
        <p:nvSpPr>
          <p:cNvPr id="57" name="Flowchart: Connector 56"/>
          <p:cNvSpPr/>
          <p:nvPr/>
        </p:nvSpPr>
        <p:spPr>
          <a:xfrm>
            <a:off x="5176520" y="2784529"/>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lowchart: Connector 57"/>
          <p:cNvSpPr/>
          <p:nvPr/>
        </p:nvSpPr>
        <p:spPr>
          <a:xfrm>
            <a:off x="5176520" y="3365715"/>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Connector 58"/>
          <p:cNvSpPr/>
          <p:nvPr/>
        </p:nvSpPr>
        <p:spPr>
          <a:xfrm>
            <a:off x="5176520" y="2087105"/>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Connector 59"/>
          <p:cNvSpPr/>
          <p:nvPr/>
        </p:nvSpPr>
        <p:spPr>
          <a:xfrm>
            <a:off x="5176520" y="3946902"/>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lowchart: Connector 61"/>
          <p:cNvSpPr/>
          <p:nvPr/>
        </p:nvSpPr>
        <p:spPr>
          <a:xfrm>
            <a:off x="7620000" y="2438400"/>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lowchart: Connector 62"/>
          <p:cNvSpPr/>
          <p:nvPr/>
        </p:nvSpPr>
        <p:spPr>
          <a:xfrm>
            <a:off x="7696200" y="3124200"/>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5105400" y="1524000"/>
            <a:ext cx="640080" cy="539913"/>
          </a:xfrm>
          <a:prstGeom prst="rect">
            <a:avLst/>
          </a:prstGeom>
          <a:noFill/>
        </p:spPr>
        <p:txBody>
          <a:bodyPr wrap="square" rtlCol="0">
            <a:spAutoFit/>
          </a:bodyPr>
          <a:lstStyle/>
          <a:p>
            <a:r>
              <a:rPr lang="en-US" sz="4000" b="1" dirty="0" smtClean="0"/>
              <a:t>A</a:t>
            </a:r>
            <a:endParaRPr lang="en-US" sz="4000" b="1" dirty="0"/>
          </a:p>
        </p:txBody>
      </p:sp>
      <p:sp>
        <p:nvSpPr>
          <p:cNvPr id="65" name="TextBox 64"/>
          <p:cNvSpPr txBox="1"/>
          <p:nvPr/>
        </p:nvSpPr>
        <p:spPr>
          <a:xfrm>
            <a:off x="7620000" y="1524000"/>
            <a:ext cx="640080" cy="707886"/>
          </a:xfrm>
          <a:prstGeom prst="rect">
            <a:avLst/>
          </a:prstGeom>
          <a:noFill/>
        </p:spPr>
        <p:txBody>
          <a:bodyPr wrap="square" rtlCol="0">
            <a:spAutoFit/>
          </a:bodyPr>
          <a:lstStyle/>
          <a:p>
            <a:r>
              <a:rPr lang="en-US" sz="4000" b="1" dirty="0" smtClean="0"/>
              <a:t>C</a:t>
            </a:r>
            <a:endParaRPr lang="en-US" sz="4000" b="1" dirty="0"/>
          </a:p>
        </p:txBody>
      </p:sp>
      <p:sp>
        <p:nvSpPr>
          <p:cNvPr id="66" name="TextBox 65"/>
          <p:cNvSpPr txBox="1"/>
          <p:nvPr/>
        </p:nvSpPr>
        <p:spPr>
          <a:xfrm>
            <a:off x="5257800" y="2133600"/>
            <a:ext cx="284480" cy="281694"/>
          </a:xfrm>
          <a:prstGeom prst="rect">
            <a:avLst/>
          </a:prstGeom>
          <a:noFill/>
        </p:spPr>
        <p:txBody>
          <a:bodyPr wrap="square" rtlCol="0">
            <a:spAutoFit/>
          </a:bodyPr>
          <a:lstStyle/>
          <a:p>
            <a:r>
              <a:rPr lang="en-US" dirty="0" smtClean="0"/>
              <a:t>a</a:t>
            </a:r>
            <a:endParaRPr lang="en-US" dirty="0"/>
          </a:p>
        </p:txBody>
      </p:sp>
      <p:sp>
        <p:nvSpPr>
          <p:cNvPr id="67" name="TextBox 66"/>
          <p:cNvSpPr txBox="1"/>
          <p:nvPr/>
        </p:nvSpPr>
        <p:spPr>
          <a:xfrm>
            <a:off x="5247640" y="2842647"/>
            <a:ext cx="284480" cy="281694"/>
          </a:xfrm>
          <a:prstGeom prst="rect">
            <a:avLst/>
          </a:prstGeom>
          <a:noFill/>
        </p:spPr>
        <p:txBody>
          <a:bodyPr wrap="square" rtlCol="0">
            <a:spAutoFit/>
          </a:bodyPr>
          <a:lstStyle/>
          <a:p>
            <a:r>
              <a:rPr lang="en-US" dirty="0" smtClean="0"/>
              <a:t>b</a:t>
            </a:r>
            <a:endParaRPr lang="en-US" dirty="0"/>
          </a:p>
        </p:txBody>
      </p:sp>
      <p:sp>
        <p:nvSpPr>
          <p:cNvPr id="68" name="TextBox 67"/>
          <p:cNvSpPr txBox="1"/>
          <p:nvPr/>
        </p:nvSpPr>
        <p:spPr>
          <a:xfrm>
            <a:off x="5247640" y="3423834"/>
            <a:ext cx="284480" cy="281694"/>
          </a:xfrm>
          <a:prstGeom prst="rect">
            <a:avLst/>
          </a:prstGeom>
          <a:noFill/>
        </p:spPr>
        <p:txBody>
          <a:bodyPr wrap="square" rtlCol="0">
            <a:spAutoFit/>
          </a:bodyPr>
          <a:lstStyle/>
          <a:p>
            <a:r>
              <a:rPr lang="en-US" dirty="0" smtClean="0"/>
              <a:t>c</a:t>
            </a:r>
            <a:endParaRPr lang="en-US" dirty="0"/>
          </a:p>
        </p:txBody>
      </p:sp>
      <p:sp>
        <p:nvSpPr>
          <p:cNvPr id="69" name="TextBox 68"/>
          <p:cNvSpPr txBox="1"/>
          <p:nvPr/>
        </p:nvSpPr>
        <p:spPr>
          <a:xfrm>
            <a:off x="5247640" y="3946902"/>
            <a:ext cx="284480" cy="281694"/>
          </a:xfrm>
          <a:prstGeom prst="rect">
            <a:avLst/>
          </a:prstGeom>
          <a:noFill/>
        </p:spPr>
        <p:txBody>
          <a:bodyPr wrap="square" rtlCol="0">
            <a:spAutoFit/>
          </a:bodyPr>
          <a:lstStyle/>
          <a:p>
            <a:r>
              <a:rPr lang="en-US" dirty="0" smtClean="0"/>
              <a:t>d</a:t>
            </a:r>
            <a:endParaRPr lang="en-US" dirty="0"/>
          </a:p>
        </p:txBody>
      </p:sp>
      <p:sp>
        <p:nvSpPr>
          <p:cNvPr id="71" name="TextBox 70"/>
          <p:cNvSpPr txBox="1"/>
          <p:nvPr/>
        </p:nvSpPr>
        <p:spPr>
          <a:xfrm>
            <a:off x="7772400" y="3124200"/>
            <a:ext cx="284480" cy="369332"/>
          </a:xfrm>
          <a:prstGeom prst="rect">
            <a:avLst/>
          </a:prstGeom>
          <a:noFill/>
        </p:spPr>
        <p:txBody>
          <a:bodyPr wrap="square" rtlCol="0">
            <a:spAutoFit/>
          </a:bodyPr>
          <a:lstStyle/>
          <a:p>
            <a:r>
              <a:rPr lang="en-US" dirty="0" smtClean="0"/>
              <a:t>i</a:t>
            </a:r>
            <a:endParaRPr lang="en-US" dirty="0"/>
          </a:p>
        </p:txBody>
      </p:sp>
      <p:sp>
        <p:nvSpPr>
          <p:cNvPr id="72" name="TextBox 71"/>
          <p:cNvSpPr txBox="1"/>
          <p:nvPr/>
        </p:nvSpPr>
        <p:spPr>
          <a:xfrm>
            <a:off x="7665720" y="3888783"/>
            <a:ext cx="284480" cy="369332"/>
          </a:xfrm>
          <a:prstGeom prst="rect">
            <a:avLst/>
          </a:prstGeom>
          <a:noFill/>
        </p:spPr>
        <p:txBody>
          <a:bodyPr wrap="square" rtlCol="0">
            <a:spAutoFit/>
          </a:bodyPr>
          <a:lstStyle/>
          <a:p>
            <a:r>
              <a:rPr lang="en-US" dirty="0" smtClean="0"/>
              <a:t>j</a:t>
            </a:r>
            <a:endParaRPr lang="en-US" dirty="0"/>
          </a:p>
        </p:txBody>
      </p:sp>
      <p:sp>
        <p:nvSpPr>
          <p:cNvPr id="74" name="Flowchart: Connector 73"/>
          <p:cNvSpPr/>
          <p:nvPr/>
        </p:nvSpPr>
        <p:spPr>
          <a:xfrm>
            <a:off x="7543800" y="3962400"/>
            <a:ext cx="426720" cy="348712"/>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p:cNvSpPr txBox="1"/>
          <p:nvPr/>
        </p:nvSpPr>
        <p:spPr>
          <a:xfrm>
            <a:off x="7696200" y="2438400"/>
            <a:ext cx="284480" cy="369332"/>
          </a:xfrm>
          <a:prstGeom prst="rect">
            <a:avLst/>
          </a:prstGeom>
          <a:noFill/>
        </p:spPr>
        <p:txBody>
          <a:bodyPr wrap="square" rtlCol="0">
            <a:spAutoFit/>
          </a:bodyPr>
          <a:lstStyle/>
          <a:p>
            <a:r>
              <a:rPr lang="en-US" dirty="0" smtClean="0"/>
              <a:t>h</a:t>
            </a:r>
            <a:endParaRPr lang="en-US" dirty="0"/>
          </a:p>
        </p:txBody>
      </p:sp>
      <p:cxnSp>
        <p:nvCxnSpPr>
          <p:cNvPr id="79" name="Straight Arrow Connector 78"/>
          <p:cNvCxnSpPr/>
          <p:nvPr/>
        </p:nvCxnSpPr>
        <p:spPr>
          <a:xfrm>
            <a:off x="5638800" y="1905000"/>
            <a:ext cx="1849120" cy="1211"/>
          </a:xfrm>
          <a:prstGeom prst="straightConnector1">
            <a:avLst/>
          </a:prstGeom>
          <a:ln w="28575">
            <a:prstDash val="sysDot"/>
            <a:tailEnd type="arrow"/>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6385560" y="1738393"/>
            <a:ext cx="497840" cy="352117"/>
          </a:xfrm>
          <a:prstGeom prst="rect">
            <a:avLst/>
          </a:prstGeom>
          <a:noFill/>
        </p:spPr>
        <p:txBody>
          <a:bodyPr wrap="square" rtlCol="0">
            <a:spAutoFit/>
          </a:bodyPr>
          <a:lstStyle/>
          <a:p>
            <a:endParaRPr lang="en-US" sz="2400" i="1" dirty="0"/>
          </a:p>
        </p:txBody>
      </p:sp>
      <p:pic>
        <p:nvPicPr>
          <p:cNvPr id="81" name="Picture 80" descr="addin_tmp.png"/>
          <p:cNvPicPr>
            <a:picLocks noChangeAspect="1"/>
          </p:cNvPicPr>
          <p:nvPr>
            <p:custDataLst>
              <p:tags r:id="rId1"/>
            </p:custDataLst>
          </p:nvPr>
        </p:nvPicPr>
        <p:blipFill>
          <a:blip r:embed="rId3" cstate="print"/>
          <a:stretch>
            <a:fillRect/>
          </a:stretch>
        </p:blipFill>
        <p:spPr>
          <a:xfrm>
            <a:off x="6172200" y="1524000"/>
            <a:ext cx="745808" cy="345758"/>
          </a:xfrm>
          <a:prstGeom prst="rect">
            <a:avLst/>
          </a:prstGeom>
        </p:spPr>
      </p:pic>
      <p:cxnSp>
        <p:nvCxnSpPr>
          <p:cNvPr id="83" name="Straight Arrow Connector 82"/>
          <p:cNvCxnSpPr/>
          <p:nvPr/>
        </p:nvCxnSpPr>
        <p:spPr>
          <a:xfrm>
            <a:off x="5715000" y="2362200"/>
            <a:ext cx="1828800" cy="1600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flipV="1">
            <a:off x="5715000" y="2819400"/>
            <a:ext cx="19050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flipV="1">
            <a:off x="5715000" y="2743200"/>
            <a:ext cx="1828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endCxn id="63" idx="2"/>
          </p:cNvCxnSpPr>
          <p:nvPr/>
        </p:nvCxnSpPr>
        <p:spPr>
          <a:xfrm flipV="1">
            <a:off x="5715000" y="3298556"/>
            <a:ext cx="1981200" cy="2066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70" name="Group 69"/>
          <p:cNvGrpSpPr/>
          <p:nvPr/>
        </p:nvGrpSpPr>
        <p:grpSpPr>
          <a:xfrm>
            <a:off x="304800" y="1524000"/>
            <a:ext cx="4495800" cy="2971800"/>
            <a:chOff x="304800" y="990600"/>
            <a:chExt cx="4495800" cy="2971800"/>
          </a:xfrm>
        </p:grpSpPr>
        <p:sp>
          <p:nvSpPr>
            <p:cNvPr id="12" name="TextBox 11"/>
            <p:cNvSpPr txBox="1"/>
            <p:nvPr/>
          </p:nvSpPr>
          <p:spPr>
            <a:xfrm>
              <a:off x="304800" y="990600"/>
              <a:ext cx="685800" cy="707886"/>
            </a:xfrm>
            <a:prstGeom prst="rect">
              <a:avLst/>
            </a:prstGeom>
            <a:noFill/>
          </p:spPr>
          <p:txBody>
            <a:bodyPr wrap="square" rtlCol="0">
              <a:spAutoFit/>
            </a:bodyPr>
            <a:lstStyle/>
            <a:p>
              <a:r>
                <a:rPr lang="en-US" sz="4000" b="1" dirty="0" smtClean="0"/>
                <a:t>A</a:t>
              </a:r>
              <a:endParaRPr lang="en-US" sz="4000" b="1" dirty="0"/>
            </a:p>
          </p:txBody>
        </p:sp>
        <p:sp>
          <p:nvSpPr>
            <p:cNvPr id="18" name="TextBox 17"/>
            <p:cNvSpPr txBox="1"/>
            <p:nvPr/>
          </p:nvSpPr>
          <p:spPr>
            <a:xfrm>
              <a:off x="2133600" y="990600"/>
              <a:ext cx="685800" cy="707886"/>
            </a:xfrm>
            <a:prstGeom prst="rect">
              <a:avLst/>
            </a:prstGeom>
            <a:noFill/>
          </p:spPr>
          <p:txBody>
            <a:bodyPr wrap="square" rtlCol="0">
              <a:spAutoFit/>
            </a:bodyPr>
            <a:lstStyle/>
            <a:p>
              <a:r>
                <a:rPr lang="en-US" sz="4000" b="1" dirty="0" smtClean="0"/>
                <a:t>B</a:t>
              </a:r>
              <a:endParaRPr lang="en-US" sz="4000" b="1" dirty="0"/>
            </a:p>
          </p:txBody>
        </p:sp>
        <p:sp>
          <p:nvSpPr>
            <p:cNvPr id="32" name="TextBox 31"/>
            <p:cNvSpPr txBox="1"/>
            <p:nvPr/>
          </p:nvSpPr>
          <p:spPr>
            <a:xfrm>
              <a:off x="4114800" y="1066800"/>
              <a:ext cx="685800" cy="707886"/>
            </a:xfrm>
            <a:prstGeom prst="rect">
              <a:avLst/>
            </a:prstGeom>
            <a:noFill/>
          </p:spPr>
          <p:txBody>
            <a:bodyPr wrap="square" rtlCol="0">
              <a:spAutoFit/>
            </a:bodyPr>
            <a:lstStyle/>
            <a:p>
              <a:r>
                <a:rPr lang="en-US" sz="4000" b="1" dirty="0" smtClean="0"/>
                <a:t>C</a:t>
              </a:r>
              <a:endParaRPr lang="en-US" sz="4000" b="1" dirty="0"/>
            </a:p>
          </p:txBody>
        </p:sp>
        <p:sp>
          <p:nvSpPr>
            <p:cNvPr id="4" name="Flowchart: Connector 3"/>
            <p:cNvSpPr/>
            <p:nvPr/>
          </p:nvSpPr>
          <p:spPr>
            <a:xfrm>
              <a:off x="457200" y="231648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Connector 4"/>
            <p:cNvSpPr/>
            <p:nvPr/>
          </p:nvSpPr>
          <p:spPr>
            <a:xfrm>
              <a:off x="457200" y="277368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Connector 5"/>
            <p:cNvSpPr/>
            <p:nvPr/>
          </p:nvSpPr>
          <p:spPr>
            <a:xfrm>
              <a:off x="457200" y="176784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Connector 6"/>
            <p:cNvSpPr/>
            <p:nvPr/>
          </p:nvSpPr>
          <p:spPr>
            <a:xfrm>
              <a:off x="457200" y="323088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p:cNvSpPr/>
            <p:nvPr/>
          </p:nvSpPr>
          <p:spPr>
            <a:xfrm>
              <a:off x="2235200" y="172212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p:cNvSpPr/>
            <p:nvPr/>
          </p:nvSpPr>
          <p:spPr>
            <a:xfrm>
              <a:off x="2184400" y="249936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p:cNvSpPr/>
            <p:nvPr/>
          </p:nvSpPr>
          <p:spPr>
            <a:xfrm>
              <a:off x="2184400" y="313944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57200" y="1752600"/>
              <a:ext cx="203200" cy="221599"/>
            </a:xfrm>
            <a:prstGeom prst="rect">
              <a:avLst/>
            </a:prstGeom>
            <a:noFill/>
          </p:spPr>
          <p:txBody>
            <a:bodyPr wrap="square" rtlCol="0">
              <a:spAutoFit/>
            </a:bodyPr>
            <a:lstStyle/>
            <a:p>
              <a:r>
                <a:rPr lang="en-US" dirty="0" smtClean="0"/>
                <a:t>a</a:t>
              </a:r>
              <a:endParaRPr lang="en-US" dirty="0"/>
            </a:p>
          </p:txBody>
        </p:sp>
        <p:sp>
          <p:nvSpPr>
            <p:cNvPr id="20" name="TextBox 19"/>
            <p:cNvSpPr txBox="1"/>
            <p:nvPr/>
          </p:nvSpPr>
          <p:spPr>
            <a:xfrm>
              <a:off x="457200" y="2286000"/>
              <a:ext cx="203200" cy="221599"/>
            </a:xfrm>
            <a:prstGeom prst="rect">
              <a:avLst/>
            </a:prstGeom>
            <a:noFill/>
          </p:spPr>
          <p:txBody>
            <a:bodyPr wrap="square" rtlCol="0">
              <a:spAutoFit/>
            </a:bodyPr>
            <a:lstStyle/>
            <a:p>
              <a:r>
                <a:rPr lang="en-US" dirty="0" smtClean="0"/>
                <a:t>b</a:t>
              </a:r>
              <a:endParaRPr lang="en-US" dirty="0"/>
            </a:p>
          </p:txBody>
        </p:sp>
        <p:sp>
          <p:nvSpPr>
            <p:cNvPr id="21" name="TextBox 20"/>
            <p:cNvSpPr txBox="1"/>
            <p:nvPr/>
          </p:nvSpPr>
          <p:spPr>
            <a:xfrm>
              <a:off x="457200" y="2743200"/>
              <a:ext cx="203200" cy="221599"/>
            </a:xfrm>
            <a:prstGeom prst="rect">
              <a:avLst/>
            </a:prstGeom>
            <a:noFill/>
          </p:spPr>
          <p:txBody>
            <a:bodyPr wrap="square" rtlCol="0">
              <a:spAutoFit/>
            </a:bodyPr>
            <a:lstStyle/>
            <a:p>
              <a:r>
                <a:rPr lang="en-US" dirty="0" smtClean="0"/>
                <a:t>c</a:t>
              </a:r>
              <a:endParaRPr lang="en-US" dirty="0"/>
            </a:p>
          </p:txBody>
        </p:sp>
        <p:sp>
          <p:nvSpPr>
            <p:cNvPr id="22" name="TextBox 21"/>
            <p:cNvSpPr txBox="1"/>
            <p:nvPr/>
          </p:nvSpPr>
          <p:spPr>
            <a:xfrm>
              <a:off x="457200" y="3200400"/>
              <a:ext cx="203200" cy="221599"/>
            </a:xfrm>
            <a:prstGeom prst="rect">
              <a:avLst/>
            </a:prstGeom>
            <a:noFill/>
          </p:spPr>
          <p:txBody>
            <a:bodyPr wrap="square" rtlCol="0">
              <a:spAutoFit/>
            </a:bodyPr>
            <a:lstStyle/>
            <a:p>
              <a:r>
                <a:rPr lang="en-US" dirty="0" smtClean="0"/>
                <a:t>d</a:t>
              </a:r>
              <a:endParaRPr lang="en-US" dirty="0"/>
            </a:p>
          </p:txBody>
        </p:sp>
        <p:sp>
          <p:nvSpPr>
            <p:cNvPr id="23" name="TextBox 22"/>
            <p:cNvSpPr txBox="1"/>
            <p:nvPr/>
          </p:nvSpPr>
          <p:spPr>
            <a:xfrm>
              <a:off x="2209800" y="1676400"/>
              <a:ext cx="228600" cy="369332"/>
            </a:xfrm>
            <a:prstGeom prst="rect">
              <a:avLst/>
            </a:prstGeom>
            <a:noFill/>
          </p:spPr>
          <p:txBody>
            <a:bodyPr wrap="square" rtlCol="0">
              <a:spAutoFit/>
            </a:bodyPr>
            <a:lstStyle/>
            <a:p>
              <a:r>
                <a:rPr lang="en-US" dirty="0"/>
                <a:t>V</a:t>
              </a:r>
              <a:endParaRPr lang="en-US" dirty="0" smtClean="0"/>
            </a:p>
          </p:txBody>
        </p:sp>
        <p:sp>
          <p:nvSpPr>
            <p:cNvPr id="24" name="TextBox 23"/>
            <p:cNvSpPr txBox="1"/>
            <p:nvPr/>
          </p:nvSpPr>
          <p:spPr>
            <a:xfrm>
              <a:off x="2133600" y="2514600"/>
              <a:ext cx="203200" cy="221599"/>
            </a:xfrm>
            <a:prstGeom prst="rect">
              <a:avLst/>
            </a:prstGeom>
            <a:noFill/>
          </p:spPr>
          <p:txBody>
            <a:bodyPr wrap="square" rtlCol="0">
              <a:spAutoFit/>
            </a:bodyPr>
            <a:lstStyle/>
            <a:p>
              <a:r>
                <a:rPr lang="en-US" dirty="0" smtClean="0"/>
                <a:t>W</a:t>
              </a:r>
              <a:endParaRPr lang="en-US" dirty="0"/>
            </a:p>
          </p:txBody>
        </p:sp>
        <p:sp>
          <p:nvSpPr>
            <p:cNvPr id="25" name="TextBox 24"/>
            <p:cNvSpPr txBox="1"/>
            <p:nvPr/>
          </p:nvSpPr>
          <p:spPr>
            <a:xfrm>
              <a:off x="2235200" y="3124200"/>
              <a:ext cx="127000" cy="369332"/>
            </a:xfrm>
            <a:prstGeom prst="rect">
              <a:avLst/>
            </a:prstGeom>
            <a:noFill/>
          </p:spPr>
          <p:txBody>
            <a:bodyPr wrap="square" rtlCol="0">
              <a:spAutoFit/>
            </a:bodyPr>
            <a:lstStyle/>
            <a:p>
              <a:r>
                <a:rPr lang="en-US" dirty="0" smtClean="0"/>
                <a:t>X</a:t>
              </a:r>
              <a:endParaRPr lang="en-US" dirty="0"/>
            </a:p>
          </p:txBody>
        </p:sp>
        <p:cxnSp>
          <p:nvCxnSpPr>
            <p:cNvPr id="28" name="Straight Arrow Connector 27"/>
            <p:cNvCxnSpPr/>
            <p:nvPr/>
          </p:nvCxnSpPr>
          <p:spPr>
            <a:xfrm>
              <a:off x="812800" y="2453640"/>
              <a:ext cx="1320800" cy="1828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Flowchart: Connector 26"/>
            <p:cNvSpPr/>
            <p:nvPr/>
          </p:nvSpPr>
          <p:spPr>
            <a:xfrm>
              <a:off x="2235200" y="368808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2286000" y="3657600"/>
              <a:ext cx="203200" cy="221599"/>
            </a:xfrm>
            <a:prstGeom prst="rect">
              <a:avLst/>
            </a:prstGeom>
            <a:noFill/>
          </p:spPr>
          <p:txBody>
            <a:bodyPr wrap="square" rtlCol="0">
              <a:spAutoFit/>
            </a:bodyPr>
            <a:lstStyle/>
            <a:p>
              <a:r>
                <a:rPr lang="en-US" dirty="0" smtClean="0"/>
                <a:t>Y</a:t>
              </a:r>
              <a:endParaRPr lang="en-US" dirty="0"/>
            </a:p>
          </p:txBody>
        </p:sp>
        <p:cxnSp>
          <p:nvCxnSpPr>
            <p:cNvPr id="31" name="Straight Arrow Connector 30"/>
            <p:cNvCxnSpPr/>
            <p:nvPr/>
          </p:nvCxnSpPr>
          <p:spPr>
            <a:xfrm rot="16200000" flipH="1">
              <a:off x="701040" y="2153920"/>
              <a:ext cx="1645920" cy="142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812800" y="2910840"/>
              <a:ext cx="1320800" cy="2743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812800" y="1447800"/>
              <a:ext cx="1320800" cy="953"/>
            </a:xfrm>
            <a:prstGeom prst="straightConnector1">
              <a:avLst/>
            </a:prstGeom>
            <a:ln w="28575">
              <a:prstDash val="sysDot"/>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1371600" y="990600"/>
              <a:ext cx="355600" cy="276999"/>
            </a:xfrm>
            <a:prstGeom prst="rect">
              <a:avLst/>
            </a:prstGeom>
            <a:noFill/>
          </p:spPr>
          <p:txBody>
            <a:bodyPr wrap="square" rtlCol="0">
              <a:spAutoFit/>
            </a:bodyPr>
            <a:lstStyle/>
            <a:p>
              <a:r>
                <a:rPr lang="en-US" sz="2400" i="1" dirty="0" smtClean="0"/>
                <a:t>g</a:t>
              </a:r>
              <a:endParaRPr lang="en-US" sz="2400" i="1" dirty="0"/>
            </a:p>
          </p:txBody>
        </p:sp>
        <p:cxnSp>
          <p:nvCxnSpPr>
            <p:cNvPr id="30" name="Straight Arrow Connector 29"/>
            <p:cNvCxnSpPr/>
            <p:nvPr/>
          </p:nvCxnSpPr>
          <p:spPr>
            <a:xfrm>
              <a:off x="2743200" y="1447800"/>
              <a:ext cx="1320800" cy="953"/>
            </a:xfrm>
            <a:prstGeom prst="straightConnector1">
              <a:avLst/>
            </a:prstGeom>
            <a:ln w="28575">
              <a:prstDash val="sysDot"/>
              <a:tailEnd type="arrow"/>
            </a:ln>
          </p:spPr>
          <p:style>
            <a:lnRef idx="1">
              <a:schemeClr val="accent1"/>
            </a:lnRef>
            <a:fillRef idx="0">
              <a:schemeClr val="accent1"/>
            </a:fillRef>
            <a:effectRef idx="0">
              <a:schemeClr val="accent1"/>
            </a:effectRef>
            <a:fontRef idx="minor">
              <a:schemeClr val="tx1"/>
            </a:fontRef>
          </p:style>
        </p:cxnSp>
        <p:sp>
          <p:nvSpPr>
            <p:cNvPr id="34" name="Flowchart: Connector 33"/>
            <p:cNvSpPr/>
            <p:nvPr/>
          </p:nvSpPr>
          <p:spPr>
            <a:xfrm>
              <a:off x="4165600" y="185928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p:cNvSpPr/>
            <p:nvPr/>
          </p:nvSpPr>
          <p:spPr>
            <a:xfrm>
              <a:off x="4216400" y="236220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lowchart: Connector 36"/>
            <p:cNvSpPr/>
            <p:nvPr/>
          </p:nvSpPr>
          <p:spPr>
            <a:xfrm>
              <a:off x="4267200" y="3139440"/>
              <a:ext cx="304800" cy="274320"/>
            </a:xfrm>
            <a:prstGeom prst="flowChartConnector">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4191000" y="1828800"/>
              <a:ext cx="203200" cy="221599"/>
            </a:xfrm>
            <a:prstGeom prst="rect">
              <a:avLst/>
            </a:prstGeom>
            <a:noFill/>
          </p:spPr>
          <p:txBody>
            <a:bodyPr wrap="square" rtlCol="0">
              <a:spAutoFit/>
            </a:bodyPr>
            <a:lstStyle/>
            <a:p>
              <a:r>
                <a:rPr lang="en-US" dirty="0" smtClean="0"/>
                <a:t>h</a:t>
              </a:r>
            </a:p>
          </p:txBody>
        </p:sp>
        <p:sp>
          <p:nvSpPr>
            <p:cNvPr id="39" name="TextBox 38"/>
            <p:cNvSpPr txBox="1"/>
            <p:nvPr/>
          </p:nvSpPr>
          <p:spPr>
            <a:xfrm>
              <a:off x="4267200" y="3048000"/>
              <a:ext cx="228600" cy="369332"/>
            </a:xfrm>
            <a:prstGeom prst="rect">
              <a:avLst/>
            </a:prstGeom>
            <a:noFill/>
          </p:spPr>
          <p:txBody>
            <a:bodyPr wrap="square" rtlCol="0">
              <a:spAutoFit/>
            </a:bodyPr>
            <a:lstStyle/>
            <a:p>
              <a:r>
                <a:rPr lang="en-US" dirty="0" smtClean="0"/>
                <a:t>j</a:t>
              </a:r>
            </a:p>
          </p:txBody>
        </p:sp>
        <p:sp>
          <p:nvSpPr>
            <p:cNvPr id="40" name="TextBox 39"/>
            <p:cNvSpPr txBox="1"/>
            <p:nvPr/>
          </p:nvSpPr>
          <p:spPr>
            <a:xfrm>
              <a:off x="4267200" y="2286000"/>
              <a:ext cx="203200" cy="221599"/>
            </a:xfrm>
            <a:prstGeom prst="rect">
              <a:avLst/>
            </a:prstGeom>
            <a:noFill/>
          </p:spPr>
          <p:txBody>
            <a:bodyPr wrap="square" rtlCol="0">
              <a:spAutoFit/>
            </a:bodyPr>
            <a:lstStyle/>
            <a:p>
              <a:r>
                <a:rPr lang="en-US" dirty="0" smtClean="0"/>
                <a:t>i</a:t>
              </a:r>
            </a:p>
          </p:txBody>
        </p:sp>
        <p:cxnSp>
          <p:nvCxnSpPr>
            <p:cNvPr id="47" name="Straight Arrow Connector 46"/>
            <p:cNvCxnSpPr/>
            <p:nvPr/>
          </p:nvCxnSpPr>
          <p:spPr>
            <a:xfrm>
              <a:off x="2590800" y="1767840"/>
              <a:ext cx="1574800" cy="64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2540000" y="2545080"/>
              <a:ext cx="16256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27" idx="6"/>
            </p:cNvCxnSpPr>
            <p:nvPr/>
          </p:nvCxnSpPr>
          <p:spPr>
            <a:xfrm flipV="1">
              <a:off x="2540000" y="3322320"/>
              <a:ext cx="1676400" cy="5029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V="1">
              <a:off x="2540000" y="2042160"/>
              <a:ext cx="1574800" cy="5486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124200" y="990600"/>
              <a:ext cx="355600" cy="461665"/>
            </a:xfrm>
            <a:prstGeom prst="rect">
              <a:avLst/>
            </a:prstGeom>
            <a:noFill/>
          </p:spPr>
          <p:txBody>
            <a:bodyPr wrap="square" rtlCol="0">
              <a:spAutoFit/>
            </a:bodyPr>
            <a:lstStyle/>
            <a:p>
              <a:r>
                <a:rPr lang="en-US" sz="2400" i="1" dirty="0" smtClean="0"/>
                <a:t>f</a:t>
              </a:r>
              <a:endParaRPr lang="en-US" sz="2400" i="1" dirty="0"/>
            </a:p>
          </p:txBody>
        </p:sp>
        <p:cxnSp>
          <p:nvCxnSpPr>
            <p:cNvPr id="91" name="Straight Arrow Connector 90"/>
            <p:cNvCxnSpPr>
              <a:endCxn id="9" idx="3"/>
            </p:cNvCxnSpPr>
            <p:nvPr/>
          </p:nvCxnSpPr>
          <p:spPr>
            <a:xfrm flipV="1">
              <a:off x="838200" y="2733507"/>
              <a:ext cx="1390837" cy="6192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6283156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b="1" dirty="0" smtClean="0">
                <a:latin typeface="Cambria Math" pitchFamily="18" charset="0"/>
                <a:ea typeface="Cambria Math" pitchFamily="18" charset="0"/>
              </a:rPr>
              <a:t>1</a:t>
            </a:r>
            <a:r>
              <a:rPr lang="en-US" dirty="0" smtClean="0"/>
              <a:t>: If                         and                                  , then </a:t>
            </a:r>
          </a:p>
          <a:p>
            <a:endParaRPr lang="en-US" dirty="0" smtClean="0"/>
          </a:p>
          <a:p>
            <a:pPr>
              <a:buNone/>
            </a:pPr>
            <a:r>
              <a:rPr lang="en-US" dirty="0" smtClean="0"/>
              <a:t>     and  </a:t>
            </a:r>
            <a:endParaRPr lang="en-US" dirty="0"/>
          </a:p>
        </p:txBody>
      </p:sp>
      <p:pic>
        <p:nvPicPr>
          <p:cNvPr id="4" name="Picture 3" descr="addin_tmp.png"/>
          <p:cNvPicPr>
            <a:picLocks noChangeAspect="1"/>
          </p:cNvPicPr>
          <p:nvPr>
            <p:custDataLst>
              <p:tags r:id="rId1"/>
            </p:custDataLst>
          </p:nvPr>
        </p:nvPicPr>
        <p:blipFill>
          <a:blip r:embed="rId6" cstate="print"/>
          <a:stretch>
            <a:fillRect/>
          </a:stretch>
        </p:blipFill>
        <p:spPr>
          <a:xfrm>
            <a:off x="3048000" y="1981200"/>
            <a:ext cx="1577340" cy="408623"/>
          </a:xfrm>
          <a:prstGeom prst="rect">
            <a:avLst/>
          </a:prstGeom>
        </p:spPr>
      </p:pic>
      <p:pic>
        <p:nvPicPr>
          <p:cNvPr id="5" name="Picture 4" descr="addin_tmp.png"/>
          <p:cNvPicPr>
            <a:picLocks noChangeAspect="1"/>
          </p:cNvPicPr>
          <p:nvPr>
            <p:custDataLst>
              <p:tags r:id="rId2"/>
            </p:custDataLst>
          </p:nvPr>
        </p:nvPicPr>
        <p:blipFill>
          <a:blip r:embed="rId7" cstate="print"/>
          <a:stretch>
            <a:fillRect/>
          </a:stretch>
        </p:blipFill>
        <p:spPr>
          <a:xfrm>
            <a:off x="5562600" y="1981200"/>
            <a:ext cx="2240280" cy="382905"/>
          </a:xfrm>
          <a:prstGeom prst="rect">
            <a:avLst/>
          </a:prstGeom>
        </p:spPr>
      </p:pic>
      <p:pic>
        <p:nvPicPr>
          <p:cNvPr id="6" name="Picture 5" descr="addin_tmp.png"/>
          <p:cNvPicPr>
            <a:picLocks noChangeAspect="1"/>
          </p:cNvPicPr>
          <p:nvPr>
            <p:custDataLst>
              <p:tags r:id="rId3"/>
            </p:custDataLst>
          </p:nvPr>
        </p:nvPicPr>
        <p:blipFill>
          <a:blip r:embed="rId8" cstate="print"/>
          <a:stretch>
            <a:fillRect/>
          </a:stretch>
        </p:blipFill>
        <p:spPr>
          <a:xfrm>
            <a:off x="2667000" y="2819400"/>
            <a:ext cx="3206115" cy="408623"/>
          </a:xfrm>
          <a:prstGeom prst="rect">
            <a:avLst/>
          </a:prstGeom>
        </p:spPr>
      </p:pic>
      <p:pic>
        <p:nvPicPr>
          <p:cNvPr id="9" name="Picture 8" descr="addin_tmp.png"/>
          <p:cNvPicPr>
            <a:picLocks noChangeAspect="1"/>
          </p:cNvPicPr>
          <p:nvPr>
            <p:custDataLst>
              <p:tags r:id="rId4"/>
            </p:custDataLst>
          </p:nvPr>
        </p:nvPicPr>
        <p:blipFill>
          <a:blip r:embed="rId9" cstate="print"/>
          <a:stretch>
            <a:fillRect/>
          </a:stretch>
        </p:blipFill>
        <p:spPr>
          <a:xfrm>
            <a:off x="2590800" y="3886200"/>
            <a:ext cx="2931795" cy="408623"/>
          </a:xfrm>
          <a:prstGeom prst="rect">
            <a:avLst/>
          </a:prstGeom>
        </p:spPr>
      </p:pic>
    </p:spTree>
    <p:extLst>
      <p:ext uri="{BB962C8B-B14F-4D97-AF65-F5344CB8AC3E}">
        <p14:creationId xmlns:p14="http://schemas.microsoft.com/office/powerpoint/2010/main" val="330384001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 Questions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Example </a:t>
            </a:r>
            <a:r>
              <a:rPr lang="en-US" b="1" dirty="0" smtClean="0">
                <a:latin typeface="Cambria Math" pitchFamily="18" charset="0"/>
                <a:ea typeface="Cambria Math" pitchFamily="18" charset="0"/>
              </a:rPr>
              <a:t>2</a:t>
            </a:r>
            <a:r>
              <a:rPr lang="en-US" dirty="0" smtClean="0"/>
              <a:t>: Let </a:t>
            </a:r>
            <a:r>
              <a:rPr lang="en-US" i="1" dirty="0" smtClean="0"/>
              <a:t>g</a:t>
            </a:r>
            <a:r>
              <a:rPr lang="en-US" dirty="0" smtClean="0"/>
              <a:t> be the function from the set {</a:t>
            </a:r>
            <a:r>
              <a:rPr lang="en-US" i="1" dirty="0" err="1" smtClean="0"/>
              <a:t>a,b,c</a:t>
            </a:r>
            <a:r>
              <a:rPr lang="en-US" dirty="0" smtClean="0"/>
              <a:t>}</a:t>
            </a:r>
            <a:r>
              <a:rPr lang="en-US" i="1" dirty="0" smtClean="0"/>
              <a:t> </a:t>
            </a:r>
            <a:r>
              <a:rPr lang="en-US" dirty="0" smtClean="0"/>
              <a:t>to itself such that </a:t>
            </a:r>
            <a:r>
              <a:rPr lang="en-US" i="1" dirty="0" smtClean="0"/>
              <a:t>g</a:t>
            </a:r>
            <a:r>
              <a:rPr lang="en-US" dirty="0" smtClean="0"/>
              <a:t>(</a:t>
            </a:r>
            <a:r>
              <a:rPr lang="en-US" i="1" dirty="0" smtClean="0"/>
              <a:t>a</a:t>
            </a:r>
            <a:r>
              <a:rPr lang="en-US" dirty="0" smtClean="0"/>
              <a:t>)</a:t>
            </a:r>
            <a:r>
              <a:rPr lang="en-US" i="1" dirty="0" smtClean="0"/>
              <a:t> = b</a:t>
            </a:r>
            <a:r>
              <a:rPr lang="en-US" dirty="0" smtClean="0"/>
              <a:t>, </a:t>
            </a:r>
            <a:r>
              <a:rPr lang="en-US" i="1" dirty="0" smtClean="0"/>
              <a:t>g</a:t>
            </a:r>
            <a:r>
              <a:rPr lang="en-US" dirty="0" smtClean="0"/>
              <a:t>(</a:t>
            </a:r>
            <a:r>
              <a:rPr lang="en-US" i="1" dirty="0" smtClean="0"/>
              <a:t>b</a:t>
            </a:r>
            <a:r>
              <a:rPr lang="en-US" dirty="0" smtClean="0"/>
              <a:t>)</a:t>
            </a:r>
            <a:r>
              <a:rPr lang="en-US" i="1" dirty="0" smtClean="0"/>
              <a:t> = c</a:t>
            </a:r>
            <a:r>
              <a:rPr lang="en-US" dirty="0" smtClean="0"/>
              <a:t>, and </a:t>
            </a:r>
            <a:r>
              <a:rPr lang="en-US" i="1" dirty="0" smtClean="0"/>
              <a:t>g</a:t>
            </a:r>
            <a:r>
              <a:rPr lang="en-US" dirty="0" smtClean="0"/>
              <a:t>(</a:t>
            </a:r>
            <a:r>
              <a:rPr lang="en-US" i="1" dirty="0" smtClean="0"/>
              <a:t>c</a:t>
            </a:r>
            <a:r>
              <a:rPr lang="en-US" dirty="0" smtClean="0"/>
              <a:t>)</a:t>
            </a:r>
            <a:r>
              <a:rPr lang="en-US" i="1" dirty="0" smtClean="0"/>
              <a:t> = a</a:t>
            </a:r>
            <a:r>
              <a:rPr lang="en-US" dirty="0" smtClean="0"/>
              <a:t>. Let  </a:t>
            </a:r>
            <a:r>
              <a:rPr lang="en-US" i="1" dirty="0" smtClean="0"/>
              <a:t>f</a:t>
            </a:r>
            <a:r>
              <a:rPr lang="en-US" dirty="0" smtClean="0"/>
              <a:t> be the function from the set {</a:t>
            </a:r>
            <a:r>
              <a:rPr lang="en-US" i="1" dirty="0" err="1" smtClean="0"/>
              <a:t>a,b,c</a:t>
            </a:r>
            <a:r>
              <a:rPr lang="en-US" dirty="0" smtClean="0"/>
              <a:t>}</a:t>
            </a:r>
            <a:r>
              <a:rPr lang="en-US" i="1" dirty="0" smtClean="0"/>
              <a:t> </a:t>
            </a:r>
            <a:r>
              <a:rPr lang="en-US" dirty="0" smtClean="0"/>
              <a:t>to the set {</a:t>
            </a:r>
            <a:r>
              <a:rPr lang="en-US" dirty="0" smtClean="0">
                <a:latin typeface="Cambria Math" pitchFamily="18" charset="0"/>
                <a:ea typeface="Cambria Math" pitchFamily="18" charset="0"/>
              </a:rPr>
              <a:t>1,2,3</a:t>
            </a:r>
            <a:r>
              <a:rPr lang="en-US" dirty="0" smtClean="0"/>
              <a:t>}</a:t>
            </a:r>
            <a:r>
              <a:rPr lang="en-US" i="1" dirty="0" smtClean="0"/>
              <a:t> </a:t>
            </a:r>
            <a:r>
              <a:rPr lang="en-US" dirty="0" smtClean="0"/>
              <a:t>such that     </a:t>
            </a:r>
            <a:r>
              <a:rPr lang="en-US" i="1" dirty="0" smtClean="0"/>
              <a:t>f</a:t>
            </a:r>
            <a:r>
              <a:rPr lang="en-US" dirty="0" smtClean="0"/>
              <a:t>(</a:t>
            </a:r>
            <a:r>
              <a:rPr lang="en-US" i="1" dirty="0" smtClean="0"/>
              <a:t>a</a:t>
            </a:r>
            <a:r>
              <a:rPr lang="en-US" dirty="0" smtClean="0"/>
              <a:t>)</a:t>
            </a:r>
            <a:r>
              <a:rPr lang="en-US" i="1" dirty="0" smtClean="0"/>
              <a:t> = </a:t>
            </a:r>
            <a:r>
              <a:rPr lang="en-US" dirty="0" smtClean="0">
                <a:latin typeface="Cambria Math" pitchFamily="18" charset="0"/>
                <a:ea typeface="Cambria Math" pitchFamily="18" charset="0"/>
              </a:rPr>
              <a:t>3</a:t>
            </a:r>
            <a:r>
              <a:rPr lang="en-US" dirty="0" smtClean="0"/>
              <a:t>, </a:t>
            </a:r>
            <a:r>
              <a:rPr lang="en-US" i="1" dirty="0" smtClean="0"/>
              <a:t>f</a:t>
            </a:r>
            <a:r>
              <a:rPr lang="en-US" dirty="0" smtClean="0"/>
              <a:t>(</a:t>
            </a:r>
            <a:r>
              <a:rPr lang="en-US" i="1" dirty="0" smtClean="0"/>
              <a:t>b</a:t>
            </a:r>
            <a:r>
              <a:rPr lang="en-US" dirty="0" smtClean="0"/>
              <a:t>)</a:t>
            </a:r>
            <a:r>
              <a:rPr lang="en-US" i="1" dirty="0" smtClean="0"/>
              <a:t> = </a:t>
            </a:r>
            <a:r>
              <a:rPr lang="en-US" dirty="0" smtClean="0">
                <a:latin typeface="Cambria Math" pitchFamily="18" charset="0"/>
                <a:ea typeface="Cambria Math" pitchFamily="18" charset="0"/>
              </a:rPr>
              <a:t>2</a:t>
            </a:r>
            <a:r>
              <a:rPr lang="en-US" dirty="0" smtClean="0"/>
              <a:t>, and </a:t>
            </a:r>
            <a:r>
              <a:rPr lang="en-US" i="1" dirty="0" smtClean="0"/>
              <a:t>f</a:t>
            </a:r>
            <a:r>
              <a:rPr lang="en-US" dirty="0" smtClean="0"/>
              <a:t>(</a:t>
            </a:r>
            <a:r>
              <a:rPr lang="en-US" i="1" dirty="0" smtClean="0"/>
              <a:t>c</a:t>
            </a:r>
            <a:r>
              <a:rPr lang="en-US" dirty="0" smtClean="0"/>
              <a:t>)</a:t>
            </a:r>
            <a:r>
              <a:rPr lang="en-US" i="1" dirty="0" smtClean="0"/>
              <a:t>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1</a:t>
            </a:r>
            <a:r>
              <a:rPr lang="en-US" dirty="0" smtClean="0"/>
              <a:t>.</a:t>
            </a:r>
          </a:p>
          <a:p>
            <a:pPr>
              <a:buNone/>
            </a:pPr>
            <a:r>
              <a:rPr lang="en-US" dirty="0" smtClean="0"/>
              <a:t>    What is the composition of </a:t>
            </a:r>
            <a:r>
              <a:rPr lang="en-US" i="1" dirty="0" smtClean="0"/>
              <a:t>f</a:t>
            </a:r>
            <a:r>
              <a:rPr lang="en-US" dirty="0" smtClean="0"/>
              <a:t> and </a:t>
            </a:r>
            <a:r>
              <a:rPr lang="en-US" i="1" dirty="0" smtClean="0"/>
              <a:t>g</a:t>
            </a:r>
            <a:r>
              <a:rPr lang="en-US" dirty="0" smtClean="0"/>
              <a:t>, and what is the composition of </a:t>
            </a:r>
            <a:r>
              <a:rPr lang="en-US" i="1" dirty="0" smtClean="0"/>
              <a:t>g </a:t>
            </a:r>
            <a:r>
              <a:rPr lang="en-US" dirty="0" smtClean="0"/>
              <a:t>and </a:t>
            </a:r>
            <a:r>
              <a:rPr lang="en-US" i="1" dirty="0" smtClean="0"/>
              <a:t>f</a:t>
            </a:r>
            <a:r>
              <a:rPr lang="en-US" dirty="0" smtClean="0"/>
              <a:t>.</a:t>
            </a:r>
          </a:p>
          <a:p>
            <a:pPr>
              <a:buNone/>
            </a:pPr>
            <a:r>
              <a:rPr lang="en-US" b="1" dirty="0" smtClean="0"/>
              <a:t>    Solution:  </a:t>
            </a:r>
            <a:r>
              <a:rPr lang="en-US" dirty="0" smtClean="0"/>
              <a:t>The composition </a:t>
            </a:r>
            <a:r>
              <a:rPr lang="en-US" i="1" dirty="0" err="1" smtClean="0"/>
              <a:t>f</a:t>
            </a:r>
            <a:r>
              <a:rPr lang="en-US" i="1" dirty="0" err="1" smtClean="0">
                <a:latin typeface="Cambria Math"/>
                <a:ea typeface="Cambria Math"/>
              </a:rPr>
              <a:t>∘g</a:t>
            </a:r>
            <a:r>
              <a:rPr lang="en-US" dirty="0" smtClean="0"/>
              <a:t>  is defined by </a:t>
            </a:r>
          </a:p>
          <a:p>
            <a:pPr lvl="1">
              <a:buNone/>
            </a:pPr>
            <a:r>
              <a:rPr lang="en-US" i="1" dirty="0" err="1" smtClean="0"/>
              <a:t>f</a:t>
            </a:r>
            <a:r>
              <a:rPr lang="en-US" i="1" dirty="0" err="1" smtClean="0">
                <a:latin typeface="Cambria Math"/>
                <a:ea typeface="Cambria Math"/>
              </a:rPr>
              <a:t>∘g</a:t>
            </a:r>
            <a:r>
              <a:rPr lang="en-US" i="1" dirty="0" smtClean="0">
                <a:latin typeface="Cambria Math"/>
                <a:ea typeface="Cambria Math"/>
              </a:rPr>
              <a:t>  </a:t>
            </a:r>
            <a:r>
              <a:rPr lang="en-US" dirty="0" smtClean="0">
                <a:latin typeface="Cambria Math"/>
                <a:ea typeface="Cambria Math"/>
              </a:rPr>
              <a:t>(</a:t>
            </a:r>
            <a:r>
              <a:rPr lang="en-US" i="1" dirty="0" smtClean="0">
                <a:latin typeface="Cambria Math"/>
                <a:ea typeface="Cambria Math"/>
              </a:rPr>
              <a:t>a</a:t>
            </a:r>
            <a:r>
              <a:rPr lang="en-US" dirty="0" smtClean="0">
                <a:latin typeface="Cambria Math"/>
                <a:ea typeface="Cambria Math"/>
              </a:rPr>
              <a:t>)</a:t>
            </a:r>
            <a:r>
              <a:rPr lang="en-US" i="1" dirty="0" smtClean="0">
                <a:latin typeface="Cambria Math"/>
                <a:ea typeface="Cambria Math"/>
              </a:rPr>
              <a:t>= </a:t>
            </a:r>
            <a:r>
              <a:rPr lang="en-US" i="1" dirty="0" smtClean="0">
                <a:ea typeface="Cambria Math"/>
              </a:rPr>
              <a:t>f</a:t>
            </a:r>
            <a:r>
              <a:rPr lang="en-US" i="1" dirty="0" smtClean="0">
                <a:latin typeface="Cambria Math"/>
                <a:ea typeface="Cambria Math"/>
              </a:rPr>
              <a:t>(g</a:t>
            </a:r>
            <a:r>
              <a:rPr lang="en-US" dirty="0" smtClean="0">
                <a:latin typeface="Cambria Math"/>
                <a:ea typeface="Cambria Math"/>
              </a:rPr>
              <a:t>(</a:t>
            </a:r>
            <a:r>
              <a:rPr lang="en-US" i="1" dirty="0" smtClean="0">
                <a:latin typeface="Cambria Math"/>
                <a:ea typeface="Cambria Math"/>
              </a:rPr>
              <a:t>a</a:t>
            </a:r>
            <a:r>
              <a:rPr lang="en-US" dirty="0" smtClean="0">
                <a:latin typeface="Cambria Math"/>
                <a:ea typeface="Cambria Math"/>
              </a:rPr>
              <a:t>))</a:t>
            </a:r>
            <a:r>
              <a:rPr lang="en-US" i="1" dirty="0" smtClean="0">
                <a:latin typeface="Cambria Math"/>
                <a:ea typeface="Cambria Math"/>
              </a:rPr>
              <a:t> =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b</a:t>
            </a:r>
            <a:r>
              <a:rPr lang="en-US" dirty="0" smtClean="0">
                <a:latin typeface="Cambria Math"/>
                <a:ea typeface="Cambria Math"/>
              </a:rPr>
              <a:t>)</a:t>
            </a:r>
            <a:r>
              <a:rPr lang="en-US" i="1" dirty="0" smtClean="0">
                <a:latin typeface="Cambria Math"/>
                <a:ea typeface="Cambria Math"/>
              </a:rPr>
              <a:t> = </a:t>
            </a:r>
            <a:r>
              <a:rPr lang="en-US" dirty="0" smtClean="0">
                <a:latin typeface="Cambria Math"/>
                <a:ea typeface="Cambria Math"/>
              </a:rPr>
              <a:t>2</a:t>
            </a:r>
            <a:r>
              <a:rPr lang="en-US" i="1" dirty="0" smtClean="0">
                <a:latin typeface="Cambria Math"/>
                <a:ea typeface="Cambria Math"/>
              </a:rPr>
              <a:t>.</a:t>
            </a:r>
            <a:r>
              <a:rPr lang="en-US" dirty="0" smtClean="0"/>
              <a:t> </a:t>
            </a:r>
          </a:p>
          <a:p>
            <a:pPr lvl="1">
              <a:buNone/>
            </a:pPr>
            <a:r>
              <a:rPr lang="en-US" i="1" dirty="0" err="1" smtClean="0"/>
              <a:t>f</a:t>
            </a:r>
            <a:r>
              <a:rPr lang="en-US" i="1" dirty="0" err="1" smtClean="0">
                <a:latin typeface="Cambria Math"/>
                <a:ea typeface="Cambria Math"/>
              </a:rPr>
              <a:t>∘g</a:t>
            </a:r>
            <a:r>
              <a:rPr lang="en-US" i="1" dirty="0" smtClean="0">
                <a:latin typeface="Cambria Math"/>
                <a:ea typeface="Cambria Math"/>
              </a:rPr>
              <a:t>  </a:t>
            </a:r>
            <a:r>
              <a:rPr lang="en-US" dirty="0" smtClean="0">
                <a:latin typeface="Cambria Math"/>
                <a:ea typeface="Cambria Math"/>
              </a:rPr>
              <a:t>(</a:t>
            </a:r>
            <a:r>
              <a:rPr lang="en-US" i="1" dirty="0" smtClean="0">
                <a:latin typeface="Cambria Math"/>
                <a:ea typeface="Cambria Math"/>
              </a:rPr>
              <a:t>b</a:t>
            </a:r>
            <a:r>
              <a:rPr lang="en-US" dirty="0" smtClean="0">
                <a:latin typeface="Cambria Math"/>
                <a:ea typeface="Cambria Math"/>
              </a:rPr>
              <a:t>)</a:t>
            </a:r>
            <a:r>
              <a:rPr lang="en-US" i="1" dirty="0" smtClean="0">
                <a:latin typeface="Cambria Math"/>
                <a:ea typeface="Cambria Math"/>
              </a:rPr>
              <a:t>=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g</a:t>
            </a:r>
            <a:r>
              <a:rPr lang="en-US" dirty="0" smtClean="0">
                <a:latin typeface="Cambria Math"/>
                <a:ea typeface="Cambria Math"/>
              </a:rPr>
              <a:t>(</a:t>
            </a:r>
            <a:r>
              <a:rPr lang="en-US" i="1" dirty="0" smtClean="0">
                <a:latin typeface="Cambria Math"/>
                <a:ea typeface="Cambria Math"/>
              </a:rPr>
              <a:t>b</a:t>
            </a:r>
            <a:r>
              <a:rPr lang="en-US" dirty="0" smtClean="0">
                <a:latin typeface="Cambria Math"/>
                <a:ea typeface="Cambria Math"/>
              </a:rPr>
              <a:t>)) </a:t>
            </a:r>
            <a:r>
              <a:rPr lang="en-US" i="1" dirty="0" smtClean="0">
                <a:latin typeface="Cambria Math"/>
                <a:ea typeface="Cambria Math"/>
              </a:rPr>
              <a:t>=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c</a:t>
            </a:r>
            <a:r>
              <a:rPr lang="en-US" dirty="0" smtClean="0">
                <a:latin typeface="Cambria Math"/>
                <a:ea typeface="Cambria Math"/>
              </a:rPr>
              <a:t>)</a:t>
            </a:r>
            <a:r>
              <a:rPr lang="en-US" i="1" dirty="0" smtClean="0">
                <a:latin typeface="Cambria Math"/>
                <a:ea typeface="Cambria Math"/>
              </a:rPr>
              <a:t> = </a:t>
            </a:r>
            <a:r>
              <a:rPr lang="en-US" dirty="0" smtClean="0">
                <a:latin typeface="Cambria Math"/>
                <a:ea typeface="Cambria Math"/>
              </a:rPr>
              <a:t>1</a:t>
            </a:r>
            <a:r>
              <a:rPr lang="en-US" i="1" dirty="0" smtClean="0">
                <a:latin typeface="Cambria Math"/>
                <a:ea typeface="Cambria Math"/>
              </a:rPr>
              <a:t>.</a:t>
            </a:r>
            <a:r>
              <a:rPr lang="en-US" dirty="0" smtClean="0"/>
              <a:t> </a:t>
            </a:r>
          </a:p>
          <a:p>
            <a:pPr lvl="1">
              <a:buNone/>
            </a:pPr>
            <a:r>
              <a:rPr lang="en-US" i="1" dirty="0" err="1" smtClean="0"/>
              <a:t>f</a:t>
            </a:r>
            <a:r>
              <a:rPr lang="en-US" i="1" dirty="0" err="1" smtClean="0">
                <a:latin typeface="Cambria Math"/>
                <a:ea typeface="Cambria Math"/>
              </a:rPr>
              <a:t>∘g</a:t>
            </a:r>
            <a:r>
              <a:rPr lang="en-US" i="1" dirty="0" smtClean="0">
                <a:latin typeface="Cambria Math"/>
                <a:ea typeface="Cambria Math"/>
              </a:rPr>
              <a:t>  </a:t>
            </a:r>
            <a:r>
              <a:rPr lang="en-US" dirty="0" smtClean="0">
                <a:latin typeface="Cambria Math"/>
                <a:ea typeface="Cambria Math"/>
              </a:rPr>
              <a:t>(</a:t>
            </a:r>
            <a:r>
              <a:rPr lang="en-US" i="1" dirty="0" smtClean="0">
                <a:latin typeface="Cambria Math"/>
                <a:ea typeface="Cambria Math"/>
              </a:rPr>
              <a:t>c</a:t>
            </a:r>
            <a:r>
              <a:rPr lang="en-US" dirty="0" smtClean="0">
                <a:latin typeface="Cambria Math"/>
                <a:ea typeface="Cambria Math"/>
              </a:rPr>
              <a:t>)</a:t>
            </a:r>
            <a:r>
              <a:rPr lang="en-US" i="1" dirty="0" smtClean="0">
                <a:latin typeface="Cambria Math"/>
                <a:ea typeface="Cambria Math"/>
              </a:rPr>
              <a:t>=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g</a:t>
            </a:r>
            <a:r>
              <a:rPr lang="en-US" dirty="0" smtClean="0">
                <a:latin typeface="Cambria Math"/>
                <a:ea typeface="Cambria Math"/>
              </a:rPr>
              <a:t>(</a:t>
            </a:r>
            <a:r>
              <a:rPr lang="en-US" i="1" dirty="0" smtClean="0">
                <a:latin typeface="Cambria Math"/>
                <a:ea typeface="Cambria Math"/>
              </a:rPr>
              <a:t>c</a:t>
            </a:r>
            <a:r>
              <a:rPr lang="en-US" dirty="0" smtClean="0">
                <a:latin typeface="Cambria Math"/>
                <a:ea typeface="Cambria Math"/>
              </a:rPr>
              <a:t>))</a:t>
            </a:r>
            <a:r>
              <a:rPr lang="en-US" i="1" dirty="0" smtClean="0">
                <a:latin typeface="Cambria Math"/>
                <a:ea typeface="Cambria Math"/>
              </a:rPr>
              <a:t> =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a</a:t>
            </a:r>
            <a:r>
              <a:rPr lang="en-US" dirty="0" smtClean="0">
                <a:latin typeface="Cambria Math"/>
                <a:ea typeface="Cambria Math"/>
              </a:rPr>
              <a:t>)</a:t>
            </a:r>
            <a:r>
              <a:rPr lang="en-US" i="1" dirty="0" smtClean="0">
                <a:latin typeface="Cambria Math"/>
                <a:ea typeface="Cambria Math"/>
              </a:rPr>
              <a:t> = </a:t>
            </a:r>
            <a:r>
              <a:rPr lang="en-US" dirty="0" smtClean="0">
                <a:latin typeface="Cambria Math"/>
                <a:ea typeface="Cambria Math"/>
              </a:rPr>
              <a:t>3</a:t>
            </a:r>
            <a:r>
              <a:rPr lang="en-US" i="1" dirty="0" smtClean="0">
                <a:latin typeface="Cambria Math"/>
                <a:ea typeface="Cambria Math"/>
              </a:rPr>
              <a:t>.</a:t>
            </a:r>
            <a:r>
              <a:rPr lang="en-US" dirty="0" smtClean="0"/>
              <a:t> </a:t>
            </a:r>
          </a:p>
          <a:p>
            <a:pPr lvl="1">
              <a:buNone/>
            </a:pPr>
            <a:r>
              <a:rPr lang="en-US" dirty="0" smtClean="0"/>
              <a:t>Note that </a:t>
            </a:r>
            <a:r>
              <a:rPr lang="en-US" i="1" dirty="0" err="1" smtClean="0"/>
              <a:t>g</a:t>
            </a:r>
            <a:r>
              <a:rPr lang="en-US" i="1" dirty="0" err="1" smtClean="0">
                <a:latin typeface="Cambria Math"/>
                <a:ea typeface="Cambria Math"/>
              </a:rPr>
              <a:t>∘f</a:t>
            </a:r>
            <a:r>
              <a:rPr lang="en-US" i="1" dirty="0" smtClean="0">
                <a:latin typeface="Cambria Math"/>
                <a:ea typeface="Cambria Math"/>
              </a:rPr>
              <a:t>  </a:t>
            </a:r>
            <a:r>
              <a:rPr lang="en-US" dirty="0" smtClean="0">
                <a:latin typeface="Cambria Math"/>
                <a:ea typeface="Cambria Math"/>
              </a:rPr>
              <a:t>is not defined, because the range of </a:t>
            </a:r>
            <a:r>
              <a:rPr lang="en-US" i="1" dirty="0" smtClean="0">
                <a:ea typeface="Cambria Math"/>
              </a:rPr>
              <a:t>f</a:t>
            </a:r>
            <a:r>
              <a:rPr lang="en-US" dirty="0" smtClean="0">
                <a:latin typeface="Cambria Math"/>
                <a:ea typeface="Cambria Math"/>
              </a:rPr>
              <a:t> is not a subset of the domain of </a:t>
            </a:r>
            <a:r>
              <a:rPr lang="en-US" i="1" dirty="0" smtClean="0">
                <a:ea typeface="Cambria Math"/>
              </a:rPr>
              <a:t>g</a:t>
            </a:r>
            <a:r>
              <a:rPr lang="en-US" dirty="0" smtClean="0">
                <a:latin typeface="Cambria Math"/>
                <a:ea typeface="Cambria Math"/>
              </a:rPr>
              <a:t>. </a:t>
            </a:r>
            <a:endParaRPr lang="en-US" dirty="0" smtClean="0"/>
          </a:p>
          <a:p>
            <a:pPr lvl="1"/>
            <a:endParaRPr lang="en-US" dirty="0" smtClean="0"/>
          </a:p>
          <a:p>
            <a:pPr lvl="1"/>
            <a:endParaRPr lang="en-US" dirty="0" smtClean="0"/>
          </a:p>
          <a:p>
            <a:pPr lvl="1"/>
            <a:endParaRPr lang="en-US" dirty="0" smtClean="0"/>
          </a:p>
          <a:p>
            <a:endParaRPr lang="en-US" dirty="0" smtClean="0"/>
          </a:p>
          <a:p>
            <a:endParaRPr lang="en-US" b="1" dirty="0"/>
          </a:p>
        </p:txBody>
      </p:sp>
    </p:spTree>
    <p:extLst>
      <p:ext uri="{BB962C8B-B14F-4D97-AF65-F5344CB8AC3E}">
        <p14:creationId xmlns:p14="http://schemas.microsoft.com/office/powerpoint/2010/main" val="3304011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 Questions</a:t>
            </a:r>
            <a:endParaRPr lang="en-US" dirty="0"/>
          </a:p>
        </p:txBody>
      </p:sp>
      <p:sp>
        <p:nvSpPr>
          <p:cNvPr id="3" name="Content Placeholder 2"/>
          <p:cNvSpPr>
            <a:spLocks noGrp="1"/>
          </p:cNvSpPr>
          <p:nvPr>
            <p:ph idx="1"/>
          </p:nvPr>
        </p:nvSpPr>
        <p:spPr/>
        <p:txBody>
          <a:bodyPr>
            <a:normAutofit/>
          </a:bodyPr>
          <a:lstStyle/>
          <a:p>
            <a:pPr>
              <a:buNone/>
            </a:pPr>
            <a:r>
              <a:rPr lang="en-US" b="1" dirty="0" smtClean="0"/>
              <a:t>   Example </a:t>
            </a:r>
            <a:r>
              <a:rPr lang="en-US" b="1" dirty="0" smtClean="0">
                <a:latin typeface="Cambria Math" pitchFamily="18" charset="0"/>
                <a:ea typeface="Cambria Math" pitchFamily="18" charset="0"/>
              </a:rPr>
              <a:t>2</a:t>
            </a:r>
            <a:r>
              <a:rPr lang="en-US" dirty="0" smtClean="0"/>
              <a:t>: Let f and g be functions from the set of integers to the set of integers defined by  </a:t>
            </a:r>
            <a:r>
              <a:rPr lang="en-US" i="1" dirty="0" smtClean="0"/>
              <a:t>f</a:t>
            </a:r>
            <a:r>
              <a:rPr lang="en-US" dirty="0" smtClean="0"/>
              <a:t>(</a:t>
            </a:r>
            <a:r>
              <a:rPr lang="en-US" i="1" dirty="0" smtClean="0"/>
              <a:t>x</a:t>
            </a:r>
            <a:r>
              <a:rPr lang="en-US" dirty="0" smtClean="0"/>
              <a:t>)</a:t>
            </a:r>
            <a:r>
              <a:rPr lang="en-US" i="1" dirty="0" smtClean="0"/>
              <a:t> = </a:t>
            </a:r>
            <a:r>
              <a:rPr lang="en-US" dirty="0" smtClean="0">
                <a:latin typeface="Cambria Math" pitchFamily="18" charset="0"/>
                <a:ea typeface="Cambria Math" pitchFamily="18" charset="0"/>
              </a:rPr>
              <a:t>2</a:t>
            </a:r>
            <a:r>
              <a:rPr lang="en-US" i="1" dirty="0" smtClean="0"/>
              <a:t>x </a:t>
            </a:r>
            <a:r>
              <a:rPr lang="en-US" dirty="0" smtClean="0"/>
              <a:t>+</a:t>
            </a:r>
            <a:r>
              <a:rPr lang="en-US" i="1" dirty="0" smtClean="0"/>
              <a:t> </a:t>
            </a:r>
            <a:r>
              <a:rPr lang="en-US" dirty="0" smtClean="0">
                <a:latin typeface="Cambria Math" pitchFamily="18" charset="0"/>
                <a:ea typeface="Cambria Math" pitchFamily="18" charset="0"/>
              </a:rPr>
              <a:t>3</a:t>
            </a:r>
            <a:r>
              <a:rPr lang="en-US" i="1" dirty="0" smtClean="0"/>
              <a:t> </a:t>
            </a:r>
            <a:r>
              <a:rPr lang="en-US" dirty="0" smtClean="0"/>
              <a:t>and </a:t>
            </a:r>
            <a:r>
              <a:rPr lang="en-US" i="1" dirty="0" smtClean="0"/>
              <a:t>g</a:t>
            </a:r>
            <a:r>
              <a:rPr lang="en-US" dirty="0" smtClean="0"/>
              <a:t>(</a:t>
            </a:r>
            <a:r>
              <a:rPr lang="en-US" i="1" dirty="0" smtClean="0"/>
              <a:t>x</a:t>
            </a:r>
            <a:r>
              <a:rPr lang="en-US" dirty="0" smtClean="0"/>
              <a:t>)</a:t>
            </a:r>
            <a:r>
              <a:rPr lang="en-US" i="1" dirty="0" smtClean="0"/>
              <a:t> = </a:t>
            </a:r>
            <a:r>
              <a:rPr lang="en-US" dirty="0" smtClean="0">
                <a:latin typeface="Cambria Math" pitchFamily="18" charset="0"/>
                <a:ea typeface="Cambria Math" pitchFamily="18" charset="0"/>
              </a:rPr>
              <a:t>3</a:t>
            </a:r>
            <a:r>
              <a:rPr lang="en-US" i="1" dirty="0" smtClean="0"/>
              <a:t>x </a:t>
            </a:r>
            <a:r>
              <a:rPr lang="en-US" dirty="0" smtClean="0"/>
              <a:t>+</a:t>
            </a:r>
            <a:r>
              <a:rPr lang="en-US" i="1" dirty="0" smtClean="0"/>
              <a:t> </a:t>
            </a:r>
            <a:r>
              <a:rPr lang="en-US" dirty="0" smtClean="0">
                <a:latin typeface="Cambria Math" pitchFamily="18" charset="0"/>
                <a:ea typeface="Cambria Math" pitchFamily="18" charset="0"/>
              </a:rPr>
              <a:t>2</a:t>
            </a:r>
            <a:r>
              <a:rPr lang="en-US" dirty="0" smtClean="0"/>
              <a:t>. </a:t>
            </a:r>
          </a:p>
          <a:p>
            <a:pPr>
              <a:buNone/>
            </a:pPr>
            <a:r>
              <a:rPr lang="en-US" dirty="0" smtClean="0"/>
              <a:t>   What is the composition of </a:t>
            </a:r>
            <a:r>
              <a:rPr lang="en-US" i="1" dirty="0" smtClean="0"/>
              <a:t>f</a:t>
            </a:r>
            <a:r>
              <a:rPr lang="en-US" dirty="0" smtClean="0"/>
              <a:t> and </a:t>
            </a:r>
            <a:r>
              <a:rPr lang="en-US" i="1" dirty="0" smtClean="0"/>
              <a:t>g</a:t>
            </a:r>
            <a:r>
              <a:rPr lang="en-US" dirty="0" smtClean="0"/>
              <a:t>, and also the composition of </a:t>
            </a:r>
            <a:r>
              <a:rPr lang="en-US" i="1" dirty="0" smtClean="0"/>
              <a:t>g</a:t>
            </a:r>
            <a:r>
              <a:rPr lang="en-US" dirty="0" smtClean="0"/>
              <a:t> and </a:t>
            </a:r>
            <a:r>
              <a:rPr lang="en-US" i="1" dirty="0" smtClean="0"/>
              <a:t>f </a:t>
            </a:r>
            <a:r>
              <a:rPr lang="en-US" dirty="0" smtClean="0"/>
              <a:t>?</a:t>
            </a:r>
          </a:p>
          <a:p>
            <a:pPr>
              <a:buNone/>
            </a:pPr>
            <a:r>
              <a:rPr lang="en-US" b="1" dirty="0" smtClean="0"/>
              <a:t>     Solution:</a:t>
            </a:r>
            <a:endParaRPr lang="en-US" dirty="0" smtClean="0"/>
          </a:p>
          <a:p>
            <a:pPr lvl="1">
              <a:buNone/>
            </a:pPr>
            <a:r>
              <a:rPr lang="en-US" i="1" dirty="0" err="1" smtClean="0"/>
              <a:t>f</a:t>
            </a:r>
            <a:r>
              <a:rPr lang="en-US" i="1" dirty="0" err="1" smtClean="0">
                <a:latin typeface="Cambria Math"/>
                <a:ea typeface="Cambria Math"/>
              </a:rPr>
              <a:t>∘g</a:t>
            </a:r>
            <a:r>
              <a:rPr lang="en-US" i="1" dirty="0" smtClean="0">
                <a:latin typeface="Cambria Math"/>
                <a:ea typeface="Cambria Math"/>
              </a:rPr>
              <a:t>  </a:t>
            </a:r>
            <a:r>
              <a:rPr lang="en-US" dirty="0" smtClean="0">
                <a:latin typeface="Cambria Math"/>
                <a:ea typeface="Cambria Math"/>
              </a:rPr>
              <a:t>(</a:t>
            </a:r>
            <a:r>
              <a:rPr lang="en-US" i="1" dirty="0" smtClean="0">
                <a:ea typeface="Cambria Math"/>
              </a:rPr>
              <a:t>x</a:t>
            </a:r>
            <a:r>
              <a:rPr lang="en-US" dirty="0" smtClean="0">
                <a:latin typeface="Cambria Math"/>
                <a:ea typeface="Cambria Math"/>
              </a:rPr>
              <a:t>)= </a:t>
            </a:r>
            <a:r>
              <a:rPr lang="en-US" i="1" dirty="0" smtClean="0">
                <a:ea typeface="Cambria Math"/>
              </a:rPr>
              <a:t>f</a:t>
            </a:r>
            <a:r>
              <a:rPr lang="en-US" dirty="0" smtClean="0">
                <a:latin typeface="Cambria Math"/>
                <a:ea typeface="Cambria Math"/>
              </a:rPr>
              <a:t>(</a:t>
            </a:r>
            <a:r>
              <a:rPr lang="en-US" i="1" dirty="0" smtClean="0">
                <a:latin typeface="Cambria Math"/>
                <a:ea typeface="Cambria Math"/>
              </a:rPr>
              <a:t>g</a:t>
            </a:r>
            <a:r>
              <a:rPr lang="en-US" dirty="0" smtClean="0">
                <a:latin typeface="Cambria Math"/>
                <a:ea typeface="Cambria Math"/>
              </a:rPr>
              <a:t>(</a:t>
            </a:r>
            <a:r>
              <a:rPr lang="en-US" i="1" dirty="0" smtClean="0">
                <a:ea typeface="Cambria Math"/>
              </a:rPr>
              <a:t>x</a:t>
            </a:r>
            <a:r>
              <a:rPr lang="en-US" dirty="0" smtClean="0">
                <a:latin typeface="Cambria Math"/>
                <a:ea typeface="Cambria Math"/>
              </a:rPr>
              <a:t>)) =</a:t>
            </a:r>
            <a:r>
              <a:rPr lang="en-US" i="1" dirty="0" smtClean="0">
                <a:latin typeface="Cambria Math"/>
                <a:ea typeface="Cambria Math"/>
              </a:rPr>
              <a:t> </a:t>
            </a:r>
            <a:r>
              <a:rPr lang="en-US" i="1" dirty="0" smtClean="0">
                <a:ea typeface="Cambria Math"/>
              </a:rPr>
              <a:t>f</a:t>
            </a:r>
            <a:r>
              <a:rPr lang="en-US" dirty="0" smtClean="0">
                <a:latin typeface="Cambria Math"/>
                <a:ea typeface="Cambria Math"/>
              </a:rPr>
              <a:t>(3</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a:t>
            </a:r>
            <a:r>
              <a:rPr lang="en-US" i="1" dirty="0" smtClean="0">
                <a:latin typeface="Cambria Math"/>
                <a:ea typeface="Cambria Math"/>
              </a:rPr>
              <a:t> </a:t>
            </a:r>
            <a:r>
              <a:rPr lang="en-US" dirty="0" smtClean="0">
                <a:latin typeface="Cambria Math"/>
                <a:ea typeface="Cambria Math"/>
              </a:rPr>
              <a:t>2)</a:t>
            </a:r>
            <a:r>
              <a:rPr lang="en-US" i="1" dirty="0" smtClean="0">
                <a:latin typeface="Cambria Math"/>
                <a:ea typeface="Cambria Math"/>
              </a:rPr>
              <a:t> </a:t>
            </a:r>
            <a:r>
              <a:rPr lang="en-US" dirty="0" smtClean="0">
                <a:latin typeface="Cambria Math"/>
                <a:ea typeface="Cambria Math"/>
              </a:rPr>
              <a:t>=</a:t>
            </a:r>
            <a:r>
              <a:rPr lang="en-US" i="1" dirty="0" smtClean="0">
                <a:latin typeface="Cambria Math"/>
                <a:ea typeface="Cambria Math"/>
              </a:rPr>
              <a:t> </a:t>
            </a:r>
            <a:r>
              <a:rPr lang="en-US" dirty="0" smtClean="0">
                <a:latin typeface="Cambria Math"/>
                <a:ea typeface="Cambria Math"/>
              </a:rPr>
              <a:t>2(3</a:t>
            </a:r>
            <a:r>
              <a:rPr lang="en-US" i="1" dirty="0" smtClean="0">
                <a:ea typeface="Cambria Math"/>
              </a:rPr>
              <a:t>x</a:t>
            </a:r>
            <a:r>
              <a:rPr lang="en-US" dirty="0" smtClean="0">
                <a:latin typeface="Cambria Math"/>
                <a:ea typeface="Cambria Math"/>
              </a:rPr>
              <a:t> +</a:t>
            </a:r>
            <a:r>
              <a:rPr lang="en-US" i="1" dirty="0" smtClean="0">
                <a:latin typeface="Cambria Math"/>
                <a:ea typeface="Cambria Math"/>
              </a:rPr>
              <a:t> </a:t>
            </a:r>
            <a:r>
              <a:rPr lang="en-US" dirty="0" smtClean="0">
                <a:latin typeface="Cambria Math"/>
                <a:ea typeface="Cambria Math"/>
              </a:rPr>
              <a:t>2)</a:t>
            </a:r>
            <a:r>
              <a:rPr lang="en-US" i="1" dirty="0" smtClean="0">
                <a:latin typeface="Cambria Math"/>
                <a:ea typeface="Cambria Math"/>
              </a:rPr>
              <a:t> </a:t>
            </a:r>
            <a:r>
              <a:rPr lang="en-US" dirty="0" smtClean="0">
                <a:latin typeface="Cambria Math"/>
                <a:ea typeface="Cambria Math"/>
              </a:rPr>
              <a:t>+ 3</a:t>
            </a:r>
            <a:r>
              <a:rPr lang="en-US" i="1" dirty="0" smtClean="0">
                <a:latin typeface="Cambria Math"/>
                <a:ea typeface="Cambria Math"/>
              </a:rPr>
              <a:t> = </a:t>
            </a:r>
            <a:r>
              <a:rPr lang="en-US" dirty="0" smtClean="0">
                <a:latin typeface="Cambria Math"/>
                <a:ea typeface="Cambria Math"/>
              </a:rPr>
              <a:t>6</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+ 7</a:t>
            </a:r>
            <a:endParaRPr lang="en-US" dirty="0" smtClean="0"/>
          </a:p>
          <a:p>
            <a:pPr lvl="1">
              <a:buNone/>
            </a:pPr>
            <a:r>
              <a:rPr lang="en-US" i="1" dirty="0" err="1" smtClean="0"/>
              <a:t>g</a:t>
            </a:r>
            <a:r>
              <a:rPr lang="en-US" i="1" dirty="0" err="1" smtClean="0">
                <a:latin typeface="Cambria Math"/>
                <a:ea typeface="Cambria Math"/>
              </a:rPr>
              <a:t>∘f</a:t>
            </a:r>
            <a:r>
              <a:rPr lang="en-US" i="1" dirty="0" smtClean="0">
                <a:latin typeface="Cambria Math"/>
                <a:ea typeface="Cambria Math"/>
              </a:rPr>
              <a:t>  </a:t>
            </a:r>
            <a:r>
              <a:rPr lang="en-US" dirty="0" smtClean="0">
                <a:latin typeface="Cambria Math"/>
                <a:ea typeface="Cambria Math"/>
              </a:rPr>
              <a:t>(</a:t>
            </a:r>
            <a:r>
              <a:rPr lang="en-US" i="1" dirty="0" smtClean="0">
                <a:ea typeface="Cambria Math"/>
              </a:rPr>
              <a:t>x</a:t>
            </a:r>
            <a:r>
              <a:rPr lang="en-US" dirty="0" smtClean="0">
                <a:latin typeface="Cambria Math"/>
                <a:ea typeface="Cambria Math"/>
              </a:rPr>
              <a:t>)=</a:t>
            </a:r>
            <a:r>
              <a:rPr lang="en-US" i="1" dirty="0" smtClean="0">
                <a:latin typeface="Cambria Math"/>
                <a:ea typeface="Cambria Math"/>
              </a:rPr>
              <a:t> </a:t>
            </a:r>
            <a:r>
              <a:rPr lang="en-US" i="1" dirty="0" smtClean="0">
                <a:ea typeface="Cambria Math"/>
              </a:rPr>
              <a:t>g</a:t>
            </a:r>
            <a:r>
              <a:rPr lang="en-US" dirty="0" smtClean="0">
                <a:latin typeface="Cambria Math"/>
                <a:ea typeface="Cambria Math"/>
              </a:rPr>
              <a:t>(</a:t>
            </a:r>
            <a:r>
              <a:rPr lang="en-US" i="1" dirty="0" smtClean="0">
                <a:latin typeface="Cambria Math"/>
                <a:ea typeface="Cambria Math"/>
              </a:rPr>
              <a:t>f</a:t>
            </a:r>
            <a:r>
              <a:rPr lang="en-US" dirty="0" smtClean="0">
                <a:latin typeface="Cambria Math"/>
                <a:ea typeface="Cambria Math"/>
              </a:rPr>
              <a:t>(</a:t>
            </a:r>
            <a:r>
              <a:rPr lang="en-US" i="1" dirty="0" smtClean="0">
                <a:ea typeface="Cambria Math"/>
              </a:rPr>
              <a:t>x</a:t>
            </a:r>
            <a:r>
              <a:rPr lang="en-US" dirty="0" smtClean="0">
                <a:latin typeface="Cambria Math"/>
                <a:ea typeface="Cambria Math"/>
              </a:rPr>
              <a:t>)) =</a:t>
            </a:r>
            <a:r>
              <a:rPr lang="en-US" i="1" dirty="0" smtClean="0">
                <a:latin typeface="Cambria Math"/>
                <a:ea typeface="Cambria Math"/>
              </a:rPr>
              <a:t> </a:t>
            </a:r>
            <a:r>
              <a:rPr lang="en-US" i="1" dirty="0" smtClean="0">
                <a:ea typeface="Cambria Math"/>
              </a:rPr>
              <a:t>g</a:t>
            </a:r>
            <a:r>
              <a:rPr lang="en-US" dirty="0" smtClean="0">
                <a:latin typeface="Cambria Math"/>
                <a:ea typeface="Cambria Math"/>
              </a:rPr>
              <a:t>(2</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+ 3) = 3(2</a:t>
            </a:r>
            <a:r>
              <a:rPr lang="en-US" i="1" dirty="0" smtClean="0">
                <a:ea typeface="Cambria Math"/>
              </a:rPr>
              <a:t>x </a:t>
            </a:r>
            <a:r>
              <a:rPr lang="en-US" dirty="0" smtClean="0">
                <a:latin typeface="Cambria Math"/>
                <a:ea typeface="Cambria Math"/>
              </a:rPr>
              <a:t>+</a:t>
            </a:r>
            <a:r>
              <a:rPr lang="en-US" i="1" dirty="0" smtClean="0">
                <a:latin typeface="Cambria Math"/>
                <a:ea typeface="Cambria Math"/>
              </a:rPr>
              <a:t> </a:t>
            </a:r>
            <a:r>
              <a:rPr lang="en-US" dirty="0" smtClean="0">
                <a:latin typeface="Cambria Math"/>
                <a:ea typeface="Cambria Math"/>
              </a:rPr>
              <a:t>3)</a:t>
            </a:r>
            <a:r>
              <a:rPr lang="en-US" i="1" dirty="0" smtClean="0">
                <a:latin typeface="Cambria Math"/>
                <a:ea typeface="Cambria Math"/>
              </a:rPr>
              <a:t> </a:t>
            </a:r>
            <a:r>
              <a:rPr lang="en-US" dirty="0" smtClean="0">
                <a:latin typeface="Cambria Math"/>
                <a:ea typeface="Cambria Math"/>
              </a:rPr>
              <a:t>+ 2</a:t>
            </a:r>
            <a:r>
              <a:rPr lang="en-US" i="1" dirty="0" smtClean="0">
                <a:latin typeface="Cambria Math"/>
                <a:ea typeface="Cambria Math"/>
              </a:rPr>
              <a:t> = </a:t>
            </a:r>
            <a:r>
              <a:rPr lang="en-US" dirty="0" smtClean="0">
                <a:latin typeface="Cambria Math"/>
                <a:ea typeface="Cambria Math"/>
              </a:rPr>
              <a:t>6</a:t>
            </a:r>
            <a:r>
              <a:rPr lang="en-US" i="1" dirty="0" smtClean="0">
                <a:ea typeface="Cambria Math"/>
              </a:rPr>
              <a:t>x</a:t>
            </a:r>
            <a:r>
              <a:rPr lang="en-US" i="1" dirty="0" smtClean="0">
                <a:latin typeface="Cambria Math"/>
                <a:ea typeface="Cambria Math"/>
              </a:rPr>
              <a:t> </a:t>
            </a:r>
            <a:r>
              <a:rPr lang="en-US" dirty="0" smtClean="0">
                <a:latin typeface="Cambria Math"/>
                <a:ea typeface="Cambria Math"/>
              </a:rPr>
              <a:t>+ 11</a:t>
            </a:r>
            <a:r>
              <a:rPr lang="en-US" dirty="0" smtClean="0"/>
              <a:t> </a:t>
            </a:r>
          </a:p>
          <a:p>
            <a:endParaRPr lang="en-US" dirty="0" smtClean="0"/>
          </a:p>
          <a:p>
            <a:endParaRPr lang="en-US" dirty="0"/>
          </a:p>
        </p:txBody>
      </p:sp>
    </p:spTree>
    <p:extLst>
      <p:ext uri="{BB962C8B-B14F-4D97-AF65-F5344CB8AC3E}">
        <p14:creationId xmlns:p14="http://schemas.microsoft.com/office/powerpoint/2010/main" val="1687534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Graphs of Functions</a:t>
            </a:r>
            <a:endParaRPr lang="en-US" dirty="0"/>
          </a:p>
        </p:txBody>
      </p:sp>
      <p:sp>
        <p:nvSpPr>
          <p:cNvPr id="3" name="Content Placeholder 2"/>
          <p:cNvSpPr>
            <a:spLocks noGrp="1"/>
          </p:cNvSpPr>
          <p:nvPr>
            <p:ph idx="1"/>
          </p:nvPr>
        </p:nvSpPr>
        <p:spPr/>
        <p:txBody>
          <a:bodyPr/>
          <a:lstStyle/>
          <a:p>
            <a:r>
              <a:rPr lang="en-US" dirty="0" smtClean="0"/>
              <a:t>Let </a:t>
            </a:r>
            <a:r>
              <a:rPr lang="en-US" i="1" dirty="0" smtClean="0"/>
              <a:t>f</a:t>
            </a:r>
            <a:r>
              <a:rPr lang="en-US" dirty="0" smtClean="0"/>
              <a:t> be a function from the set </a:t>
            </a:r>
            <a:r>
              <a:rPr lang="en-US" i="1" dirty="0" smtClean="0"/>
              <a:t>A</a:t>
            </a:r>
            <a:r>
              <a:rPr lang="en-US" dirty="0" smtClean="0"/>
              <a:t> to the set </a:t>
            </a:r>
            <a:r>
              <a:rPr lang="en-US" i="1" dirty="0" smtClean="0"/>
              <a:t>B</a:t>
            </a:r>
            <a:r>
              <a:rPr lang="en-US" dirty="0" smtClean="0"/>
              <a:t>. The </a:t>
            </a:r>
            <a:r>
              <a:rPr lang="en-US" i="1" dirty="0" smtClean="0"/>
              <a:t>graph</a:t>
            </a:r>
            <a:r>
              <a:rPr lang="en-US" dirty="0" smtClean="0"/>
              <a:t> of the function </a:t>
            </a:r>
            <a:r>
              <a:rPr lang="en-US" i="1" dirty="0" smtClean="0"/>
              <a:t>f</a:t>
            </a:r>
            <a:r>
              <a:rPr lang="en-US" dirty="0" smtClean="0"/>
              <a:t> is the set of ordered pairs   </a:t>
            </a:r>
            <a:r>
              <a:rPr lang="en-US" dirty="0" smtClean="0">
                <a:latin typeface="Cambria Math" pitchFamily="18" charset="0"/>
                <a:ea typeface="Cambria Math" pitchFamily="18" charset="0"/>
              </a:rPr>
              <a:t>{(</a:t>
            </a:r>
            <a:r>
              <a:rPr lang="en-US" i="1" dirty="0" err="1" smtClean="0">
                <a:ea typeface="Cambria Math" pitchFamily="18" charset="0"/>
              </a:rPr>
              <a:t>a,b</a:t>
            </a:r>
            <a:r>
              <a:rPr lang="en-US" dirty="0" smtClean="0">
                <a:latin typeface="Cambria Math" pitchFamily="18" charset="0"/>
                <a:ea typeface="Cambria Math" pitchFamily="18" charset="0"/>
              </a:rPr>
              <a:t>) | </a:t>
            </a:r>
            <a:r>
              <a:rPr lang="en-US" i="1" dirty="0" smtClean="0">
                <a:ea typeface="Cambria Math" pitchFamily="18" charset="0"/>
              </a:rPr>
              <a:t>a</a:t>
            </a:r>
            <a:r>
              <a:rPr lang="en-US" dirty="0" smtClean="0">
                <a:latin typeface="Cambria Math" pitchFamily="18" charset="0"/>
                <a:ea typeface="Cambria Math" pitchFamily="18" charset="0"/>
              </a:rPr>
              <a:t> ∈</a:t>
            </a:r>
            <a:r>
              <a:rPr lang="en-US" i="1" dirty="0" smtClean="0">
                <a:latin typeface="Cambria Math"/>
                <a:ea typeface="Cambria Math"/>
              </a:rPr>
              <a:t>A</a:t>
            </a:r>
            <a:r>
              <a:rPr lang="en-US" dirty="0" smtClean="0">
                <a:latin typeface="Cambria Math"/>
                <a:ea typeface="Cambria Math"/>
              </a:rPr>
              <a:t> and </a:t>
            </a:r>
            <a:r>
              <a:rPr lang="en-US" i="1" dirty="0" smtClean="0">
                <a:ea typeface="Cambria Math"/>
              </a:rPr>
              <a:t>f</a:t>
            </a:r>
            <a:r>
              <a:rPr lang="en-US" dirty="0" smtClean="0">
                <a:latin typeface="Cambria Math"/>
                <a:ea typeface="Cambria Math"/>
              </a:rPr>
              <a:t>(</a:t>
            </a:r>
            <a:r>
              <a:rPr lang="en-US" i="1" dirty="0" smtClean="0">
                <a:ea typeface="Cambria Math"/>
              </a:rPr>
              <a:t>a</a:t>
            </a:r>
            <a:r>
              <a:rPr lang="en-US" dirty="0" smtClean="0">
                <a:latin typeface="Cambria Math"/>
                <a:ea typeface="Cambria Math"/>
              </a:rPr>
              <a:t>) = </a:t>
            </a:r>
            <a:r>
              <a:rPr lang="en-US" i="1" dirty="0" smtClean="0">
                <a:ea typeface="Cambria Math"/>
              </a:rPr>
              <a:t>b</a:t>
            </a:r>
            <a:r>
              <a:rPr lang="en-US" dirty="0" smtClean="0">
                <a:latin typeface="Cambria Math"/>
                <a:ea typeface="Cambria Math"/>
              </a:rPr>
              <a:t>}.</a:t>
            </a:r>
            <a:endParaRPr lang="en-US" dirty="0"/>
          </a:p>
        </p:txBody>
      </p:sp>
      <p:pic>
        <p:nvPicPr>
          <p:cNvPr id="4" name="Picture 3" descr="0219.jpg"/>
          <p:cNvPicPr>
            <a:picLocks noChangeAspect="1"/>
          </p:cNvPicPr>
          <p:nvPr/>
        </p:nvPicPr>
        <p:blipFill>
          <a:blip r:embed="rId2" cstate="print"/>
          <a:stretch>
            <a:fillRect/>
          </a:stretch>
        </p:blipFill>
        <p:spPr>
          <a:xfrm>
            <a:off x="1524000" y="3810000"/>
            <a:ext cx="1879854" cy="1879854"/>
          </a:xfrm>
          <a:prstGeom prst="rect">
            <a:avLst/>
          </a:prstGeom>
        </p:spPr>
      </p:pic>
      <p:pic>
        <p:nvPicPr>
          <p:cNvPr id="5" name="Picture 4" descr="0220.jpg"/>
          <p:cNvPicPr>
            <a:picLocks noChangeAspect="1"/>
          </p:cNvPicPr>
          <p:nvPr/>
        </p:nvPicPr>
        <p:blipFill>
          <a:blip r:embed="rId3" cstate="print"/>
          <a:stretch>
            <a:fillRect/>
          </a:stretch>
        </p:blipFill>
        <p:spPr>
          <a:xfrm>
            <a:off x="5029200" y="3810000"/>
            <a:ext cx="2079498" cy="1879092"/>
          </a:xfrm>
          <a:prstGeom prst="rect">
            <a:avLst/>
          </a:prstGeom>
        </p:spPr>
      </p:pic>
      <p:sp>
        <p:nvSpPr>
          <p:cNvPr id="6" name="TextBox 5"/>
          <p:cNvSpPr txBox="1"/>
          <p:nvPr/>
        </p:nvSpPr>
        <p:spPr>
          <a:xfrm>
            <a:off x="762000" y="5867400"/>
            <a:ext cx="4572000" cy="830997"/>
          </a:xfrm>
          <a:prstGeom prst="rect">
            <a:avLst/>
          </a:prstGeom>
          <a:noFill/>
        </p:spPr>
        <p:txBody>
          <a:bodyPr wrap="square" rtlCol="0">
            <a:spAutoFit/>
          </a:bodyPr>
          <a:lstStyle/>
          <a:p>
            <a:r>
              <a:rPr lang="en-US" sz="2400" dirty="0" smtClean="0"/>
              <a:t>Graph of </a:t>
            </a:r>
            <a:r>
              <a:rPr lang="en-US" sz="2400" i="1" dirty="0" smtClean="0"/>
              <a:t>f</a:t>
            </a:r>
            <a:r>
              <a:rPr lang="en-US" sz="2400" dirty="0" smtClean="0"/>
              <a:t>(</a:t>
            </a:r>
            <a:r>
              <a:rPr lang="en-US" sz="2400" i="1" dirty="0" smtClean="0"/>
              <a:t>n</a:t>
            </a:r>
            <a:r>
              <a:rPr lang="en-US" sz="2400" dirty="0" smtClean="0"/>
              <a:t>) = </a:t>
            </a:r>
            <a:r>
              <a:rPr lang="en-US" sz="2400" dirty="0" smtClean="0">
                <a:latin typeface="Cambria Math" pitchFamily="18" charset="0"/>
                <a:ea typeface="Cambria Math" pitchFamily="18" charset="0"/>
              </a:rPr>
              <a:t>2</a:t>
            </a:r>
            <a:r>
              <a:rPr lang="en-US" sz="2400" i="1" dirty="0" smtClean="0"/>
              <a:t>n</a:t>
            </a:r>
            <a:r>
              <a:rPr lang="en-US" sz="2400" dirty="0" smtClean="0"/>
              <a:t> </a:t>
            </a:r>
            <a:r>
              <a:rPr lang="en-US" sz="2400" dirty="0" smtClean="0">
                <a:latin typeface="Cambria Math" pitchFamily="18" charset="0"/>
                <a:ea typeface="Cambria Math" pitchFamily="18" charset="0"/>
              </a:rPr>
              <a:t>+ 1 </a:t>
            </a:r>
          </a:p>
          <a:p>
            <a:r>
              <a:rPr lang="en-US" sz="2400" dirty="0" smtClean="0"/>
              <a:t>    from Z to Z</a:t>
            </a:r>
            <a:endParaRPr lang="en-US" sz="2400" dirty="0"/>
          </a:p>
        </p:txBody>
      </p:sp>
      <p:sp>
        <p:nvSpPr>
          <p:cNvPr id="7" name="TextBox 6"/>
          <p:cNvSpPr txBox="1"/>
          <p:nvPr/>
        </p:nvSpPr>
        <p:spPr>
          <a:xfrm>
            <a:off x="4724400" y="5791200"/>
            <a:ext cx="4572000" cy="830997"/>
          </a:xfrm>
          <a:prstGeom prst="rect">
            <a:avLst/>
          </a:prstGeom>
          <a:noFill/>
        </p:spPr>
        <p:txBody>
          <a:bodyPr wrap="square" rtlCol="0">
            <a:spAutoFit/>
          </a:bodyPr>
          <a:lstStyle/>
          <a:p>
            <a:r>
              <a:rPr lang="en-US" sz="2400" dirty="0" smtClean="0"/>
              <a:t>Graph of </a:t>
            </a:r>
            <a:r>
              <a:rPr lang="en-US" sz="2400" i="1" dirty="0" smtClean="0"/>
              <a:t>f</a:t>
            </a:r>
            <a:r>
              <a:rPr lang="en-US" sz="2400" dirty="0" smtClean="0"/>
              <a:t>(</a:t>
            </a:r>
            <a:r>
              <a:rPr lang="en-US" sz="2400" i="1" dirty="0" smtClean="0"/>
              <a:t>x</a:t>
            </a:r>
            <a:r>
              <a:rPr lang="en-US" sz="2400" dirty="0" smtClean="0"/>
              <a:t>) = </a:t>
            </a:r>
            <a:r>
              <a:rPr lang="en-US" sz="2400" i="1" dirty="0" smtClean="0"/>
              <a:t>x</a:t>
            </a:r>
            <a:r>
              <a:rPr lang="en-US" sz="2400" baseline="30000" dirty="0" smtClean="0">
                <a:latin typeface="Cambria Math" pitchFamily="18" charset="0"/>
                <a:ea typeface="Cambria Math" pitchFamily="18" charset="0"/>
              </a:rPr>
              <a:t>2</a:t>
            </a:r>
            <a:r>
              <a:rPr lang="en-US" sz="2400" dirty="0" smtClean="0"/>
              <a:t> </a:t>
            </a:r>
          </a:p>
          <a:p>
            <a:r>
              <a:rPr lang="en-US" sz="2400" dirty="0" smtClean="0"/>
              <a:t>    from Z to Z</a:t>
            </a:r>
            <a:endParaRPr lang="en-US" sz="2400" dirty="0"/>
          </a:p>
        </p:txBody>
      </p:sp>
    </p:spTree>
    <p:extLst>
      <p:ext uri="{BB962C8B-B14F-4D97-AF65-F5344CB8AC3E}">
        <p14:creationId xmlns:p14="http://schemas.microsoft.com/office/powerpoint/2010/main" val="173504400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Important Functions</a:t>
            </a:r>
            <a:endParaRPr lang="en-US" dirty="0"/>
          </a:p>
        </p:txBody>
      </p:sp>
      <p:sp>
        <p:nvSpPr>
          <p:cNvPr id="3" name="Content Placeholder 2"/>
          <p:cNvSpPr>
            <a:spLocks noGrp="1"/>
          </p:cNvSpPr>
          <p:nvPr>
            <p:ph idx="1"/>
          </p:nvPr>
        </p:nvSpPr>
        <p:spPr/>
        <p:txBody>
          <a:bodyPr>
            <a:normAutofit/>
          </a:bodyPr>
          <a:lstStyle/>
          <a:p>
            <a:r>
              <a:rPr lang="en-US" dirty="0" smtClean="0"/>
              <a:t>The </a:t>
            </a:r>
            <a:r>
              <a:rPr lang="en-US" i="1" dirty="0" smtClean="0"/>
              <a:t>floor</a:t>
            </a:r>
            <a:r>
              <a:rPr lang="en-US" dirty="0" smtClean="0"/>
              <a:t> function, denoted</a:t>
            </a:r>
          </a:p>
          <a:p>
            <a:endParaRPr lang="en-US" dirty="0" smtClean="0"/>
          </a:p>
          <a:p>
            <a:pPr>
              <a:buNone/>
            </a:pPr>
            <a:r>
              <a:rPr lang="en-US" dirty="0" smtClean="0"/>
              <a:t>  is the largest integer less than or equal to </a:t>
            </a:r>
            <a:r>
              <a:rPr lang="en-US" i="1" dirty="0" smtClean="0"/>
              <a:t>x</a:t>
            </a:r>
            <a:r>
              <a:rPr lang="en-US" dirty="0" smtClean="0"/>
              <a:t>.</a:t>
            </a:r>
          </a:p>
          <a:p>
            <a:endParaRPr lang="en-US" dirty="0" smtClean="0"/>
          </a:p>
          <a:p>
            <a:r>
              <a:rPr lang="en-US" dirty="0" smtClean="0"/>
              <a:t>The </a:t>
            </a:r>
            <a:r>
              <a:rPr lang="en-US" i="1" dirty="0" smtClean="0"/>
              <a:t>ceiling </a:t>
            </a:r>
            <a:r>
              <a:rPr lang="en-US" dirty="0" smtClean="0"/>
              <a:t>function, denoted</a:t>
            </a:r>
          </a:p>
          <a:p>
            <a:endParaRPr lang="en-US" dirty="0" smtClean="0"/>
          </a:p>
          <a:p>
            <a:pPr>
              <a:buNone/>
            </a:pPr>
            <a:r>
              <a:rPr lang="en-US" dirty="0" smtClean="0"/>
              <a:t>  is the smallest integer greater than or  equal to </a:t>
            </a:r>
            <a:r>
              <a:rPr lang="en-US" i="1" dirty="0" smtClean="0"/>
              <a:t>x</a:t>
            </a:r>
            <a:endParaRPr lang="en-US" i="1" dirty="0"/>
          </a:p>
        </p:txBody>
      </p:sp>
      <p:pic>
        <p:nvPicPr>
          <p:cNvPr id="4" name="Picture 3" descr="addin_tmp.png"/>
          <p:cNvPicPr>
            <a:picLocks noChangeAspect="1"/>
          </p:cNvPicPr>
          <p:nvPr>
            <p:custDataLst>
              <p:tags r:id="rId1"/>
            </p:custDataLst>
          </p:nvPr>
        </p:nvPicPr>
        <p:blipFill>
          <a:blip r:embed="rId8" cstate="print"/>
          <a:stretch>
            <a:fillRect/>
          </a:stretch>
        </p:blipFill>
        <p:spPr>
          <a:xfrm>
            <a:off x="2438400" y="2362200"/>
            <a:ext cx="1714500" cy="382905"/>
          </a:xfrm>
          <a:prstGeom prst="rect">
            <a:avLst/>
          </a:prstGeom>
        </p:spPr>
      </p:pic>
      <p:pic>
        <p:nvPicPr>
          <p:cNvPr id="5" name="Picture 4" descr="addin_tmp.png"/>
          <p:cNvPicPr>
            <a:picLocks noChangeAspect="1"/>
          </p:cNvPicPr>
          <p:nvPr>
            <p:custDataLst>
              <p:tags r:id="rId2"/>
            </p:custDataLst>
          </p:nvPr>
        </p:nvPicPr>
        <p:blipFill>
          <a:blip r:embed="rId9" cstate="print"/>
          <a:stretch>
            <a:fillRect/>
          </a:stretch>
        </p:blipFill>
        <p:spPr>
          <a:xfrm>
            <a:off x="3276600" y="4419600"/>
            <a:ext cx="1714500" cy="382905"/>
          </a:xfrm>
          <a:prstGeom prst="rect">
            <a:avLst/>
          </a:prstGeom>
        </p:spPr>
      </p:pic>
      <p:sp>
        <p:nvSpPr>
          <p:cNvPr id="6" name="TextBox 5"/>
          <p:cNvSpPr txBox="1"/>
          <p:nvPr/>
        </p:nvSpPr>
        <p:spPr>
          <a:xfrm>
            <a:off x="685800" y="5562600"/>
            <a:ext cx="2057400" cy="461665"/>
          </a:xfrm>
          <a:prstGeom prst="rect">
            <a:avLst/>
          </a:prstGeom>
          <a:noFill/>
        </p:spPr>
        <p:txBody>
          <a:bodyPr wrap="square" rtlCol="0">
            <a:spAutoFit/>
          </a:bodyPr>
          <a:lstStyle/>
          <a:p>
            <a:r>
              <a:rPr lang="en-US" sz="2400" b="1" dirty="0" smtClean="0"/>
              <a:t>Example:</a:t>
            </a:r>
            <a:endParaRPr lang="en-US" sz="2400" b="1" dirty="0"/>
          </a:p>
        </p:txBody>
      </p:sp>
      <p:pic>
        <p:nvPicPr>
          <p:cNvPr id="7" name="Picture 6" descr="addin_tmp.png"/>
          <p:cNvPicPr>
            <a:picLocks noChangeAspect="1"/>
          </p:cNvPicPr>
          <p:nvPr>
            <p:custDataLst>
              <p:tags r:id="rId3"/>
            </p:custDataLst>
          </p:nvPr>
        </p:nvPicPr>
        <p:blipFill>
          <a:blip r:embed="rId10" cstate="print"/>
          <a:stretch>
            <a:fillRect/>
          </a:stretch>
        </p:blipFill>
        <p:spPr>
          <a:xfrm>
            <a:off x="2667000" y="5486400"/>
            <a:ext cx="1443038" cy="382905"/>
          </a:xfrm>
          <a:prstGeom prst="rect">
            <a:avLst/>
          </a:prstGeom>
        </p:spPr>
      </p:pic>
      <p:pic>
        <p:nvPicPr>
          <p:cNvPr id="8" name="Picture 7" descr="addin_tmp.png"/>
          <p:cNvPicPr>
            <a:picLocks noChangeAspect="1"/>
          </p:cNvPicPr>
          <p:nvPr>
            <p:custDataLst>
              <p:tags r:id="rId4"/>
            </p:custDataLst>
          </p:nvPr>
        </p:nvPicPr>
        <p:blipFill>
          <a:blip r:embed="rId11" cstate="print"/>
          <a:stretch>
            <a:fillRect/>
          </a:stretch>
        </p:blipFill>
        <p:spPr>
          <a:xfrm>
            <a:off x="5105400" y="5410200"/>
            <a:ext cx="1437323" cy="382905"/>
          </a:xfrm>
          <a:prstGeom prst="rect">
            <a:avLst/>
          </a:prstGeom>
        </p:spPr>
      </p:pic>
      <p:pic>
        <p:nvPicPr>
          <p:cNvPr id="12" name="Picture 11" descr="addin_tmp.png"/>
          <p:cNvPicPr>
            <a:picLocks noChangeAspect="1"/>
          </p:cNvPicPr>
          <p:nvPr>
            <p:custDataLst>
              <p:tags r:id="rId5"/>
            </p:custDataLst>
          </p:nvPr>
        </p:nvPicPr>
        <p:blipFill>
          <a:blip r:embed="rId12" cstate="print"/>
          <a:stretch>
            <a:fillRect/>
          </a:stretch>
        </p:blipFill>
        <p:spPr>
          <a:xfrm>
            <a:off x="2514600" y="6172201"/>
            <a:ext cx="2014538" cy="382905"/>
          </a:xfrm>
          <a:prstGeom prst="rect">
            <a:avLst/>
          </a:prstGeom>
        </p:spPr>
      </p:pic>
      <p:pic>
        <p:nvPicPr>
          <p:cNvPr id="14" name="Picture 13" descr="addin_tmp.png"/>
          <p:cNvPicPr>
            <a:picLocks noChangeAspect="1"/>
          </p:cNvPicPr>
          <p:nvPr>
            <p:custDataLst>
              <p:tags r:id="rId6"/>
            </p:custDataLst>
          </p:nvPr>
        </p:nvPicPr>
        <p:blipFill>
          <a:blip r:embed="rId13" cstate="print"/>
          <a:stretch>
            <a:fillRect/>
          </a:stretch>
        </p:blipFill>
        <p:spPr>
          <a:xfrm>
            <a:off x="4953000" y="6172202"/>
            <a:ext cx="2025968" cy="382905"/>
          </a:xfrm>
          <a:prstGeom prst="rect">
            <a:avLst/>
          </a:prstGeom>
        </p:spPr>
      </p:pic>
    </p:spTree>
    <p:extLst>
      <p:ext uri="{BB962C8B-B14F-4D97-AF65-F5344CB8AC3E}">
        <p14:creationId xmlns:p14="http://schemas.microsoft.com/office/powerpoint/2010/main" val="324620425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Floor and Ceiling Functions </a:t>
            </a:r>
            <a:endParaRPr lang="en-US" dirty="0"/>
          </a:p>
        </p:txBody>
      </p:sp>
      <p:pic>
        <p:nvPicPr>
          <p:cNvPr id="5" name="Picture 4" descr="0221.jpg"/>
          <p:cNvPicPr>
            <a:picLocks noChangeAspect="1"/>
          </p:cNvPicPr>
          <p:nvPr/>
        </p:nvPicPr>
        <p:blipFill>
          <a:blip r:embed="rId2" cstate="print"/>
          <a:stretch>
            <a:fillRect/>
          </a:stretch>
        </p:blipFill>
        <p:spPr>
          <a:xfrm>
            <a:off x="1905000" y="2514600"/>
            <a:ext cx="5596182" cy="2590800"/>
          </a:xfrm>
          <a:prstGeom prst="rect">
            <a:avLst/>
          </a:prstGeom>
        </p:spPr>
      </p:pic>
      <p:sp>
        <p:nvSpPr>
          <p:cNvPr id="11" name="TextBox 10"/>
          <p:cNvSpPr txBox="1"/>
          <p:nvPr/>
        </p:nvSpPr>
        <p:spPr>
          <a:xfrm>
            <a:off x="1600200" y="5562600"/>
            <a:ext cx="6629400" cy="830997"/>
          </a:xfrm>
          <a:prstGeom prst="rect">
            <a:avLst/>
          </a:prstGeom>
          <a:noFill/>
        </p:spPr>
        <p:txBody>
          <a:bodyPr wrap="square" rtlCol="0">
            <a:spAutoFit/>
          </a:bodyPr>
          <a:lstStyle/>
          <a:p>
            <a:r>
              <a:rPr lang="en-US" sz="2400" dirty="0" smtClean="0"/>
              <a:t>Graph of (a) Floor and (b) Ceiling Functions </a:t>
            </a:r>
          </a:p>
          <a:p>
            <a:r>
              <a:rPr lang="en-US" sz="2400" dirty="0" smtClean="0"/>
              <a:t>    </a:t>
            </a:r>
            <a:endParaRPr lang="en-US" sz="2400" dirty="0"/>
          </a:p>
        </p:txBody>
      </p:sp>
    </p:spTree>
    <p:extLst>
      <p:ext uri="{BB962C8B-B14F-4D97-AF65-F5344CB8AC3E}">
        <p14:creationId xmlns:p14="http://schemas.microsoft.com/office/powerpoint/2010/main" val="401621922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Floor and Ceiling Functions </a:t>
            </a:r>
            <a:endParaRPr lang="en-US" dirty="0"/>
          </a:p>
        </p:txBody>
      </p:sp>
      <p:pic>
        <p:nvPicPr>
          <p:cNvPr id="4" name="Content Placeholder 3" descr="table26.jpg"/>
          <p:cNvPicPr>
            <a:picLocks noGrp="1" noChangeAspect="1"/>
          </p:cNvPicPr>
          <p:nvPr>
            <p:ph idx="1"/>
          </p:nvPr>
        </p:nvPicPr>
        <p:blipFill>
          <a:blip r:embed="rId2" cstate="print"/>
          <a:stretch>
            <a:fillRect/>
          </a:stretch>
        </p:blipFill>
        <p:spPr>
          <a:xfrm>
            <a:off x="2133600" y="1905000"/>
            <a:ext cx="4742688" cy="4758248"/>
          </a:xfrm>
        </p:spPr>
      </p:pic>
    </p:spTree>
    <p:extLst>
      <p:ext uri="{BB962C8B-B14F-4D97-AF65-F5344CB8AC3E}">
        <p14:creationId xmlns:p14="http://schemas.microsoft.com/office/powerpoint/2010/main" val="282185343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Proving Properties of Functions </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Example</a:t>
            </a:r>
            <a:r>
              <a:rPr lang="en-US" dirty="0" smtClean="0"/>
              <a:t>: Prove that x is a real number, then</a:t>
            </a:r>
          </a:p>
          <a:p>
            <a:pPr>
              <a:buNone/>
            </a:pPr>
            <a:r>
              <a:rPr lang="en-US" dirty="0" smtClean="0">
                <a:latin typeface="Cambria Math"/>
                <a:ea typeface="Cambria Math"/>
              </a:rPr>
              <a:t>                          ⌊2</a:t>
            </a:r>
            <a:r>
              <a:rPr lang="en-US" i="1" dirty="0" smtClean="0">
                <a:latin typeface="Cambria Math"/>
                <a:ea typeface="Cambria Math"/>
              </a:rPr>
              <a:t>x</a:t>
            </a:r>
            <a:r>
              <a:rPr lang="en-US" dirty="0" smtClean="0">
                <a:latin typeface="Cambria Math"/>
                <a:ea typeface="Cambria Math"/>
              </a:rPr>
              <a:t>⌋= ⌊</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x</a:t>
            </a:r>
            <a:r>
              <a:rPr lang="en-US" dirty="0" smtClean="0">
                <a:latin typeface="Cambria Math"/>
                <a:ea typeface="Cambria Math"/>
              </a:rPr>
              <a:t> + 1/2⌋</a:t>
            </a:r>
          </a:p>
          <a:p>
            <a:pPr>
              <a:buNone/>
            </a:pPr>
            <a:r>
              <a:rPr lang="en-US" b="1" dirty="0" smtClean="0"/>
              <a:t>    Solution</a:t>
            </a:r>
            <a:r>
              <a:rPr lang="en-US" dirty="0" smtClean="0"/>
              <a:t>: Let </a:t>
            </a:r>
            <a:r>
              <a:rPr lang="en-US" i="1" dirty="0" smtClean="0"/>
              <a:t>x</a:t>
            </a:r>
            <a:r>
              <a:rPr lang="en-US" dirty="0" smtClean="0"/>
              <a:t> = </a:t>
            </a:r>
            <a:r>
              <a:rPr lang="en-US" i="1" dirty="0" smtClean="0"/>
              <a:t>n</a:t>
            </a:r>
            <a:r>
              <a:rPr lang="en-US" dirty="0" smtClean="0"/>
              <a:t> + </a:t>
            </a:r>
            <a:r>
              <a:rPr lang="el-GR" dirty="0" smtClean="0">
                <a:latin typeface="Cambria Math"/>
                <a:ea typeface="Cambria Math"/>
              </a:rPr>
              <a:t>ε</a:t>
            </a:r>
            <a:r>
              <a:rPr lang="en-US" dirty="0" smtClean="0">
                <a:latin typeface="Cambria Math"/>
                <a:ea typeface="Cambria Math"/>
              </a:rPr>
              <a:t>, </a:t>
            </a:r>
            <a:r>
              <a:rPr lang="en-US" dirty="0" smtClean="0">
                <a:ea typeface="Cambria Math"/>
              </a:rPr>
              <a:t>where </a:t>
            </a:r>
            <a:r>
              <a:rPr lang="en-US" i="1" dirty="0" smtClean="0">
                <a:ea typeface="Cambria Math"/>
              </a:rPr>
              <a:t>n</a:t>
            </a:r>
            <a:r>
              <a:rPr lang="en-US" dirty="0" smtClean="0">
                <a:ea typeface="Cambria Math"/>
              </a:rPr>
              <a:t> is an integer and </a:t>
            </a:r>
            <a:r>
              <a:rPr lang="en-US" dirty="0" smtClean="0">
                <a:latin typeface="Cambria Math" pitchFamily="18" charset="0"/>
                <a:ea typeface="Cambria Math" pitchFamily="18" charset="0"/>
              </a:rPr>
              <a:t>0 ≤ </a:t>
            </a:r>
            <a:r>
              <a:rPr lang="el-GR" dirty="0" smtClean="0">
                <a:latin typeface="Cambria Math" pitchFamily="18" charset="0"/>
                <a:ea typeface="Cambria Math" pitchFamily="18" charset="0"/>
              </a:rPr>
              <a:t>ε</a:t>
            </a:r>
            <a:r>
              <a:rPr lang="en-US" dirty="0" smtClean="0">
                <a:latin typeface="Cambria Math" pitchFamily="18" charset="0"/>
                <a:ea typeface="Cambria Math" pitchFamily="18" charset="0"/>
              </a:rPr>
              <a:t>&lt; 1</a:t>
            </a:r>
            <a:r>
              <a:rPr lang="en-US" dirty="0" smtClean="0">
                <a:latin typeface="Cambria Math"/>
                <a:ea typeface="Cambria Math"/>
              </a:rPr>
              <a:t>. </a:t>
            </a:r>
          </a:p>
          <a:p>
            <a:pPr>
              <a:buNone/>
            </a:pPr>
            <a:r>
              <a:rPr lang="en-US" i="1" dirty="0" smtClean="0">
                <a:latin typeface="Cambria Math"/>
                <a:ea typeface="Cambria Math"/>
              </a:rPr>
              <a:t>  Case 1:   </a:t>
            </a:r>
            <a:r>
              <a:rPr lang="en-US" dirty="0" smtClean="0">
                <a:latin typeface="Cambria Math"/>
                <a:ea typeface="Cambria Math"/>
              </a:rPr>
              <a:t> </a:t>
            </a:r>
            <a:r>
              <a:rPr lang="el-GR" dirty="0" smtClean="0">
                <a:latin typeface="Cambria Math"/>
                <a:ea typeface="Cambria Math"/>
              </a:rPr>
              <a:t>ε </a:t>
            </a:r>
            <a:r>
              <a:rPr lang="en-US" dirty="0" smtClean="0">
                <a:latin typeface="Cambria Math"/>
                <a:ea typeface="Cambria Math"/>
              </a:rPr>
              <a:t>&lt; ½</a:t>
            </a:r>
          </a:p>
          <a:p>
            <a:pPr lvl="1"/>
            <a:r>
              <a:rPr lang="en-US" dirty="0" smtClean="0">
                <a:latin typeface="Cambria Math"/>
                <a:ea typeface="Cambria Math"/>
              </a:rPr>
              <a:t>2</a:t>
            </a:r>
            <a:r>
              <a:rPr lang="en-US" i="1" dirty="0" smtClean="0">
                <a:latin typeface="Cambria Math"/>
                <a:ea typeface="Cambria Math"/>
              </a:rPr>
              <a:t>x</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+ 2</a:t>
            </a:r>
            <a:r>
              <a:rPr lang="el-GR" dirty="0" smtClean="0">
                <a:latin typeface="Cambria Math"/>
                <a:ea typeface="Cambria Math"/>
              </a:rPr>
              <a:t>ε</a:t>
            </a:r>
            <a:r>
              <a:rPr lang="en-US" dirty="0" smtClean="0">
                <a:latin typeface="Cambria Math"/>
                <a:ea typeface="Cambria Math"/>
              </a:rPr>
              <a:t>  and  ⌊2</a:t>
            </a:r>
            <a:r>
              <a:rPr lang="en-US" i="1" dirty="0" smtClean="0">
                <a:latin typeface="Cambria Math"/>
                <a:ea typeface="Cambria Math"/>
              </a:rPr>
              <a:t>x</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since </a:t>
            </a:r>
            <a:r>
              <a:rPr lang="en-US" dirty="0" smtClean="0">
                <a:latin typeface="Cambria Math" pitchFamily="18" charset="0"/>
                <a:ea typeface="Cambria Math" pitchFamily="18" charset="0"/>
              </a:rPr>
              <a:t>0 </a:t>
            </a:r>
            <a:r>
              <a:rPr lang="en-US" dirty="0" smtClean="0">
                <a:latin typeface="Cambria Math"/>
                <a:ea typeface="Cambria Math"/>
              </a:rPr>
              <a:t>≤</a:t>
            </a:r>
            <a:r>
              <a:rPr lang="en-US" dirty="0" smtClean="0">
                <a:ea typeface="Cambria Math"/>
              </a:rPr>
              <a:t> </a:t>
            </a:r>
            <a:r>
              <a:rPr lang="en-US" dirty="0" smtClean="0">
                <a:latin typeface="Cambria Math" pitchFamily="18" charset="0"/>
                <a:ea typeface="Cambria Math" pitchFamily="18" charset="0"/>
              </a:rPr>
              <a:t>2</a:t>
            </a:r>
            <a:r>
              <a:rPr lang="el-GR" dirty="0" smtClean="0">
                <a:latin typeface="Cambria Math"/>
                <a:ea typeface="Cambria Math"/>
              </a:rPr>
              <a:t>ε</a:t>
            </a:r>
            <a:r>
              <a:rPr lang="en-US" dirty="0" smtClean="0">
                <a:latin typeface="Cambria Math"/>
                <a:ea typeface="Cambria Math"/>
              </a:rPr>
              <a:t>&lt; 1.</a:t>
            </a:r>
          </a:p>
          <a:p>
            <a:pPr lvl="1"/>
            <a:r>
              <a:rPr lang="en-US" dirty="0" smtClean="0">
                <a:latin typeface="Cambria Math"/>
                <a:ea typeface="Cambria Math"/>
              </a:rPr>
              <a:t>⌊</a:t>
            </a:r>
            <a:r>
              <a:rPr lang="en-US" i="1" dirty="0" smtClean="0">
                <a:latin typeface="Cambria Math"/>
                <a:ea typeface="Cambria Math"/>
              </a:rPr>
              <a:t>x</a:t>
            </a:r>
            <a:r>
              <a:rPr lang="en-US" dirty="0" smtClean="0">
                <a:latin typeface="Cambria Math"/>
                <a:ea typeface="Cambria Math"/>
              </a:rPr>
              <a:t> + 1/2⌋ = </a:t>
            </a:r>
            <a:r>
              <a:rPr lang="en-US" i="1" dirty="0" smtClean="0">
                <a:latin typeface="Cambria Math"/>
                <a:ea typeface="Cambria Math"/>
              </a:rPr>
              <a:t>n,</a:t>
            </a:r>
            <a:r>
              <a:rPr lang="en-US" dirty="0" smtClean="0">
                <a:latin typeface="Cambria Math"/>
                <a:ea typeface="Cambria Math"/>
              </a:rPr>
              <a:t> since</a:t>
            </a:r>
            <a:r>
              <a:rPr lang="en-US" i="1" dirty="0" smtClean="0">
                <a:latin typeface="Cambria Math"/>
                <a:ea typeface="Cambria Math"/>
              </a:rPr>
              <a:t> x</a:t>
            </a:r>
            <a:r>
              <a:rPr lang="en-US" dirty="0" smtClean="0">
                <a:latin typeface="Cambria Math"/>
                <a:ea typeface="Cambria Math"/>
              </a:rPr>
              <a:t> + ½ = </a:t>
            </a:r>
            <a:r>
              <a:rPr lang="en-US" i="1" dirty="0" smtClean="0">
                <a:latin typeface="Cambria Math"/>
                <a:ea typeface="Cambria Math"/>
              </a:rPr>
              <a:t>n</a:t>
            </a:r>
            <a:r>
              <a:rPr lang="en-US" dirty="0" smtClean="0">
                <a:latin typeface="Cambria Math"/>
                <a:ea typeface="Cambria Math"/>
              </a:rPr>
              <a:t> + (</a:t>
            </a:r>
            <a:r>
              <a:rPr lang="en-US" dirty="0" smtClean="0">
                <a:latin typeface="Cambria Math" pitchFamily="18" charset="0"/>
                <a:ea typeface="Cambria Math" pitchFamily="18" charset="0"/>
              </a:rPr>
              <a:t>1/2</a:t>
            </a:r>
            <a:r>
              <a:rPr lang="en-US" dirty="0" smtClean="0">
                <a:latin typeface="Cambria Math"/>
                <a:ea typeface="Cambria Math"/>
              </a:rPr>
              <a:t> +</a:t>
            </a:r>
            <a:r>
              <a:rPr lang="el-GR" dirty="0" smtClean="0">
                <a:latin typeface="Cambria Math"/>
                <a:ea typeface="Cambria Math"/>
              </a:rPr>
              <a:t> ε</a:t>
            </a:r>
            <a:r>
              <a:rPr lang="en-US" dirty="0" smtClean="0">
                <a:latin typeface="Cambria Math"/>
                <a:ea typeface="Cambria Math"/>
              </a:rPr>
              <a:t> ) and </a:t>
            </a:r>
            <a:r>
              <a:rPr lang="en-US" dirty="0" smtClean="0">
                <a:latin typeface="Cambria Math" pitchFamily="18" charset="0"/>
                <a:ea typeface="Cambria Math" pitchFamily="18" charset="0"/>
              </a:rPr>
              <a:t>0 </a:t>
            </a:r>
            <a:r>
              <a:rPr lang="en-US" dirty="0" smtClean="0">
                <a:latin typeface="Cambria Math"/>
                <a:ea typeface="Cambria Math"/>
              </a:rPr>
              <a:t>≤</a:t>
            </a:r>
            <a:r>
              <a:rPr lang="en-US" dirty="0" smtClean="0">
                <a:ea typeface="Cambria Math"/>
              </a:rPr>
              <a:t> ½ +</a:t>
            </a:r>
            <a:r>
              <a:rPr lang="el-GR" dirty="0" smtClean="0">
                <a:latin typeface="Cambria Math"/>
                <a:ea typeface="Cambria Math"/>
              </a:rPr>
              <a:t>ε</a:t>
            </a:r>
            <a:r>
              <a:rPr lang="en-US" dirty="0" smtClean="0">
                <a:latin typeface="Cambria Math"/>
                <a:ea typeface="Cambria Math"/>
              </a:rPr>
              <a:t> &lt; 1. </a:t>
            </a:r>
          </a:p>
          <a:p>
            <a:pPr lvl="1"/>
            <a:r>
              <a:rPr lang="en-US" dirty="0" smtClean="0">
                <a:latin typeface="Cambria Math"/>
                <a:ea typeface="Cambria Math"/>
              </a:rPr>
              <a:t>Hence, ⌊2</a:t>
            </a:r>
            <a:r>
              <a:rPr lang="en-US" i="1" dirty="0" smtClean="0">
                <a:latin typeface="Cambria Math"/>
                <a:ea typeface="Cambria Math"/>
              </a:rPr>
              <a:t>x</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a:t>
            </a:r>
            <a:r>
              <a:rPr lang="en-US" dirty="0" smtClean="0">
                <a:ea typeface="Cambria Math"/>
              </a:rPr>
              <a:t>and </a:t>
            </a:r>
            <a:r>
              <a:rPr lang="en-US" dirty="0" smtClean="0">
                <a:latin typeface="Cambria Math"/>
                <a:ea typeface="Cambria Math"/>
              </a:rPr>
              <a:t>⌊</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x</a:t>
            </a:r>
            <a:r>
              <a:rPr lang="en-US" dirty="0" smtClean="0">
                <a:latin typeface="Cambria Math"/>
                <a:ea typeface="Cambria Math"/>
              </a:rPr>
              <a:t> + 1/2⌋ = </a:t>
            </a:r>
            <a:r>
              <a:rPr lang="en-US" i="1" dirty="0" smtClean="0">
                <a:latin typeface="Cambria Math"/>
                <a:ea typeface="Cambria Math"/>
              </a:rPr>
              <a:t>n</a:t>
            </a:r>
            <a:r>
              <a:rPr lang="en-US" dirty="0" smtClean="0">
                <a:latin typeface="Cambria Math"/>
                <a:ea typeface="Cambria Math"/>
              </a:rPr>
              <a:t> + </a:t>
            </a:r>
            <a:r>
              <a:rPr lang="en-US" i="1" dirty="0" smtClean="0">
                <a:latin typeface="Cambria Math"/>
                <a:ea typeface="Cambria Math"/>
              </a:rPr>
              <a:t>n</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a:t>
            </a:r>
            <a:endParaRPr lang="en-US" dirty="0" smtClean="0">
              <a:ea typeface="Cambria Math"/>
            </a:endParaRPr>
          </a:p>
          <a:p>
            <a:pPr>
              <a:buNone/>
            </a:pPr>
            <a:r>
              <a:rPr lang="en-US" dirty="0" smtClean="0">
                <a:latin typeface="Cambria Math"/>
                <a:ea typeface="Cambria Math"/>
              </a:rPr>
              <a:t>  </a:t>
            </a:r>
            <a:r>
              <a:rPr lang="en-US" i="1" dirty="0" smtClean="0">
                <a:latin typeface="Cambria Math"/>
                <a:ea typeface="Cambria Math"/>
              </a:rPr>
              <a:t>Case 2:     </a:t>
            </a:r>
            <a:r>
              <a:rPr lang="en-US" dirty="0" smtClean="0">
                <a:latin typeface="Cambria Math"/>
                <a:ea typeface="Cambria Math"/>
              </a:rPr>
              <a:t> </a:t>
            </a:r>
            <a:r>
              <a:rPr lang="el-GR" dirty="0" smtClean="0">
                <a:latin typeface="Cambria Math"/>
                <a:ea typeface="Cambria Math"/>
              </a:rPr>
              <a:t>ε</a:t>
            </a:r>
            <a:r>
              <a:rPr lang="en-US" dirty="0" smtClean="0">
                <a:latin typeface="Cambria Math"/>
                <a:ea typeface="Cambria Math"/>
              </a:rPr>
              <a:t> ≥ ½ </a:t>
            </a:r>
          </a:p>
          <a:p>
            <a:pPr lvl="1"/>
            <a:r>
              <a:rPr lang="en-US" dirty="0" smtClean="0">
                <a:latin typeface="Cambria Math"/>
                <a:ea typeface="Cambria Math"/>
              </a:rPr>
              <a:t>2</a:t>
            </a:r>
            <a:r>
              <a:rPr lang="en-US" i="1" dirty="0" smtClean="0">
                <a:latin typeface="Cambria Math"/>
                <a:ea typeface="Cambria Math"/>
              </a:rPr>
              <a:t>x</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+ 2</a:t>
            </a:r>
            <a:r>
              <a:rPr lang="el-GR" dirty="0" smtClean="0">
                <a:latin typeface="Cambria Math" pitchFamily="18" charset="0"/>
                <a:ea typeface="Cambria Math" pitchFamily="18" charset="0"/>
              </a:rPr>
              <a:t>ε</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+ 1) +(2</a:t>
            </a:r>
            <a:r>
              <a:rPr lang="el-GR" dirty="0" smtClean="0">
                <a:latin typeface="Cambria Math"/>
                <a:ea typeface="Cambria Math"/>
              </a:rPr>
              <a:t>ε</a:t>
            </a:r>
            <a:r>
              <a:rPr lang="en-US" dirty="0" smtClean="0">
                <a:latin typeface="Cambria Math"/>
                <a:ea typeface="Cambria Math"/>
              </a:rPr>
              <a:t>  − 1)  and ⌊2</a:t>
            </a:r>
            <a:r>
              <a:rPr lang="en-US" i="1" dirty="0" smtClean="0">
                <a:latin typeface="Cambria Math"/>
                <a:ea typeface="Cambria Math"/>
              </a:rPr>
              <a:t>x</a:t>
            </a:r>
            <a:r>
              <a:rPr lang="en-US" dirty="0" smtClean="0">
                <a:latin typeface="Cambria Math"/>
                <a:ea typeface="Cambria Math"/>
              </a:rPr>
              <a:t>⌋ =2</a:t>
            </a:r>
            <a:r>
              <a:rPr lang="en-US" i="1" dirty="0" smtClean="0">
                <a:latin typeface="Cambria Math"/>
                <a:ea typeface="Cambria Math"/>
              </a:rPr>
              <a:t>n</a:t>
            </a:r>
            <a:r>
              <a:rPr lang="en-US" dirty="0" smtClean="0">
                <a:latin typeface="Cambria Math"/>
                <a:ea typeface="Cambria Math"/>
              </a:rPr>
              <a:t> + 1,                     since </a:t>
            </a:r>
            <a:r>
              <a:rPr lang="en-US" dirty="0" smtClean="0">
                <a:latin typeface="Cambria Math" pitchFamily="18" charset="0"/>
                <a:ea typeface="Cambria Math" pitchFamily="18" charset="0"/>
              </a:rPr>
              <a:t>0 ≤ 2</a:t>
            </a:r>
            <a:r>
              <a:rPr lang="el-GR" dirty="0" smtClean="0">
                <a:latin typeface="Cambria Math" pitchFamily="18" charset="0"/>
                <a:ea typeface="Cambria Math" pitchFamily="18" charset="0"/>
              </a:rPr>
              <a:t> ε</a:t>
            </a:r>
            <a:r>
              <a:rPr lang="en-US" dirty="0" smtClean="0">
                <a:latin typeface="Cambria Math" pitchFamily="18" charset="0"/>
                <a:ea typeface="Cambria Math" pitchFamily="18" charset="0"/>
              </a:rPr>
              <a:t> - 1&lt; 1. </a:t>
            </a:r>
            <a:endParaRPr lang="en-US" dirty="0" smtClean="0">
              <a:latin typeface="Cambria Math"/>
              <a:ea typeface="Cambria Math"/>
            </a:endParaRPr>
          </a:p>
          <a:p>
            <a:pPr lvl="1"/>
            <a:r>
              <a:rPr lang="en-US" dirty="0" smtClean="0">
                <a:latin typeface="Cambria Math"/>
                <a:ea typeface="Cambria Math"/>
              </a:rPr>
              <a:t>⌊</a:t>
            </a:r>
            <a:r>
              <a:rPr lang="en-US" i="1" dirty="0" smtClean="0">
                <a:latin typeface="Cambria Math"/>
                <a:ea typeface="Cambria Math"/>
              </a:rPr>
              <a:t>x</a:t>
            </a:r>
            <a:r>
              <a:rPr lang="en-US" dirty="0" smtClean="0">
                <a:latin typeface="Cambria Math"/>
                <a:ea typeface="Cambria Math"/>
              </a:rPr>
              <a:t> + 1/2⌋ = ⌊ </a:t>
            </a:r>
            <a:r>
              <a:rPr lang="en-US" i="1" dirty="0" smtClean="0">
                <a:latin typeface="Cambria Math"/>
                <a:ea typeface="Cambria Math"/>
              </a:rPr>
              <a:t>n</a:t>
            </a:r>
            <a:r>
              <a:rPr lang="en-US" dirty="0" smtClean="0">
                <a:latin typeface="Cambria Math"/>
                <a:ea typeface="Cambria Math"/>
              </a:rPr>
              <a:t> + (1/2 +</a:t>
            </a:r>
            <a:r>
              <a:rPr lang="el-GR" dirty="0" smtClean="0">
                <a:latin typeface="Cambria Math" pitchFamily="18" charset="0"/>
                <a:ea typeface="Cambria Math" pitchFamily="18" charset="0"/>
              </a:rPr>
              <a:t> ε</a:t>
            </a:r>
            <a:r>
              <a:rPr lang="en-US" dirty="0" smtClean="0">
                <a:latin typeface="Cambria Math" pitchFamily="18" charset="0"/>
                <a:ea typeface="Cambria Math" pitchFamily="18" charset="0"/>
              </a:rPr>
              <a:t>)</a:t>
            </a:r>
            <a:r>
              <a:rPr lang="en-US" dirty="0" smtClean="0">
                <a:latin typeface="Cambria Math"/>
                <a:ea typeface="Cambria Math"/>
              </a:rPr>
              <a:t>⌋ = ⌊ </a:t>
            </a:r>
            <a:r>
              <a:rPr lang="en-US" i="1" dirty="0" smtClean="0">
                <a:latin typeface="Cambria Math"/>
                <a:ea typeface="Cambria Math"/>
              </a:rPr>
              <a:t>n</a:t>
            </a:r>
            <a:r>
              <a:rPr lang="en-US" dirty="0" smtClean="0">
                <a:latin typeface="Cambria Math"/>
                <a:ea typeface="Cambria Math"/>
              </a:rPr>
              <a:t> + 1 +  (</a:t>
            </a:r>
            <a:r>
              <a:rPr lang="el-GR" dirty="0" smtClean="0">
                <a:latin typeface="Cambria Math" pitchFamily="18" charset="0"/>
                <a:ea typeface="Cambria Math" pitchFamily="18" charset="0"/>
              </a:rPr>
              <a:t>ε</a:t>
            </a:r>
            <a:r>
              <a:rPr lang="en-US" dirty="0" smtClean="0">
                <a:latin typeface="Cambria Math" pitchFamily="18" charset="0"/>
                <a:ea typeface="Cambria Math" pitchFamily="18" charset="0"/>
              </a:rPr>
              <a:t> – 1/2)</a:t>
            </a:r>
            <a:r>
              <a:rPr lang="en-US" dirty="0" smtClean="0">
                <a:latin typeface="Cambria Math"/>
                <a:ea typeface="Cambria Math"/>
              </a:rPr>
              <a:t>⌋ = </a:t>
            </a:r>
            <a:r>
              <a:rPr lang="en-US" i="1" dirty="0" smtClean="0">
                <a:latin typeface="Cambria Math"/>
                <a:ea typeface="Cambria Math"/>
              </a:rPr>
              <a:t>n</a:t>
            </a:r>
            <a:r>
              <a:rPr lang="en-US" dirty="0" smtClean="0">
                <a:latin typeface="Cambria Math"/>
                <a:ea typeface="Cambria Math"/>
              </a:rPr>
              <a:t> + 1 since       </a:t>
            </a:r>
            <a:r>
              <a:rPr lang="en-US" dirty="0" smtClean="0">
                <a:latin typeface="Cambria Math" pitchFamily="18" charset="0"/>
                <a:ea typeface="Cambria Math" pitchFamily="18" charset="0"/>
              </a:rPr>
              <a:t>0 ≤ </a:t>
            </a:r>
            <a:r>
              <a:rPr lang="el-GR" dirty="0" smtClean="0">
                <a:latin typeface="Cambria Math" pitchFamily="18" charset="0"/>
                <a:ea typeface="Cambria Math" pitchFamily="18" charset="0"/>
              </a:rPr>
              <a:t>ε</a:t>
            </a:r>
            <a:r>
              <a:rPr lang="en-US" dirty="0" smtClean="0">
                <a:latin typeface="Cambria Math" pitchFamily="18" charset="0"/>
                <a:ea typeface="Cambria Math" pitchFamily="18" charset="0"/>
              </a:rPr>
              <a:t> – 1/2&lt; 1</a:t>
            </a:r>
            <a:r>
              <a:rPr lang="en-US" dirty="0" smtClean="0">
                <a:latin typeface="Cambria Math"/>
                <a:ea typeface="Cambria Math"/>
              </a:rPr>
              <a:t>. </a:t>
            </a:r>
          </a:p>
          <a:p>
            <a:pPr lvl="1"/>
            <a:r>
              <a:rPr lang="en-US" dirty="0" smtClean="0">
                <a:latin typeface="Cambria Math"/>
                <a:ea typeface="Cambria Math"/>
              </a:rPr>
              <a:t>Hence,  ⌊2</a:t>
            </a:r>
            <a:r>
              <a:rPr lang="en-US" i="1" dirty="0" smtClean="0">
                <a:latin typeface="Cambria Math"/>
                <a:ea typeface="Cambria Math"/>
              </a:rPr>
              <a:t>x</a:t>
            </a:r>
            <a:r>
              <a:rPr lang="en-US" dirty="0" smtClean="0">
                <a:latin typeface="Cambria Math"/>
                <a:ea typeface="Cambria Math"/>
              </a:rPr>
              <a:t>⌋ = 2</a:t>
            </a:r>
            <a:r>
              <a:rPr lang="en-US" i="1" dirty="0" smtClean="0">
                <a:latin typeface="Cambria Math"/>
                <a:ea typeface="Cambria Math"/>
              </a:rPr>
              <a:t>n</a:t>
            </a:r>
            <a:r>
              <a:rPr lang="en-US" dirty="0" smtClean="0">
                <a:latin typeface="Cambria Math"/>
                <a:ea typeface="Cambria Math"/>
              </a:rPr>
              <a:t> + 1 </a:t>
            </a:r>
            <a:r>
              <a:rPr lang="en-US" dirty="0" smtClean="0">
                <a:ea typeface="Cambria Math"/>
              </a:rPr>
              <a:t>and </a:t>
            </a:r>
            <a:r>
              <a:rPr lang="en-US" dirty="0" smtClean="0">
                <a:latin typeface="Cambria Math"/>
                <a:ea typeface="Cambria Math"/>
              </a:rPr>
              <a:t>⌊</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x</a:t>
            </a:r>
            <a:r>
              <a:rPr lang="en-US" dirty="0" smtClean="0">
                <a:latin typeface="Cambria Math"/>
                <a:ea typeface="Cambria Math"/>
              </a:rPr>
              <a:t> + 1/2⌋ = </a:t>
            </a:r>
            <a:r>
              <a:rPr lang="en-US" i="1" dirty="0" smtClean="0">
                <a:latin typeface="Cambria Math"/>
                <a:ea typeface="Cambria Math"/>
              </a:rPr>
              <a:t>n</a:t>
            </a:r>
            <a:r>
              <a:rPr lang="en-US" dirty="0" smtClean="0">
                <a:latin typeface="Cambria Math"/>
                <a:ea typeface="Cambria Math"/>
              </a:rPr>
              <a:t> + (</a:t>
            </a:r>
            <a:r>
              <a:rPr lang="en-US" i="1" dirty="0" smtClean="0">
                <a:latin typeface="Cambria Math"/>
                <a:ea typeface="Cambria Math"/>
              </a:rPr>
              <a:t>n</a:t>
            </a:r>
            <a:r>
              <a:rPr lang="en-US" dirty="0" smtClean="0">
                <a:latin typeface="Cambria Math"/>
                <a:ea typeface="Cambria Math"/>
              </a:rPr>
              <a:t> + 1)  = 2</a:t>
            </a:r>
            <a:r>
              <a:rPr lang="en-US" i="1" dirty="0" smtClean="0">
                <a:latin typeface="Cambria Math"/>
                <a:ea typeface="Cambria Math"/>
              </a:rPr>
              <a:t>n</a:t>
            </a:r>
            <a:r>
              <a:rPr lang="en-US" dirty="0" smtClean="0">
                <a:latin typeface="Cambria Math"/>
                <a:ea typeface="Cambria Math"/>
              </a:rPr>
              <a:t> + 1.           </a:t>
            </a:r>
            <a:endParaRPr lang="en-US" dirty="0" smtClean="0">
              <a:ea typeface="Cambria Math"/>
            </a:endParaRPr>
          </a:p>
        </p:txBody>
      </p:sp>
      <p:sp>
        <p:nvSpPr>
          <p:cNvPr id="4" name="Isosceles Triangle 3"/>
          <p:cNvSpPr/>
          <p:nvPr/>
        </p:nvSpPr>
        <p:spPr>
          <a:xfrm rot="5400000" flipV="1">
            <a:off x="8458200" y="57912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029021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Factorial</a:t>
            </a:r>
            <a:r>
              <a:rPr lang="zh-CN" altLang="en-US" sz="4800" dirty="0" smtClean="0"/>
              <a:t>（阶乘）</a:t>
            </a:r>
            <a:r>
              <a:rPr lang="en-US" sz="4800" dirty="0" smtClean="0"/>
              <a:t> </a:t>
            </a:r>
            <a:r>
              <a:rPr lang="en-US" dirty="0" smtClean="0"/>
              <a:t>Function </a:t>
            </a:r>
            <a:endParaRPr lang="en-US" dirty="0"/>
          </a:p>
        </p:txBody>
      </p:sp>
      <p:sp>
        <p:nvSpPr>
          <p:cNvPr id="3" name="Content Placeholder 2"/>
          <p:cNvSpPr>
            <a:spLocks noGrp="1"/>
          </p:cNvSpPr>
          <p:nvPr>
            <p:ph idx="1"/>
          </p:nvPr>
        </p:nvSpPr>
        <p:spPr/>
        <p:txBody>
          <a:bodyPr>
            <a:normAutofit/>
          </a:bodyPr>
          <a:lstStyle/>
          <a:p>
            <a:pPr>
              <a:buNone/>
            </a:pPr>
            <a:r>
              <a:rPr lang="en-US" b="1" dirty="0" smtClean="0"/>
              <a:t>   Definition:  </a:t>
            </a:r>
            <a:r>
              <a:rPr lang="en-US" dirty="0" smtClean="0"/>
              <a:t>f:</a:t>
            </a:r>
            <a:r>
              <a:rPr lang="en-US" b="1" dirty="0" smtClean="0"/>
              <a:t> N </a:t>
            </a:r>
            <a:r>
              <a:rPr lang="en-US" b="1" dirty="0" smtClean="0">
                <a:latin typeface="Cambria Math"/>
                <a:ea typeface="Cambria Math"/>
                <a:sym typeface="Wingdings" pitchFamily="2" charset="2"/>
              </a:rPr>
              <a:t>→</a:t>
            </a:r>
            <a:r>
              <a:rPr lang="en-US" b="1" dirty="0" smtClean="0">
                <a:sym typeface="Wingdings" pitchFamily="2" charset="2"/>
              </a:rPr>
              <a:t> Z</a:t>
            </a:r>
            <a:r>
              <a:rPr lang="en-US" b="1" baseline="30000" dirty="0" smtClean="0">
                <a:sym typeface="Wingdings" pitchFamily="2" charset="2"/>
              </a:rPr>
              <a:t>+</a:t>
            </a:r>
            <a:r>
              <a:rPr lang="en-US" b="1" dirty="0" smtClean="0">
                <a:sym typeface="Wingdings" pitchFamily="2" charset="2"/>
              </a:rPr>
              <a:t> , </a:t>
            </a:r>
            <a:r>
              <a:rPr lang="en-US" dirty="0" smtClean="0">
                <a:sym typeface="Wingdings" pitchFamily="2" charset="2"/>
              </a:rPr>
              <a:t>denoted by </a:t>
            </a:r>
            <a:r>
              <a:rPr lang="en-US" i="1" dirty="0" smtClean="0">
                <a:sym typeface="Wingdings" pitchFamily="2" charset="2"/>
              </a:rPr>
              <a:t>f</a:t>
            </a:r>
            <a:r>
              <a:rPr lang="en-US" dirty="0" smtClean="0">
                <a:sym typeface="Wingdings" pitchFamily="2" charset="2"/>
              </a:rPr>
              <a:t>(</a:t>
            </a:r>
            <a:r>
              <a:rPr lang="en-US" i="1" dirty="0" smtClean="0">
                <a:sym typeface="Wingdings" pitchFamily="2" charset="2"/>
              </a:rPr>
              <a:t>n</a:t>
            </a:r>
            <a:r>
              <a:rPr lang="en-US" dirty="0" smtClean="0">
                <a:sym typeface="Wingdings" pitchFamily="2" charset="2"/>
              </a:rPr>
              <a:t>) = </a:t>
            </a:r>
            <a:r>
              <a:rPr lang="en-US" i="1" dirty="0" smtClean="0">
                <a:sym typeface="Wingdings" pitchFamily="2" charset="2"/>
              </a:rPr>
              <a:t>n</a:t>
            </a:r>
            <a:r>
              <a:rPr lang="en-US" dirty="0" smtClean="0">
                <a:sym typeface="Wingdings" pitchFamily="2" charset="2"/>
              </a:rPr>
              <a:t>! is the product of the first </a:t>
            </a:r>
            <a:r>
              <a:rPr lang="en-US" i="1" dirty="0" smtClean="0">
                <a:sym typeface="Wingdings" pitchFamily="2" charset="2"/>
              </a:rPr>
              <a:t>n</a:t>
            </a:r>
            <a:r>
              <a:rPr lang="en-US" dirty="0" smtClean="0">
                <a:sym typeface="Wingdings" pitchFamily="2" charset="2"/>
              </a:rPr>
              <a:t> positive integers when </a:t>
            </a:r>
            <a:r>
              <a:rPr lang="en-US" i="1" dirty="0" smtClean="0">
                <a:sym typeface="Wingdings" pitchFamily="2" charset="2"/>
              </a:rPr>
              <a:t>n</a:t>
            </a:r>
            <a:r>
              <a:rPr lang="en-US" dirty="0" smtClean="0">
                <a:sym typeface="Wingdings" pitchFamily="2" charset="2"/>
              </a:rPr>
              <a:t> is a nonnegative integer.</a:t>
            </a:r>
            <a:endParaRPr lang="en-US" baseline="30000" dirty="0" smtClean="0">
              <a:sym typeface="Wingdings" pitchFamily="2" charset="2"/>
            </a:endParaRPr>
          </a:p>
          <a:p>
            <a:pPr>
              <a:buNone/>
            </a:pPr>
            <a:endParaRPr lang="en-US" sz="2800" baseline="30000" dirty="0" smtClean="0">
              <a:latin typeface="Cambria Math" pitchFamily="18" charset="0"/>
              <a:ea typeface="Cambria Math" pitchFamily="18" charset="0"/>
              <a:sym typeface="Wingdings" pitchFamily="2" charset="2"/>
            </a:endParaRPr>
          </a:p>
          <a:p>
            <a:pPr>
              <a:buNone/>
            </a:pPr>
            <a:r>
              <a:rPr lang="en-US" sz="2800" baseline="30000" dirty="0" smtClean="0">
                <a:latin typeface="Cambria Math" pitchFamily="18" charset="0"/>
                <a:ea typeface="Cambria Math" pitchFamily="18" charset="0"/>
                <a:sym typeface="Wingdings" pitchFamily="2" charset="2"/>
              </a:rPr>
              <a:t>        </a:t>
            </a:r>
            <a:r>
              <a:rPr lang="en-US" sz="2800" i="1" baseline="30000" dirty="0" smtClean="0">
                <a:ea typeface="Cambria Math" pitchFamily="18" charset="0"/>
                <a:sym typeface="Wingdings" pitchFamily="2" charset="2"/>
              </a:rPr>
              <a:t>f</a:t>
            </a:r>
            <a:r>
              <a:rPr lang="en-US" sz="2800" baseline="30000" dirty="0" smtClean="0">
                <a:ea typeface="Cambria Math" pitchFamily="18" charset="0"/>
                <a:sym typeface="Wingdings" pitchFamily="2" charset="2"/>
              </a:rPr>
              <a:t>(</a:t>
            </a:r>
            <a:r>
              <a:rPr lang="en-US" sz="2800" i="1" baseline="30000" dirty="0" smtClean="0">
                <a:ea typeface="Cambria Math" pitchFamily="18" charset="0"/>
                <a:sym typeface="Wingdings" pitchFamily="2" charset="2"/>
              </a:rPr>
              <a:t>n</a:t>
            </a:r>
            <a:r>
              <a:rPr lang="en-US" sz="2800" baseline="30000" dirty="0" smtClean="0">
                <a:ea typeface="Cambria Math" pitchFamily="18" charset="0"/>
                <a:sym typeface="Wingdings" pitchFamily="2" charset="2"/>
              </a:rPr>
              <a:t>)</a:t>
            </a:r>
            <a:r>
              <a:rPr lang="en-US" sz="2800" baseline="30000" dirty="0" smtClean="0">
                <a:latin typeface="Cambria Math" pitchFamily="18" charset="0"/>
                <a:ea typeface="Cambria Math" pitchFamily="18" charset="0"/>
                <a:sym typeface="Wingdings" pitchFamily="2" charset="2"/>
              </a:rPr>
              <a:t> = 1 </a:t>
            </a:r>
            <a:r>
              <a:rPr lang="en-US" sz="2800" baseline="30000" dirty="0" smtClean="0">
                <a:latin typeface="Cambria Math"/>
                <a:ea typeface="Cambria Math"/>
                <a:sym typeface="Wingdings" pitchFamily="2" charset="2"/>
              </a:rPr>
              <a:t>∙ 2 ∙∙∙ (</a:t>
            </a:r>
            <a:r>
              <a:rPr lang="en-US" sz="2800" i="1" baseline="30000" dirty="0" smtClean="0">
                <a:ea typeface="Cambria Math"/>
                <a:sym typeface="Wingdings" pitchFamily="2" charset="2"/>
              </a:rPr>
              <a:t>n</a:t>
            </a:r>
            <a:r>
              <a:rPr lang="en-US" sz="2800" baseline="30000" dirty="0" smtClean="0">
                <a:latin typeface="Cambria Math"/>
                <a:ea typeface="Cambria Math"/>
                <a:sym typeface="Wingdings" pitchFamily="2" charset="2"/>
              </a:rPr>
              <a:t> – 1) ∙ </a:t>
            </a:r>
            <a:r>
              <a:rPr lang="en-US" sz="2800" i="1" baseline="30000" dirty="0" smtClean="0">
                <a:ea typeface="Cambria Math"/>
                <a:sym typeface="Wingdings" pitchFamily="2" charset="2"/>
              </a:rPr>
              <a:t>n,</a:t>
            </a:r>
            <a:r>
              <a:rPr lang="en-US" sz="2800" baseline="30000" dirty="0" smtClean="0">
                <a:latin typeface="Cambria Math"/>
                <a:ea typeface="Cambria Math"/>
                <a:sym typeface="Wingdings" pitchFamily="2" charset="2"/>
              </a:rPr>
              <a:t>         </a:t>
            </a:r>
            <a:r>
              <a:rPr lang="en-US" sz="2800" i="1" baseline="30000" dirty="0" smtClean="0">
                <a:ea typeface="Cambria Math"/>
                <a:sym typeface="Wingdings" pitchFamily="2" charset="2"/>
              </a:rPr>
              <a:t>f</a:t>
            </a:r>
            <a:r>
              <a:rPr lang="en-US" sz="2800" baseline="30000" dirty="0" smtClean="0">
                <a:latin typeface="Cambria Math"/>
                <a:ea typeface="Cambria Math"/>
                <a:sym typeface="Wingdings" pitchFamily="2" charset="2"/>
              </a:rPr>
              <a:t>(0)  = 0! = 1</a:t>
            </a:r>
            <a:endParaRPr lang="en-US" sz="2800" baseline="30000" dirty="0" smtClean="0">
              <a:latin typeface="Cambria Math" pitchFamily="18" charset="0"/>
              <a:ea typeface="Cambria Math" pitchFamily="18" charset="0"/>
              <a:sym typeface="Wingdings" pitchFamily="2" charset="2"/>
            </a:endParaRPr>
          </a:p>
          <a:p>
            <a:pPr>
              <a:buNone/>
            </a:pPr>
            <a:r>
              <a:rPr lang="en-US" sz="2800" baseline="30000" dirty="0" smtClean="0">
                <a:latin typeface="Cambria Math" pitchFamily="18" charset="0"/>
                <a:ea typeface="Cambria Math" pitchFamily="18" charset="0"/>
                <a:sym typeface="Wingdings" pitchFamily="2" charset="2"/>
              </a:rPr>
              <a:t> </a:t>
            </a:r>
            <a:r>
              <a:rPr lang="en-US" sz="2800" dirty="0" smtClean="0">
                <a:latin typeface="Cambria Math" pitchFamily="18" charset="0"/>
                <a:ea typeface="Cambria Math" pitchFamily="18" charset="0"/>
                <a:sym typeface="Wingdings" pitchFamily="2" charset="2"/>
              </a:rPr>
              <a:t>  </a:t>
            </a:r>
            <a:r>
              <a:rPr lang="en-US" sz="2800" b="1" dirty="0" smtClean="0">
                <a:sym typeface="Wingdings" pitchFamily="2" charset="2"/>
              </a:rPr>
              <a:t>Examples:</a:t>
            </a:r>
          </a:p>
          <a:p>
            <a:pPr>
              <a:buNone/>
            </a:pPr>
            <a:r>
              <a:rPr lang="en-US" sz="2800" b="1" dirty="0" smtClean="0">
                <a:latin typeface="Cambria Math" pitchFamily="18" charset="0"/>
                <a:ea typeface="Cambria Math" pitchFamily="18" charset="0"/>
                <a:sym typeface="Wingdings" pitchFamily="2" charset="2"/>
              </a:rPr>
              <a:t>      </a:t>
            </a:r>
            <a:r>
              <a:rPr lang="en-US" sz="2800" i="1" baseline="30000" dirty="0" smtClean="0">
                <a:ea typeface="Cambria Math" pitchFamily="18" charset="0"/>
                <a:sym typeface="Wingdings" pitchFamily="2" charset="2"/>
              </a:rPr>
              <a:t>f</a:t>
            </a:r>
            <a:r>
              <a:rPr lang="en-US" sz="2800" baseline="30000" dirty="0" smtClean="0">
                <a:latin typeface="Cambria Math" pitchFamily="18" charset="0"/>
                <a:ea typeface="Cambria Math" pitchFamily="18" charset="0"/>
                <a:sym typeface="Wingdings" pitchFamily="2" charset="2"/>
              </a:rPr>
              <a:t>(1) = 1!  = 1</a:t>
            </a:r>
          </a:p>
          <a:p>
            <a:pPr>
              <a:buNone/>
            </a:pPr>
            <a:r>
              <a:rPr lang="en-US" sz="2800" baseline="30000" dirty="0" smtClean="0">
                <a:latin typeface="Cambria Math" pitchFamily="18" charset="0"/>
                <a:ea typeface="Cambria Math" pitchFamily="18" charset="0"/>
                <a:sym typeface="Wingdings" pitchFamily="2" charset="2"/>
              </a:rPr>
              <a:t>        </a:t>
            </a:r>
            <a:r>
              <a:rPr lang="en-US" sz="2800" i="1" baseline="30000" dirty="0" smtClean="0">
                <a:ea typeface="Cambria Math" pitchFamily="18" charset="0"/>
                <a:sym typeface="Wingdings" pitchFamily="2" charset="2"/>
              </a:rPr>
              <a:t>f</a:t>
            </a:r>
            <a:r>
              <a:rPr lang="en-US" sz="2800" baseline="30000" dirty="0" smtClean="0">
                <a:latin typeface="Cambria Math" pitchFamily="18" charset="0"/>
                <a:ea typeface="Cambria Math" pitchFamily="18" charset="0"/>
                <a:sym typeface="Wingdings" pitchFamily="2" charset="2"/>
              </a:rPr>
              <a:t>(2) = 2! =  1 </a:t>
            </a:r>
            <a:r>
              <a:rPr lang="en-US" sz="2800" baseline="30000" dirty="0" smtClean="0">
                <a:latin typeface="Cambria Math"/>
                <a:ea typeface="Cambria Math"/>
                <a:sym typeface="Wingdings" pitchFamily="2" charset="2"/>
              </a:rPr>
              <a:t>∙ 2 = 2</a:t>
            </a:r>
            <a:endParaRPr lang="en-US" sz="2800" baseline="30000" dirty="0" smtClean="0">
              <a:latin typeface="Cambria Math" pitchFamily="18" charset="0"/>
              <a:ea typeface="Cambria Math" pitchFamily="18" charset="0"/>
              <a:sym typeface="Wingdings" pitchFamily="2" charset="2"/>
            </a:endParaRPr>
          </a:p>
          <a:p>
            <a:pPr>
              <a:buNone/>
            </a:pPr>
            <a:r>
              <a:rPr lang="en-US" sz="2800" baseline="30000" dirty="0" smtClean="0">
                <a:latin typeface="Cambria Math" pitchFamily="18" charset="0"/>
                <a:ea typeface="Cambria Math" pitchFamily="18" charset="0"/>
                <a:sym typeface="Wingdings" pitchFamily="2" charset="2"/>
              </a:rPr>
              <a:t>       </a:t>
            </a:r>
            <a:r>
              <a:rPr lang="en-US" sz="2800" i="1" baseline="30000" dirty="0" smtClean="0">
                <a:ea typeface="Cambria Math" pitchFamily="18" charset="0"/>
                <a:sym typeface="Wingdings" pitchFamily="2" charset="2"/>
              </a:rPr>
              <a:t>f</a:t>
            </a:r>
            <a:r>
              <a:rPr lang="en-US" sz="2800" baseline="30000" dirty="0" smtClean="0">
                <a:latin typeface="Cambria Math" pitchFamily="18" charset="0"/>
                <a:ea typeface="Cambria Math" pitchFamily="18" charset="0"/>
                <a:sym typeface="Wingdings" pitchFamily="2" charset="2"/>
              </a:rPr>
              <a:t>(6)  = 6! =  1 </a:t>
            </a:r>
            <a:r>
              <a:rPr lang="en-US" sz="2800" baseline="30000" dirty="0" smtClean="0">
                <a:latin typeface="Cambria Math"/>
                <a:ea typeface="Cambria Math"/>
                <a:sym typeface="Wingdings" pitchFamily="2" charset="2"/>
              </a:rPr>
              <a:t>∙ 2 ∙ 3∙ 4∙ 5</a:t>
            </a:r>
            <a:r>
              <a:rPr lang="en-US" sz="2800" dirty="0" smtClean="0">
                <a:latin typeface="Cambria Math"/>
                <a:ea typeface="Cambria Math"/>
                <a:sym typeface="Wingdings" pitchFamily="2" charset="2"/>
              </a:rPr>
              <a:t> </a:t>
            </a:r>
            <a:r>
              <a:rPr lang="en-US" sz="2800" baseline="30000" dirty="0" smtClean="0">
                <a:latin typeface="Cambria Math"/>
                <a:ea typeface="Cambria Math"/>
                <a:sym typeface="Wingdings" pitchFamily="2" charset="2"/>
              </a:rPr>
              <a:t>∙ 6 = 720</a:t>
            </a:r>
          </a:p>
          <a:p>
            <a:pPr>
              <a:buNone/>
            </a:pPr>
            <a:r>
              <a:rPr lang="en-US" sz="2800" baseline="30000" dirty="0" smtClean="0">
                <a:latin typeface="Cambria Math"/>
                <a:ea typeface="Cambria Math"/>
                <a:sym typeface="Wingdings" pitchFamily="2" charset="2"/>
              </a:rPr>
              <a:t>       </a:t>
            </a:r>
            <a:r>
              <a:rPr lang="en-US" sz="2800" i="1" baseline="30000" dirty="0" smtClean="0">
                <a:ea typeface="Cambria Math"/>
                <a:sym typeface="Wingdings" pitchFamily="2" charset="2"/>
              </a:rPr>
              <a:t>f</a:t>
            </a:r>
            <a:r>
              <a:rPr lang="en-US" sz="2800" baseline="30000" dirty="0" smtClean="0">
                <a:latin typeface="Cambria Math"/>
                <a:ea typeface="Cambria Math"/>
                <a:sym typeface="Wingdings" pitchFamily="2" charset="2"/>
              </a:rPr>
              <a:t>(20) = 2,432,902,008,176,640,000.</a:t>
            </a:r>
            <a:endParaRPr lang="en-US" sz="2800" dirty="0">
              <a:latin typeface="Cambria Math" pitchFamily="18" charset="0"/>
              <a:ea typeface="Cambria Math" pitchFamily="18" charset="0"/>
            </a:endParaRPr>
          </a:p>
        </p:txBody>
      </p:sp>
      <p:sp>
        <p:nvSpPr>
          <p:cNvPr id="4" name="TextBox 3"/>
          <p:cNvSpPr txBox="1"/>
          <p:nvPr/>
        </p:nvSpPr>
        <p:spPr>
          <a:xfrm>
            <a:off x="5867400" y="4114800"/>
            <a:ext cx="2971800" cy="646331"/>
          </a:xfrm>
          <a:prstGeom prst="rect">
            <a:avLst/>
          </a:prstGeom>
          <a:noFill/>
        </p:spPr>
        <p:txBody>
          <a:bodyPr wrap="square" rtlCol="0">
            <a:spAutoFit/>
          </a:bodyPr>
          <a:lstStyle/>
          <a:p>
            <a:r>
              <a:rPr lang="en-US" dirty="0" err="1" smtClean="0"/>
              <a:t>Stirling’s</a:t>
            </a:r>
            <a:r>
              <a:rPr lang="en-US" dirty="0" smtClean="0"/>
              <a:t> Formula:</a:t>
            </a:r>
          </a:p>
          <a:p>
            <a:endParaRPr lang="en-US" dirty="0"/>
          </a:p>
        </p:txBody>
      </p:sp>
      <p:pic>
        <p:nvPicPr>
          <p:cNvPr id="8" name="Picture 7" descr="addin_tmp.png"/>
          <p:cNvPicPr>
            <a:picLocks noChangeAspect="1"/>
          </p:cNvPicPr>
          <p:nvPr>
            <p:custDataLst>
              <p:tags r:id="rId1"/>
            </p:custDataLst>
          </p:nvPr>
        </p:nvPicPr>
        <p:blipFill>
          <a:blip r:embed="rId4" cstate="print"/>
          <a:stretch>
            <a:fillRect/>
          </a:stretch>
        </p:blipFill>
        <p:spPr>
          <a:xfrm>
            <a:off x="5791200" y="4572000"/>
            <a:ext cx="1908810" cy="283845"/>
          </a:xfrm>
          <a:prstGeom prst="rect">
            <a:avLst/>
          </a:prstGeom>
        </p:spPr>
      </p:pic>
      <p:pic>
        <p:nvPicPr>
          <p:cNvPr id="7" name="Picture 6" descr="addin_tmp.png"/>
          <p:cNvPicPr>
            <a:picLocks noChangeAspect="1"/>
          </p:cNvPicPr>
          <p:nvPr>
            <p:custDataLst>
              <p:tags r:id="rId2"/>
            </p:custDataLst>
          </p:nvPr>
        </p:nvPicPr>
        <p:blipFill>
          <a:blip r:embed="rId5" cstate="print"/>
          <a:stretch>
            <a:fillRect/>
          </a:stretch>
        </p:blipFill>
        <p:spPr>
          <a:xfrm>
            <a:off x="4876800" y="4953000"/>
            <a:ext cx="4120515" cy="255270"/>
          </a:xfrm>
          <a:prstGeom prst="rect">
            <a:avLst/>
          </a:prstGeom>
        </p:spPr>
      </p:pic>
    </p:spTree>
    <p:extLst>
      <p:ext uri="{BB962C8B-B14F-4D97-AF65-F5344CB8AC3E}">
        <p14:creationId xmlns:p14="http://schemas.microsoft.com/office/powerpoint/2010/main" val="254574749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Partial Functions (</a:t>
            </a:r>
            <a:r>
              <a:rPr lang="en-US" i="1" dirty="0" smtClean="0"/>
              <a:t>optional</a:t>
            </a:r>
            <a:r>
              <a:rPr lang="en-US" dirty="0" smtClean="0"/>
              <a:t>)</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Definition</a:t>
            </a:r>
            <a:r>
              <a:rPr lang="en-US" dirty="0" smtClean="0"/>
              <a:t>: A </a:t>
            </a:r>
            <a:r>
              <a:rPr lang="en-US" i="1" dirty="0" smtClean="0"/>
              <a:t>partial function f  </a:t>
            </a:r>
            <a:r>
              <a:rPr lang="en-US" dirty="0" smtClean="0"/>
              <a:t>from a set </a:t>
            </a:r>
            <a:r>
              <a:rPr lang="en-US" i="1" dirty="0" smtClean="0"/>
              <a:t>A</a:t>
            </a:r>
            <a:r>
              <a:rPr lang="en-US" dirty="0" smtClean="0"/>
              <a:t> to a set </a:t>
            </a:r>
            <a:r>
              <a:rPr lang="en-US" i="1" dirty="0" smtClean="0"/>
              <a:t>B</a:t>
            </a:r>
            <a:r>
              <a:rPr lang="en-US" dirty="0" smtClean="0"/>
              <a:t>  is an assignment to each element </a:t>
            </a:r>
            <a:r>
              <a:rPr lang="en-US" i="1" dirty="0" smtClean="0"/>
              <a:t>a</a:t>
            </a:r>
            <a:r>
              <a:rPr lang="en-US" dirty="0" smtClean="0"/>
              <a:t> in a subset of </a:t>
            </a:r>
            <a:r>
              <a:rPr lang="en-US" i="1" dirty="0" smtClean="0"/>
              <a:t>A</a:t>
            </a:r>
            <a:r>
              <a:rPr lang="en-US" b="1" dirty="0" smtClean="0"/>
              <a:t>, </a:t>
            </a:r>
            <a:r>
              <a:rPr lang="en-US" dirty="0" smtClean="0"/>
              <a:t>called the </a:t>
            </a:r>
            <a:r>
              <a:rPr lang="en-US" i="1" dirty="0" smtClean="0"/>
              <a:t>domain of definition </a:t>
            </a:r>
            <a:r>
              <a:rPr lang="en-US" dirty="0" smtClean="0"/>
              <a:t>of </a:t>
            </a:r>
            <a:r>
              <a:rPr lang="en-US" i="1" dirty="0" smtClean="0"/>
              <a:t>f</a:t>
            </a:r>
            <a:r>
              <a:rPr lang="en-US" dirty="0" smtClean="0"/>
              <a:t>, of a unique element </a:t>
            </a:r>
            <a:r>
              <a:rPr lang="en-US" i="1" dirty="0" smtClean="0"/>
              <a:t>b</a:t>
            </a:r>
            <a:r>
              <a:rPr lang="en-US" dirty="0" smtClean="0"/>
              <a:t> in </a:t>
            </a:r>
            <a:r>
              <a:rPr lang="en-US" i="1" dirty="0" smtClean="0"/>
              <a:t>B</a:t>
            </a:r>
            <a:r>
              <a:rPr lang="en-US" dirty="0" smtClean="0"/>
              <a:t>. </a:t>
            </a:r>
          </a:p>
          <a:p>
            <a:pPr lvl="1"/>
            <a:r>
              <a:rPr lang="en-US" dirty="0" smtClean="0"/>
              <a:t>   The sets </a:t>
            </a:r>
            <a:r>
              <a:rPr lang="en-US" i="1" dirty="0" smtClean="0"/>
              <a:t>A</a:t>
            </a:r>
            <a:r>
              <a:rPr lang="en-US" dirty="0" smtClean="0"/>
              <a:t> and </a:t>
            </a:r>
            <a:r>
              <a:rPr lang="en-US" i="1" dirty="0" smtClean="0"/>
              <a:t>B</a:t>
            </a:r>
            <a:r>
              <a:rPr lang="en-US" dirty="0" smtClean="0"/>
              <a:t> are called the </a:t>
            </a:r>
            <a:r>
              <a:rPr lang="en-US" i="1" dirty="0" smtClean="0"/>
              <a:t>domain</a:t>
            </a:r>
            <a:r>
              <a:rPr lang="en-US" dirty="0" smtClean="0"/>
              <a:t> and </a:t>
            </a:r>
            <a:r>
              <a:rPr lang="en-US" i="1" dirty="0" err="1" smtClean="0"/>
              <a:t>codomain</a:t>
            </a:r>
            <a:r>
              <a:rPr lang="en-US" dirty="0" smtClean="0"/>
              <a:t> of </a:t>
            </a:r>
            <a:r>
              <a:rPr lang="en-US" i="1" dirty="0" smtClean="0"/>
              <a:t>f</a:t>
            </a:r>
            <a:r>
              <a:rPr lang="en-US" dirty="0" smtClean="0"/>
              <a:t>, respectively. </a:t>
            </a:r>
          </a:p>
          <a:p>
            <a:pPr lvl="1"/>
            <a:r>
              <a:rPr lang="en-US" dirty="0" smtClean="0"/>
              <a:t>   We day that </a:t>
            </a:r>
            <a:r>
              <a:rPr lang="en-US" i="1" dirty="0" smtClean="0"/>
              <a:t>f</a:t>
            </a:r>
            <a:r>
              <a:rPr lang="en-US" dirty="0" smtClean="0"/>
              <a:t> is </a:t>
            </a:r>
            <a:r>
              <a:rPr lang="en-US" i="1" dirty="0" smtClean="0"/>
              <a:t>undefined</a:t>
            </a:r>
            <a:r>
              <a:rPr lang="en-US" dirty="0" smtClean="0"/>
              <a:t>  for elements in </a:t>
            </a:r>
            <a:r>
              <a:rPr lang="en-US" i="1" dirty="0" smtClean="0"/>
              <a:t>A</a:t>
            </a:r>
            <a:r>
              <a:rPr lang="en-US" dirty="0" smtClean="0"/>
              <a:t> that are not in the domain of definition of </a:t>
            </a:r>
            <a:r>
              <a:rPr lang="en-US" i="1" dirty="0" smtClean="0"/>
              <a:t>f</a:t>
            </a:r>
            <a:r>
              <a:rPr lang="en-US" dirty="0" smtClean="0"/>
              <a:t>.  </a:t>
            </a:r>
          </a:p>
          <a:p>
            <a:pPr lvl="1"/>
            <a:r>
              <a:rPr lang="en-US" dirty="0" smtClean="0"/>
              <a:t>   When the domain of definition of </a:t>
            </a:r>
            <a:r>
              <a:rPr lang="en-US" i="1" dirty="0" smtClean="0"/>
              <a:t>f</a:t>
            </a:r>
            <a:r>
              <a:rPr lang="en-US" dirty="0" smtClean="0"/>
              <a:t> equals </a:t>
            </a:r>
            <a:r>
              <a:rPr lang="en-US" i="1" dirty="0" smtClean="0"/>
              <a:t>A</a:t>
            </a:r>
            <a:r>
              <a:rPr lang="en-US" dirty="0" smtClean="0"/>
              <a:t>, we say that </a:t>
            </a:r>
            <a:r>
              <a:rPr lang="en-US" i="1" dirty="0" smtClean="0"/>
              <a:t>f</a:t>
            </a:r>
            <a:r>
              <a:rPr lang="en-US" dirty="0" smtClean="0"/>
              <a:t> is a </a:t>
            </a:r>
            <a:r>
              <a:rPr lang="en-US" i="1" dirty="0" smtClean="0"/>
              <a:t>total function</a:t>
            </a:r>
            <a:r>
              <a:rPr lang="en-US" sz="2200" dirty="0" smtClean="0"/>
              <a:t>(</a:t>
            </a:r>
            <a:r>
              <a:rPr lang="zh-CN" altLang="en-US" sz="2200" dirty="0" smtClean="0"/>
              <a:t>全函数</a:t>
            </a:r>
            <a:r>
              <a:rPr lang="en-US" altLang="zh-CN" sz="2200" dirty="0" smtClean="0"/>
              <a:t>)</a:t>
            </a:r>
            <a:r>
              <a:rPr lang="en-US" sz="2200" dirty="0" smtClean="0"/>
              <a:t>.</a:t>
            </a:r>
            <a:r>
              <a:rPr lang="en-US" dirty="0" smtClean="0"/>
              <a:t> </a:t>
            </a:r>
          </a:p>
          <a:p>
            <a:pPr>
              <a:buNone/>
            </a:pPr>
            <a:r>
              <a:rPr lang="en-US" b="1" dirty="0" smtClean="0"/>
              <a:t>   Example: </a:t>
            </a:r>
            <a:r>
              <a:rPr lang="en-US" i="1" dirty="0" smtClean="0"/>
              <a:t>f</a:t>
            </a:r>
            <a:r>
              <a:rPr lang="en-US" dirty="0" smtClean="0"/>
              <a:t>:</a:t>
            </a:r>
            <a:r>
              <a:rPr lang="en-US" b="1" dirty="0" smtClean="0"/>
              <a:t> </a:t>
            </a:r>
            <a:r>
              <a:rPr lang="en-US" altLang="zh-CN" b="1" dirty="0">
                <a:ea typeface="Cambria Math" pitchFamily="18" charset="0"/>
                <a:sym typeface="Wingdings" pitchFamily="2" charset="2"/>
              </a:rPr>
              <a:t>Z</a:t>
            </a:r>
            <a:r>
              <a:rPr lang="en-US" b="1" dirty="0" smtClean="0"/>
              <a:t> </a:t>
            </a:r>
            <a:r>
              <a:rPr lang="en-US" b="1" dirty="0" smtClean="0">
                <a:latin typeface="Cambria Math"/>
                <a:ea typeface="Cambria Math"/>
              </a:rPr>
              <a:t>→</a:t>
            </a:r>
            <a:r>
              <a:rPr lang="en-US" b="1" dirty="0" smtClean="0">
                <a:sym typeface="Wingdings" pitchFamily="2" charset="2"/>
              </a:rPr>
              <a:t> R </a:t>
            </a:r>
            <a:r>
              <a:rPr lang="en-US" dirty="0" smtClean="0">
                <a:sym typeface="Wingdings" pitchFamily="2" charset="2"/>
              </a:rPr>
              <a:t>where </a:t>
            </a:r>
            <a:r>
              <a:rPr lang="en-US" i="1" dirty="0" smtClean="0">
                <a:ea typeface="Cambria Math" pitchFamily="18" charset="0"/>
                <a:sym typeface="Wingdings" pitchFamily="2" charset="2"/>
              </a:rPr>
              <a:t>f</a:t>
            </a:r>
            <a:r>
              <a:rPr lang="en-US" dirty="0" smtClean="0">
                <a:latin typeface="Cambria Math" pitchFamily="18" charset="0"/>
                <a:ea typeface="Cambria Math" pitchFamily="18" charset="0"/>
                <a:sym typeface="Wingdings" pitchFamily="2" charset="2"/>
              </a:rPr>
              <a:t>(</a:t>
            </a:r>
            <a:r>
              <a:rPr lang="en-US" i="1" dirty="0" smtClean="0">
                <a:ea typeface="Cambria Math" pitchFamily="18" charset="0"/>
                <a:sym typeface="Wingdings" pitchFamily="2" charset="2"/>
              </a:rPr>
              <a:t>n</a:t>
            </a:r>
            <a:r>
              <a:rPr lang="en-US" dirty="0" smtClean="0">
                <a:latin typeface="Cambria Math" pitchFamily="18" charset="0"/>
                <a:ea typeface="Cambria Math" pitchFamily="18" charset="0"/>
                <a:sym typeface="Wingdings" pitchFamily="2" charset="2"/>
              </a:rPr>
              <a:t>) = √</a:t>
            </a:r>
            <a:r>
              <a:rPr lang="en-US" i="1" dirty="0" smtClean="0">
                <a:ea typeface="Cambria Math" pitchFamily="18" charset="0"/>
                <a:sym typeface="Wingdings" pitchFamily="2" charset="2"/>
              </a:rPr>
              <a:t>n</a:t>
            </a:r>
            <a:r>
              <a:rPr lang="en-US" dirty="0" smtClean="0">
                <a:latin typeface="Cambria Math" pitchFamily="18" charset="0"/>
                <a:ea typeface="Cambria Math" pitchFamily="18" charset="0"/>
                <a:sym typeface="Wingdings" pitchFamily="2" charset="2"/>
              </a:rPr>
              <a:t>  </a:t>
            </a:r>
            <a:r>
              <a:rPr lang="en-US" dirty="0" smtClean="0">
                <a:ea typeface="Cambria Math" pitchFamily="18" charset="0"/>
                <a:sym typeface="Wingdings" pitchFamily="2" charset="2"/>
              </a:rPr>
              <a:t>is a partial function from </a:t>
            </a:r>
            <a:r>
              <a:rPr lang="en-US" b="1" dirty="0" smtClean="0">
                <a:ea typeface="Cambria Math" pitchFamily="18" charset="0"/>
                <a:sym typeface="Wingdings" pitchFamily="2" charset="2"/>
              </a:rPr>
              <a:t>Z</a:t>
            </a:r>
            <a:r>
              <a:rPr lang="en-US" dirty="0" smtClean="0">
                <a:ea typeface="Cambria Math" pitchFamily="18" charset="0"/>
                <a:sym typeface="Wingdings" pitchFamily="2" charset="2"/>
              </a:rPr>
              <a:t> to </a:t>
            </a:r>
            <a:r>
              <a:rPr lang="en-US" b="1" dirty="0" smtClean="0">
                <a:ea typeface="Cambria Math" pitchFamily="18" charset="0"/>
                <a:sym typeface="Wingdings" pitchFamily="2" charset="2"/>
              </a:rPr>
              <a:t>R</a:t>
            </a:r>
            <a:r>
              <a:rPr lang="en-US" dirty="0" smtClean="0">
                <a:ea typeface="Cambria Math" pitchFamily="18" charset="0"/>
                <a:sym typeface="Wingdings" pitchFamily="2" charset="2"/>
              </a:rPr>
              <a:t> where the domain of definition is the set of nonnegative integers. Note that </a:t>
            </a:r>
            <a:r>
              <a:rPr lang="en-US" i="1" dirty="0" smtClean="0">
                <a:ea typeface="Cambria Math" pitchFamily="18" charset="0"/>
                <a:sym typeface="Wingdings" pitchFamily="2" charset="2"/>
              </a:rPr>
              <a:t>f</a:t>
            </a:r>
            <a:r>
              <a:rPr lang="en-US" dirty="0" smtClean="0">
                <a:ea typeface="Cambria Math" pitchFamily="18" charset="0"/>
                <a:sym typeface="Wingdings" pitchFamily="2" charset="2"/>
              </a:rPr>
              <a:t> is undefined for negative integers. </a:t>
            </a:r>
            <a:endParaRPr lang="en-US" b="1" dirty="0">
              <a:ea typeface="Cambria Math" pitchFamily="18" charset="0"/>
            </a:endParaRPr>
          </a:p>
        </p:txBody>
      </p:sp>
    </p:spTree>
    <p:extLst>
      <p:ext uri="{BB962C8B-B14F-4D97-AF65-F5344CB8AC3E}">
        <p14:creationId xmlns:p14="http://schemas.microsoft.com/office/powerpoint/2010/main" val="423564242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Homework </a:t>
            </a:r>
            <a:endParaRPr lang="zh-CN" altLang="en-US" dirty="0"/>
          </a:p>
        </p:txBody>
      </p:sp>
      <p:sp>
        <p:nvSpPr>
          <p:cNvPr id="3" name="内容占位符 2"/>
          <p:cNvSpPr>
            <a:spLocks noGrp="1"/>
          </p:cNvSpPr>
          <p:nvPr>
            <p:ph idx="1"/>
          </p:nvPr>
        </p:nvSpPr>
        <p:spPr/>
        <p:txBody>
          <a:bodyPr/>
          <a:lstStyle/>
          <a:p>
            <a:pPr>
              <a:buNone/>
            </a:pPr>
            <a:r>
              <a:rPr kumimoji="1" lang="zh-CN" altLang="en-US" dirty="0" smtClean="0">
                <a:solidFill>
                  <a:srgbClr val="9900FF"/>
                </a:solidFill>
                <a:latin typeface="Times New Roman" panose="02020603050405020304" pitchFamily="18" charset="0"/>
                <a:ea typeface="楷体_GB2312" pitchFamily="49" charset="-122"/>
                <a:sym typeface="Symbol" panose="05050102010706020507" pitchFamily="18" charset="2"/>
              </a:rPr>
              <a:t>第八版 </a:t>
            </a:r>
            <a:r>
              <a:rPr kumimoji="1" lang="en-US" altLang="zh-CN" dirty="0" smtClean="0">
                <a:solidFill>
                  <a:srgbClr val="9900FF"/>
                </a:solidFill>
                <a:latin typeface="Times New Roman" panose="02020603050405020304" pitchFamily="18" charset="0"/>
                <a:ea typeface="楷体_GB2312" pitchFamily="49" charset="-122"/>
                <a:sym typeface="Symbol" panose="05050102010706020507" pitchFamily="18" charset="2"/>
              </a:rPr>
              <a:t>Sec</a:t>
            </a:r>
            <a:r>
              <a:rPr kumimoji="1" lang="en-US" altLang="zh-CN" dirty="0">
                <a:solidFill>
                  <a:srgbClr val="9900FF"/>
                </a:solidFill>
                <a:latin typeface="Times New Roman" panose="02020603050405020304" pitchFamily="18" charset="0"/>
                <a:ea typeface="楷体_GB2312" pitchFamily="49" charset="-122"/>
                <a:sym typeface="Symbol" panose="05050102010706020507" pitchFamily="18" charset="2"/>
              </a:rPr>
              <a:t>. 2.3 </a:t>
            </a:r>
            <a:r>
              <a:rPr kumimoji="1" lang="en-US" altLang="zh-CN" dirty="0">
                <a:latin typeface="Times New Roman" panose="02020603050405020304" pitchFamily="18" charset="0"/>
                <a:ea typeface="楷体_GB2312" pitchFamily="49" charset="-122"/>
                <a:sym typeface="Symbol" panose="05050102010706020507" pitchFamily="18" charset="2"/>
              </a:rPr>
              <a:t>22(c), 36, </a:t>
            </a:r>
            <a:r>
              <a:rPr kumimoji="1" lang="en-US" altLang="zh-CN" dirty="0">
                <a:latin typeface="Times New Roman" panose="02020603050405020304" pitchFamily="18" charset="0"/>
                <a:ea typeface="楷体_GB2312" pitchFamily="49" charset="-122"/>
              </a:rPr>
              <a:t>42(a), 74, 76(</a:t>
            </a:r>
            <a:r>
              <a:rPr kumimoji="1" lang="en-US" altLang="zh-CN" dirty="0" err="1">
                <a:latin typeface="Times New Roman" panose="02020603050405020304" pitchFamily="18" charset="0"/>
                <a:ea typeface="楷体_GB2312" pitchFamily="49" charset="-122"/>
              </a:rPr>
              <a:t>c,d</a:t>
            </a:r>
            <a:r>
              <a:rPr kumimoji="1" lang="en-US" altLang="zh-CN" dirty="0">
                <a:latin typeface="Times New Roman" panose="02020603050405020304" pitchFamily="18" charset="0"/>
                <a:ea typeface="楷体_GB2312" pitchFamily="49" charset="-122"/>
              </a:rPr>
              <a:t>)</a:t>
            </a:r>
          </a:p>
        </p:txBody>
      </p:sp>
    </p:spTree>
    <p:extLst>
      <p:ext uri="{BB962C8B-B14F-4D97-AF65-F5344CB8AC3E}">
        <p14:creationId xmlns:p14="http://schemas.microsoft.com/office/powerpoint/2010/main" val="68317067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orall x P(x)$&#10;\end{document}"/>
  <p:tag name="IGUANATEXSIZE" val="25"/>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orall x P(x)$&#10;\end{document}"/>
  <p:tag name="IGUANATEXSIZE" val="25"/>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p  \leftrightarrow q$&#10;\end{document}"/>
  <p:tag name="IGUANATEXSIZE" val="25"/>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p  \rightarrow q)\wedge (q \rightarrow p)$&#10;\end{document}"/>
  <p:tag name="IGUANATEXSIZE" val="25"/>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forall x ( x \in A \leftrightarrow x \in B)$&#10;\end{document}"/>
  <p:tag name="IGUANATEXSIZE" val="3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forall x (x \in A \rightarrow x \in B)$&#10;&#10;\end{document}"/>
  <p:tag name="IGUANATEXSIZE" val="25"/>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orall x [ (x\in A \rightarrow  x \in B) \wedge (x \in B \rightarrow x \in A)]$&#10;&#10;\end{document}"/>
  <p:tag name="IGUANATEXSIZE" val="30"/>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forall x ( x \in A \leftrightarrow x \in B)$&#10;\end{document}"/>
  <p:tag name="IGUANATEXSIZE" val="3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orall x (x \in A \rightarrow x \in  B) \wedge \exists x (x \in B \wedge x \not\in A)$&#10;&#10;\end{document}"/>
  <p:tag name="IGUANATEXSIZE" val="3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times B = \{(a,b) | a \in A \wedge b \in B\}$&#10;&#10;&#10;\end{document}"/>
  <p:tag name="IGUANATEXSIZE" val="3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_1\times  A_2 \times \dots \times A_n =\\&#10;\hspace*{.5in} \{(a_1,a_2,\ldots, a_n) | a_i \in A_i\; \mbox{for}\; i = 1,2, \ldots n \}$&#10;&#10;&#10;\end{document}"/>
  <p:tag name="IGUANATEXSIZE" val="25"/>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x \in D| P(x)\}$&#10;&#10;&#10;\end{document}"/>
  <p:tag name="IGUANATEXSIZE" val="3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x |  x\in A \vee x \in B\}$&#10;&#10;\end{document}"/>
  <p:tag name="IGUANATEXSIZE" val="30"/>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x |  x\in A \wedge x \in B\}$&#10;&#10;\end{document}"/>
  <p:tag name="IGUANATEXSIZE" val="30"/>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bar{B}} $&#10;&#10;\end{document}"/>
  <p:tag name="IGUANATEXSIZE" val="14"/>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 B) \cup (B - A)$&#10;&#10;\end{document}"/>
  <p:tag name="IGUANATEXSIZE" val="30"/>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oplus B$&#10;&#10;\end{document}"/>
  <p:tag name="IGUANATEXSIZE" val="30"/>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oplus B$&#10;&#10;\end{document}"/>
  <p:tag name="IGUANATEXSIZE" val="25"/>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emptyset = A$&#10;&#10;&#10;\end{document}"/>
  <p:tag name="IGUANATEXSIZE" val="30"/>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U = A$&#10;&#10;&#10;\end{document}"/>
  <p:tag name="IGUANATEXSIZE" val="30"/>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U = U$&#10;&#10;&#10;\end{document}"/>
  <p:tag name="IGUANATEXSIZE" val="30"/>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emptyset = \emptyset$&#10;&#10;&#10;\end{document}"/>
  <p:tag name="IGUANATEXSIZE" val="30"/>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A = A$&#10;&#10;&#10;\end{document}"/>
  <p:tag name="IGUANATEXSIZE" val="30"/>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A = A$&#10;&#10;&#10;\end{document}"/>
  <p:tag name="IGUANATEXSIZE" val="30"/>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overline{(\overline{A})} = A$&#10;&#10;&#10;\end{document}"/>
  <p:tag name="IGUANATEXSIZE" val="30"/>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B = B \cup A$&#10;&#10;&#10;\end{document}"/>
  <p:tag name="IGUANATEXSIZE" val="30"/>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B = B \cap A$&#10;&#10;&#10;\end{document}"/>
  <p:tag name="IGUANATEXSIZE" val="30"/>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B \cup C) = (A \cup B) \cup C$&#10;&#10;&#10;\end{document}"/>
  <p:tag name="IGUANATEXSIZE" val="30"/>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B \cap C) = (A \cap B) \cap C$&#10;&#10;&#10;\end{document}"/>
  <p:tag name="IGUANATEXSIZE" val="30"/>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B \cup C) = (A \cap B) \cup (A \cap C)$&#10;&#10;&#10;\end{document}"/>
  <p:tag name="IGUANATEXSIZE" val="30"/>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B \cap C) = (A \cup B) \cap (A \cup C)$&#10;&#10;&#10;\end{document}"/>
  <p:tag name="IGUANATEXSIZE" val="30"/>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overline{A \cup B} = \overline{A} \cap \overline{B}$&#10;&#10;&#10;\end{document}"/>
  <p:tag name="IGUANATEXSIZE" val="30"/>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overline{A \cap B} = \overline{A} \cup \overline{B}$&#10;&#10;&#10;\end{document}"/>
  <p:tag name="IGUANATEXSIZE" val="30"/>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A \cap B) = A$&#10;&#10;&#10;\end{document}"/>
  <p:tag name="IGUANATEXSIZE" val="30"/>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A \cup B) = A$&#10;&#10;&#10;\end{document}"/>
  <p:tag name="IGUANATEXSIZE" val="30"/>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overline{A} = U$&#10;&#10;&#10;\end{document}"/>
  <p:tag name="IGUANATEXSIZE" val="30"/>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ap \overline{A} = \emptyset$&#10;&#10;&#10;\end{document}"/>
  <p:tag name="IGUANATEXSIZE" val="30"/>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overline{A \cap B} = \overline{A} \cup \overline{B}$&#10;&#10;\end{document}"/>
  <p:tag name="IGUANATEXSIZE" val="30"/>
</p:tagLst>
</file>

<file path=ppt/tags/tag3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overline{A} \cup \overline{B} \subseteq \overline{A \cap B}$&#10;&#10;\end{document}"/>
  <p:tag name="IGUANATEXSIZE" val="30"/>
</p:tagLst>
</file>

<file path=ppt/tags/tag4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overline{A \cap B} \subseteq \overline{A} \cup \overline{B}$&#10;&#10;\end{document}"/>
  <p:tag name="IGUANATEXSIZE" val="30"/>
</p:tagLst>
</file>

<file path=ppt/tags/tag4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overline{A \cap B} \subseteq \overline{A} \cup \overline{B}$&#10;&#10;\end{document}"/>
  <p:tag name="IGUANATEXSIZE" val="30"/>
</p:tagLst>
</file>

<file path=ppt/tags/tag4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begin{tabular}{ll}&#10;$x \in \overline{A \cap B}$ &amp; by assumption\\&#10;$x \not\in A \cap B$&amp; defn. of complement\\&#10;$\neg((x \in A) \wedge (x \in B))$&amp; defn. of intersection\\&#10;$\neg (x \in A) \vee \neg (x \in B)$ &amp; 1st De Morgan Law for Prop Logic\\&#10;$x \not\in A \vee x \not\in B$ &amp; defn. of negation\\&#10;$x \in \overline{A} \vee x \in \overline{B}$&amp; defn. of complement\\&#10;$x \in \overline{A} \cup \overline{B}$&amp; defn. of union\\&#10;\end{tabular}&#10;\end{document}"/>
  <p:tag name="IGUANATEXSIZE" val="20"/>
</p:tagLst>
</file>

<file path=ppt/tags/tag4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begin{tabular}{ll}&#10;$x \in \overline{A} \cup \overline{B}$ &amp; by assumption\\&#10;$(x \in \overline{A}) \vee (x \in \overline{B})$&amp; defn. of union\\&#10;$(x \not\in A) \vee (x \not\in B)$ &amp; defn. of complement\\&#10;$\neg(x \in A) \vee \neg(x \in B)$ &amp; defn. of negation\\&#10;$\neg(( x \in A) \wedge (x \in B))$&amp; by 1st De Morgan Law for Prop Logic\\&#10;$\neg (x \in A \cap B)$&amp; defn. of intersection\\&#10;$x \in \overline{A \cap B}$ &amp;defn. of complement&#10;\end{tabular}&#10;\end{document}"/>
  <p:tag name="IGUANATEXSIZE" val="20"/>
</p:tagLst>
</file>

<file path=ppt/tags/tag4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overline{A} \cup \overline{B} \subseteq \overline{A \cap B}$&#10;&#10;\end{document}"/>
  <p:tag name="IGUANATEXSIZE" val="30"/>
</p:tagLst>
</file>

<file path=ppt/tags/tag4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egin{tabular}{llll}&#10;$\overline{A \cap B}$ &amp; = &amp; $\{x| x \not\in A \cap B \}$ &amp; by defn. of complement\\&#10;&amp;=&amp; $\{ x | \neg (x \in (A \cap B))\}$&amp; by defn. of does not belong symbol\\&#10;&amp;=&amp; $\{x | \neg (x \in A \wedge x \in B\}$ &amp; by defn. of intersection\\&#10;&amp;=&amp; $\{x | \neg(x \in A) \vee \neg(x \in B)\}$ &amp;by 1st De Morgan law\\&#10;&amp;&amp;&amp; for Prop Logic\\&#10;&amp;=&amp; $\{x | x \not\in A \vee x \not\in B\}$ &amp; by defn. of not belong symbol\\&#10;&amp;=&amp; $\{x | x \in \overline{A} \vee x \in \overline{B}\}$&amp; by defn. of complement\\&#10;&amp;=&amp; $\{x | x \in \overline{A} \cup \overline{B}\}$&amp; by defn. of union\\&#10;&amp;=&amp; $\overline{A} \cup \overline{B}$&amp; by meaning of notation&#10;\end{tabular}&#10;&#10;\end{document}"/>
  <p:tag name="IGUANATEXSIZE" val="20"/>
</p:tagLst>
</file>

<file path=ppt/tags/tag4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 \cap C$&#10;&#10;\end{document}"/>
  <p:tag name="IGUANATEXSIZE" val="20"/>
</p:tagLst>
</file>

<file path=ppt/tags/tag4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cup (B \cap C)$&#10;&#10;\end{document}"/>
  <p:tag name="IGUANATEXSIZE" val="20"/>
</p:tagLst>
</file>

<file path=ppt/tags/tag4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cup B$&#10;&#10;\end{document}"/>
  <p:tag name="IGUANATEXSIZE" val="20"/>
</p:tagLst>
</file>

<file path=ppt/tags/tag4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cup C$&#10;&#10;\end{document}"/>
  <p:tag name="IGUANATEXSIZE" val="20"/>
</p:tagLst>
</file>

<file path=ppt/tags/tag5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cup B )\cap (A \cup C)$&#10;&#10;\end{document}"/>
  <p:tag name="IGUANATEXSIZE" val="20"/>
</p:tagLst>
</file>

<file path=ppt/tags/tag5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cup (B \cap C) = (A \cup B) \cap (A \cup C)$&#10;&#10;&#10;\end{document}"/>
  <p:tag name="IGUANATEXSIZE" val="30"/>
</p:tagLst>
</file>

<file path=ppt/tags/tag5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igcup_{i = 1}^{n}A_i =  A_1 \cup A_2 \cup \ldots \cup A_n\]&#10;&#10;\end{document}"/>
  <p:tag name="IGUANATEXSIZE" val="15"/>
</p:tagLst>
</file>

<file path=ppt/tags/tag5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igcap_{i = 1}^{n}A_i =  A_1 \cap A_2 \cap \ldots\cap A_n\]&#10;&#10;\end{document}"/>
  <p:tag name="IGUANATEXSIZE" val="15"/>
</p:tagLst>
</file>

<file path=ppt/tags/tag5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igcup_{i = 1}^{n}A_i =\bigcup_{i = 1}^{n} \{i, i+ 1, i +2,...\} = \{1,2,3,...\}\]&#10;&#10;\end{document}"/>
  <p:tag name="IGUANATEXSIZE" val="15"/>
</p:tagLst>
</file>

<file path=ppt/tags/tag5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igcap_{i = 1}^{n}A_i = \bigcap_{i = 1}^{n} \{i, i + 1, i + 2, ...\} =  \{n, n + 1, n + 2, .....\} = A_n\]&#10;&#10;\end{document}"/>
  <p:tag name="IGUANATEXSIZE" val="15"/>
</p:tagLst>
</file>

<file path=ppt/tags/tag5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orall x [x \in A \rightarrow \exists y[y \in B \wedge (x,y) \in f]]$&#10;&#10;\end{document}"/>
  <p:tag name="IGUANATEXSIZE" val="30"/>
</p:tagLst>
</file>

<file path=ppt/tags/tag5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S) = \{f(s) | s \in S\}$&#10;&#10;\end{document}"/>
  <p:tag name="IGUANATEXSIZE" val="30"/>
</p:tagLst>
</file>

<file path=ppt/tags/tag5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 A \rightarrow B$&#10;&#10;\end{document}"/>
  <p:tag name="IGUANATEXSIZE" val="30"/>
</p:tagLst>
</file>

<file path=ppt/tags/tag5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 \in B$&#10;&#10;\end{document}"/>
  <p:tag name="IGUANATEXSIZE" val="30"/>
</p:tagLst>
</file>

<file path=ppt/tags/tag6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in A$&#10;&#10;\end{document}"/>
  <p:tag name="IGUANATEXSIZE" val="30"/>
</p:tagLst>
</file>

<file path=ppt/tags/tag6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a) = b$&#10;&#10;\end{document}"/>
  <p:tag name="IGUANATEXSIZE" val="30"/>
</p:tagLst>
</file>

<file path=ppt/tags/tag6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1}$&#10;&#10;&#10;&#10;\end{document}"/>
  <p:tag name="IGUANATEXSIZE" val="30"/>
</p:tagLst>
</file>

<file path=ppt/tags/tag6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1}(y) = x\; \mbox{iff}\; f(x) = y$&#10;&#10;&#10;&#10;\end{document}"/>
  <p:tag name="IGUANATEXSIZE" val="30"/>
</p:tagLst>
</file>

<file path=ppt/tags/tag6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1}$&#10;&#10;&#10;&#10;\end{document}"/>
  <p:tag name="IGUANATEXSIZE" val="30"/>
</p:tagLst>
</file>

<file path=ppt/tags/tag6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 f(x) = x^{2}$&#10;&#10;&#10;&#10;\end{document}"/>
  <p:tag name="IGUANATEXSIZE" val="30"/>
</p:tagLst>
</file>

<file path=ppt/tags/tag6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circ g$&#10;&#10;&#10;&#10;\end{document}"/>
  <p:tag name="IGUANATEXSIZE" val="30"/>
</p:tagLst>
</file>

<file path=ppt/tags/tag6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circ g(x)\; = \; f(g(x))$&#10;&#10;&#10;&#10;\end{document}"/>
  <p:tag name="IGUANATEXSIZE" val="30"/>
</p:tagLst>
</file>

<file path=ppt/tags/tag6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circ g$&#10;&#10;&#10;&#10;\end{document}"/>
  <p:tag name="IGUANATEXSIZE" val="30"/>
</p:tagLst>
</file>

<file path=ppt/tags/tag6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x) = x^{2}$&#10;&#10;&#10;&#10;\end{document}"/>
  <p:tag name="IGUANATEXSIZE" val="30"/>
</p:tagLst>
</file>

<file path=ppt/tags/tag7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g(x) = 2x + 1$&#10;&#10;&#10;&#10;\end{document}"/>
  <p:tag name="IGUANATEXSIZE" val="30"/>
</p:tagLst>
</file>

<file path=ppt/tags/tag7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g(x)) = (2x + 1)^{2}$&#10;&#10;&#10;&#10;\end{document}"/>
  <p:tag name="IGUANATEXSIZE" val="30"/>
</p:tagLst>
</file>

<file path=ppt/tags/tag7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g(f(x)) = 2x^{2} + 1$&#10;&#10;&#10;&#10;\end{document}"/>
  <p:tag name="IGUANATEXSIZE" val="30"/>
</p:tagLst>
</file>

<file path=ppt/tags/tag7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x) = \lfloor x\rfloor$&#10;&#10;&#10;&#10;\end{document}"/>
  <p:tag name="IGUANATEXSIZE" val="30"/>
</p:tagLst>
</file>

<file path=ppt/tags/tag7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x) = \lceil x\rceil$&#10;&#10;&#10;&#10;\end{document}"/>
  <p:tag name="IGUANATEXSIZE" val="30"/>
</p:tagLst>
</file>

<file path=ppt/tags/tag7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lceil 3.5\rceil = 4$&#10;&#10;&#10;&#10;\end{document}"/>
  <p:tag name="IGUANATEXSIZE" val="30"/>
</p:tagLst>
</file>

<file path=ppt/tags/tag7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lfloor 3.5\rfloor = 3$&#10;&#10;&#10;&#10;\end{document}"/>
  <p:tag name="IGUANATEXSIZE" val="30"/>
</p:tagLst>
</file>

<file path=ppt/tags/tag7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lceil -1.5\rceil = -1$&#10;&#10;&#10;&#10;\end{document}"/>
  <p:tag name="IGUANATEXSIZE" val="30"/>
</p:tagLst>
</file>

<file path=ppt/tags/tag7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lfloor -1.5\rfloor = -2$&#10;&#10;&#10;&#10;\end{document}"/>
  <p:tag name="IGUANATEXSIZE" val="30"/>
</p:tagLst>
</file>

<file path=ppt/tags/tag7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n! \sim \sqrt{2\pi n} (n/e)^{n}$&#10;&#10;\end{document}"/>
  <p:tag name="IGUANATEXSIZE" val="20"/>
</p:tagLst>
</file>

<file path=ppt/tags/tag8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n)\sim g(n)\doteq lim_{n\rightarrow \infty}f(n)/g(n) = 1$&#10;&#10;\end{document}"/>
  <p:tag name="IGUANATEXSIZE" val="2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11860</TotalTime>
  <Words>6395</Words>
  <Application>Microsoft Office PowerPoint</Application>
  <PresentationFormat>全屏显示(4:3)</PresentationFormat>
  <Paragraphs>816</Paragraphs>
  <Slides>93</Slides>
  <Notes>6</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93</vt:i4>
      </vt:variant>
    </vt:vector>
  </HeadingPairs>
  <TitlesOfParts>
    <vt:vector size="111" baseType="lpstr">
      <vt:lpstr>黑体</vt:lpstr>
      <vt:lpstr>Wingdings 2</vt:lpstr>
      <vt:lpstr>楷体_GB2312</vt:lpstr>
      <vt:lpstr>Calibri</vt:lpstr>
      <vt:lpstr>Wingdings</vt:lpstr>
      <vt:lpstr>Arial</vt:lpstr>
      <vt:lpstr>Times New Roman</vt:lpstr>
      <vt:lpstr>Lucida Calligraphy</vt:lpstr>
      <vt:lpstr>Cambria Math</vt:lpstr>
      <vt:lpstr>Constantia</vt:lpstr>
      <vt:lpstr>MS Reference Sans Serif</vt:lpstr>
      <vt:lpstr>Symbol</vt:lpstr>
      <vt:lpstr>隶书</vt:lpstr>
      <vt:lpstr>宋体</vt:lpstr>
      <vt:lpstr>Brush Script MT</vt:lpstr>
      <vt:lpstr>Flow</vt:lpstr>
      <vt:lpstr>Microsoft Equation 3.0</vt:lpstr>
      <vt:lpstr>公式</vt:lpstr>
      <vt:lpstr>Proof Strategies for proving p → q </vt:lpstr>
      <vt:lpstr>Backward Reasoning </vt:lpstr>
      <vt:lpstr>Universally Quantified Assertions</vt:lpstr>
      <vt:lpstr> Universally Quantified Assertions</vt:lpstr>
      <vt:lpstr>Universally Quantified Assertions</vt:lpstr>
      <vt:lpstr>Proof and Disproof: Tilings</vt:lpstr>
      <vt:lpstr>Tilings</vt:lpstr>
      <vt:lpstr>Tilings </vt:lpstr>
      <vt:lpstr>Tilings</vt:lpstr>
      <vt:lpstr>The Role of Open Problems</vt:lpstr>
      <vt:lpstr>An Open Problem</vt:lpstr>
      <vt:lpstr>Additional Proof Methods</vt:lpstr>
      <vt:lpstr>Exercise (partB) </vt:lpstr>
      <vt:lpstr>Basic Structures: Sets, Functions, Sequences, Sums, and Matrices</vt:lpstr>
      <vt:lpstr>Chapter Summary</vt:lpstr>
      <vt:lpstr>Sets</vt:lpstr>
      <vt:lpstr>Section Summary</vt:lpstr>
      <vt:lpstr>Introduction</vt:lpstr>
      <vt:lpstr>Sets</vt:lpstr>
      <vt:lpstr>Describing a Set: Roster Method</vt:lpstr>
      <vt:lpstr>Roster Method</vt:lpstr>
      <vt:lpstr>Some Important Sets</vt:lpstr>
      <vt:lpstr>Set-Builder Notation</vt:lpstr>
      <vt:lpstr>Interval Notation</vt:lpstr>
      <vt:lpstr>Universal Set and Empty Set</vt:lpstr>
      <vt:lpstr>Russell’s Paradox（罗素悖论）</vt:lpstr>
      <vt:lpstr>Some things to remember</vt:lpstr>
      <vt:lpstr>Set Equality</vt:lpstr>
      <vt:lpstr>Subsets</vt:lpstr>
      <vt:lpstr>Showing a Set is or is not a Subset of Another Set</vt:lpstr>
      <vt:lpstr>Another look at Equality of Sets</vt:lpstr>
      <vt:lpstr>Proper Subsets</vt:lpstr>
      <vt:lpstr>Set Cardinality</vt:lpstr>
      <vt:lpstr>Power Sets</vt:lpstr>
      <vt:lpstr>Tuples</vt:lpstr>
      <vt:lpstr>Cartesian Product</vt:lpstr>
      <vt:lpstr>Cartesian Product </vt:lpstr>
      <vt:lpstr>Truth Sets of Quantifiers</vt:lpstr>
      <vt:lpstr>Homework</vt:lpstr>
      <vt:lpstr>Set Operations</vt:lpstr>
      <vt:lpstr>Section Summary</vt:lpstr>
      <vt:lpstr>Boolean Algebra</vt:lpstr>
      <vt:lpstr>Union</vt:lpstr>
      <vt:lpstr>Intersection</vt:lpstr>
      <vt:lpstr>Complement</vt:lpstr>
      <vt:lpstr>Difference</vt:lpstr>
      <vt:lpstr>The Cardinality of the Union of Two Sets</vt:lpstr>
      <vt:lpstr>Review Questions</vt:lpstr>
      <vt:lpstr>Symmetric Difference (optional)</vt:lpstr>
      <vt:lpstr>Set Identities</vt:lpstr>
      <vt:lpstr>Set Identities</vt:lpstr>
      <vt:lpstr>Set Identities</vt:lpstr>
      <vt:lpstr>Proving Set Identities</vt:lpstr>
      <vt:lpstr>Proof of Second De Morgan Law</vt:lpstr>
      <vt:lpstr>Proof of Second De Morgan Law </vt:lpstr>
      <vt:lpstr>Proof of Second De Morgan Law </vt:lpstr>
      <vt:lpstr>Set-Builder Notation: Second De Morgan Law</vt:lpstr>
      <vt:lpstr>Membership Table</vt:lpstr>
      <vt:lpstr>Generalized Unions and Intersections</vt:lpstr>
      <vt:lpstr>PowerPoint 演示文稿</vt:lpstr>
      <vt:lpstr>PowerPoint 演示文稿</vt:lpstr>
      <vt:lpstr>Homework</vt:lpstr>
      <vt:lpstr>Functions</vt:lpstr>
      <vt:lpstr>Section Summary</vt:lpstr>
      <vt:lpstr>Functions</vt:lpstr>
      <vt:lpstr>Functions </vt:lpstr>
      <vt:lpstr>Functions</vt:lpstr>
      <vt:lpstr>Representing Functions</vt:lpstr>
      <vt:lpstr>Questions</vt:lpstr>
      <vt:lpstr>Question on Functions and Sets </vt:lpstr>
      <vt:lpstr>Injections</vt:lpstr>
      <vt:lpstr>Surjections</vt:lpstr>
      <vt:lpstr>Bijections</vt:lpstr>
      <vt:lpstr>Showing that f is one-to-one or onto</vt:lpstr>
      <vt:lpstr>Showing that f is one-to-one or onto</vt:lpstr>
      <vt:lpstr>Inverse Functions</vt:lpstr>
      <vt:lpstr>Inverse Functions </vt:lpstr>
      <vt:lpstr>Questions</vt:lpstr>
      <vt:lpstr>Questions</vt:lpstr>
      <vt:lpstr>Questions</vt:lpstr>
      <vt:lpstr>Composition</vt:lpstr>
      <vt:lpstr>Composition </vt:lpstr>
      <vt:lpstr>Composition</vt:lpstr>
      <vt:lpstr>Composition Questions</vt:lpstr>
      <vt:lpstr>Composition Questions</vt:lpstr>
      <vt:lpstr>Graphs of Functions</vt:lpstr>
      <vt:lpstr>Some Important Functions</vt:lpstr>
      <vt:lpstr>Floor and Ceiling Functions </vt:lpstr>
      <vt:lpstr>Floor and Ceiling Functions </vt:lpstr>
      <vt:lpstr>Proving Properties of Functions </vt:lpstr>
      <vt:lpstr>Factorial（阶乘） Function </vt:lpstr>
      <vt:lpstr>Partial Functions (optional)</vt:lpstr>
      <vt:lpstr>Homework </vt:lpstr>
    </vt:vector>
  </TitlesOfParts>
  <Company>Monmouth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Foundations: Logic and Proofs</dc:title>
  <dc:creator>Richard Scherl</dc:creator>
  <cp:lastModifiedBy>admin</cp:lastModifiedBy>
  <cp:revision>720</cp:revision>
  <dcterms:created xsi:type="dcterms:W3CDTF">2011-03-15T17:55:35Z</dcterms:created>
  <dcterms:modified xsi:type="dcterms:W3CDTF">2026-03-17T08:12:35Z</dcterms:modified>
</cp:coreProperties>
</file>